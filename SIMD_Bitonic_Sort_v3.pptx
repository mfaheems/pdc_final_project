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0"/>
            <a:ext cx="9144000" cy="1005840"/>
          </a:xfrm>
          <a:prstGeom prst="rect">
            <a:avLst/>
          </a:prstGeom>
          <a:noFill/>
        </p:spPr>
        <p:txBody>
          <a:bodyPr wrap="square">
            <a:spAutoFit/>
          </a:bodyPr>
          <a:lstStyle/>
          <a:p>
            <a:pPr algn="l"/>
            <a:r>
              <a:rPr sz="5200" b="1" i="0">
                <a:solidFill>
                  <a:srgbClr val="FFFFFF"/>
                </a:solidFill>
              </a:rPr>
              <a:t>Making Sorting 3× Faster</a:t>
            </a:r>
          </a:p>
        </p:txBody>
      </p:sp>
      <p:sp>
        <p:nvSpPr>
          <p:cNvPr id="4" name="TextBox 3"/>
          <p:cNvSpPr txBox="1"/>
          <p:nvPr/>
        </p:nvSpPr>
        <p:spPr>
          <a:xfrm>
            <a:off x="502920" y="2450592"/>
            <a:ext cx="9144000" cy="502920"/>
          </a:xfrm>
          <a:prstGeom prst="rect">
            <a:avLst/>
          </a:prstGeom>
          <a:noFill/>
        </p:spPr>
        <p:txBody>
          <a:bodyPr wrap="square">
            <a:spAutoFit/>
          </a:bodyPr>
          <a:lstStyle/>
          <a:p>
            <a:pPr algn="l"/>
            <a:r>
              <a:rPr sz="2200" b="0" i="0">
                <a:solidFill>
                  <a:srgbClr val="00D4FF"/>
                </a:solidFill>
              </a:rPr>
              <a:t>with SIMD Vector Units &amp; Multi-Core Parallelism</a:t>
            </a:r>
          </a:p>
        </p:txBody>
      </p:sp>
      <p:sp>
        <p:nvSpPr>
          <p:cNvPr id="5" name="Rectangle 4"/>
          <p:cNvSpPr/>
          <p:nvPr/>
        </p:nvSpPr>
        <p:spPr>
          <a:xfrm>
            <a:off x="502920" y="3090672"/>
            <a:ext cx="5486400"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291840"/>
            <a:ext cx="8686800" cy="365760"/>
          </a:xfrm>
          <a:prstGeom prst="rect">
            <a:avLst/>
          </a:prstGeom>
          <a:noFill/>
        </p:spPr>
        <p:txBody>
          <a:bodyPr wrap="square">
            <a:spAutoFit/>
          </a:bodyPr>
          <a:lstStyle/>
          <a:p>
            <a:pPr algn="l"/>
            <a:r>
              <a:rPr sz="1500" b="0" i="0">
                <a:solidFill>
                  <a:srgbClr val="8888AA"/>
                </a:solidFill>
              </a:rPr>
              <a:t>PDC Final Project  ·  SIMD Bitonic Sort  ·  AVX2 + OpenMP</a:t>
            </a:r>
          </a:p>
        </p:txBody>
      </p:sp>
      <p:sp>
        <p:nvSpPr>
          <p:cNvPr id="7" name="Rectangle 6"/>
          <p:cNvSpPr/>
          <p:nvPr/>
        </p:nvSpPr>
        <p:spPr>
          <a:xfrm>
            <a:off x="9601200" y="777240"/>
            <a:ext cx="2286000" cy="132588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850392"/>
            <a:ext cx="2286000" cy="729234"/>
          </a:xfrm>
          <a:prstGeom prst="rect">
            <a:avLst/>
          </a:prstGeom>
          <a:noFill/>
        </p:spPr>
        <p:txBody>
          <a:bodyPr wrap="square">
            <a:spAutoFit/>
          </a:bodyPr>
          <a:lstStyle/>
          <a:p>
            <a:pPr algn="ctr"/>
            <a:r>
              <a:rPr sz="3400" b="1" i="0">
                <a:solidFill>
                  <a:srgbClr val="00E596"/>
                </a:solidFill>
              </a:rPr>
              <a:t>3.0×</a:t>
            </a:r>
          </a:p>
        </p:txBody>
      </p:sp>
      <p:sp>
        <p:nvSpPr>
          <p:cNvPr id="9" name="TextBox 8"/>
          <p:cNvSpPr txBox="1"/>
          <p:nvPr/>
        </p:nvSpPr>
        <p:spPr>
          <a:xfrm>
            <a:off x="9601200" y="1599285"/>
            <a:ext cx="2286000" cy="464057"/>
          </a:xfrm>
          <a:prstGeom prst="rect">
            <a:avLst/>
          </a:prstGeom>
          <a:noFill/>
        </p:spPr>
        <p:txBody>
          <a:bodyPr wrap="square">
            <a:spAutoFit/>
          </a:bodyPr>
          <a:lstStyle/>
          <a:p>
            <a:pPr algn="ctr"/>
            <a:r>
              <a:rPr sz="1200" b="0" i="0">
                <a:solidFill>
                  <a:srgbClr val="8888AA"/>
                </a:solidFill>
              </a:rPr>
              <a:t>Peak
Speedup</a:t>
            </a:r>
          </a:p>
        </p:txBody>
      </p:sp>
      <p:sp>
        <p:nvSpPr>
          <p:cNvPr id="10" name="Rectangle 9"/>
          <p:cNvSpPr/>
          <p:nvPr/>
        </p:nvSpPr>
        <p:spPr>
          <a:xfrm>
            <a:off x="9601200" y="2240280"/>
            <a:ext cx="2286000" cy="132588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2313432"/>
            <a:ext cx="2286000" cy="729234"/>
          </a:xfrm>
          <a:prstGeom prst="rect">
            <a:avLst/>
          </a:prstGeom>
          <a:noFill/>
        </p:spPr>
        <p:txBody>
          <a:bodyPr wrap="square">
            <a:spAutoFit/>
          </a:bodyPr>
          <a:lstStyle/>
          <a:p>
            <a:pPr algn="ctr"/>
            <a:r>
              <a:rPr sz="3400" b="1" i="0">
                <a:solidFill>
                  <a:srgbClr val="00D4FF"/>
                </a:solidFill>
              </a:rPr>
              <a:t>12</a:t>
            </a:r>
          </a:p>
        </p:txBody>
      </p:sp>
      <p:sp>
        <p:nvSpPr>
          <p:cNvPr id="12" name="TextBox 11"/>
          <p:cNvSpPr txBox="1"/>
          <p:nvPr/>
        </p:nvSpPr>
        <p:spPr>
          <a:xfrm>
            <a:off x="9601200" y="3062325"/>
            <a:ext cx="2286000" cy="464057"/>
          </a:xfrm>
          <a:prstGeom prst="rect">
            <a:avLst/>
          </a:prstGeom>
          <a:noFill/>
        </p:spPr>
        <p:txBody>
          <a:bodyPr wrap="square">
            <a:spAutoFit/>
          </a:bodyPr>
          <a:lstStyle/>
          <a:p>
            <a:pPr algn="ctr"/>
            <a:r>
              <a:rPr sz="1200" b="0" i="0">
                <a:solidFill>
                  <a:srgbClr val="8888AA"/>
                </a:solidFill>
              </a:rPr>
              <a:t>CPU
Threads</a:t>
            </a:r>
          </a:p>
        </p:txBody>
      </p:sp>
      <p:sp>
        <p:nvSpPr>
          <p:cNvPr id="13" name="Rectangle 12"/>
          <p:cNvSpPr/>
          <p:nvPr/>
        </p:nvSpPr>
        <p:spPr>
          <a:xfrm>
            <a:off x="9601200" y="3703320"/>
            <a:ext cx="2286000" cy="132588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0" y="3776472"/>
            <a:ext cx="2286000" cy="729234"/>
          </a:xfrm>
          <a:prstGeom prst="rect">
            <a:avLst/>
          </a:prstGeom>
          <a:noFill/>
        </p:spPr>
        <p:txBody>
          <a:bodyPr wrap="square">
            <a:spAutoFit/>
          </a:bodyPr>
          <a:lstStyle/>
          <a:p>
            <a:pPr algn="ctr"/>
            <a:r>
              <a:rPr sz="3400" b="1" i="0">
                <a:solidFill>
                  <a:srgbClr val="6C63FF"/>
                </a:solidFill>
              </a:rPr>
              <a:t>2M</a:t>
            </a:r>
          </a:p>
        </p:txBody>
      </p:sp>
      <p:sp>
        <p:nvSpPr>
          <p:cNvPr id="15" name="TextBox 14"/>
          <p:cNvSpPr txBox="1"/>
          <p:nvPr/>
        </p:nvSpPr>
        <p:spPr>
          <a:xfrm>
            <a:off x="9601200" y="4525365"/>
            <a:ext cx="2286000" cy="464057"/>
          </a:xfrm>
          <a:prstGeom prst="rect">
            <a:avLst/>
          </a:prstGeom>
          <a:noFill/>
        </p:spPr>
        <p:txBody>
          <a:bodyPr wrap="square">
            <a:spAutoFit/>
          </a:bodyPr>
          <a:lstStyle/>
          <a:p>
            <a:pPr algn="ctr"/>
            <a:r>
              <a:rPr sz="1200" b="0" i="0">
                <a:solidFill>
                  <a:srgbClr val="8888AA"/>
                </a:solidFill>
              </a:rPr>
              <a:t>Elements
Sorted</a:t>
            </a:r>
          </a:p>
        </p:txBody>
      </p:sp>
      <p:sp>
        <p:nvSpPr>
          <p:cNvPr id="16" name="Rectangle 15"/>
          <p:cNvSpPr/>
          <p:nvPr/>
        </p:nvSpPr>
        <p:spPr>
          <a:xfrm>
            <a:off x="9601200" y="5166360"/>
            <a:ext cx="2286000" cy="132588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5239512"/>
            <a:ext cx="2286000" cy="729234"/>
          </a:xfrm>
          <a:prstGeom prst="rect">
            <a:avLst/>
          </a:prstGeom>
          <a:noFill/>
        </p:spPr>
        <p:txBody>
          <a:bodyPr wrap="square">
            <a:spAutoFit/>
          </a:bodyPr>
          <a:lstStyle/>
          <a:p>
            <a:pPr algn="ctr"/>
            <a:r>
              <a:rPr sz="3400" b="1" i="0">
                <a:solidFill>
                  <a:srgbClr val="FFC844"/>
                </a:solidFill>
              </a:rPr>
              <a:t>35/35</a:t>
            </a:r>
          </a:p>
        </p:txBody>
      </p:sp>
      <p:sp>
        <p:nvSpPr>
          <p:cNvPr id="18" name="TextBox 17"/>
          <p:cNvSpPr txBox="1"/>
          <p:nvPr/>
        </p:nvSpPr>
        <p:spPr>
          <a:xfrm>
            <a:off x="9601200" y="5988405"/>
            <a:ext cx="2286000" cy="464057"/>
          </a:xfrm>
          <a:prstGeom prst="rect">
            <a:avLst/>
          </a:prstGeom>
          <a:noFill/>
        </p:spPr>
        <p:txBody>
          <a:bodyPr wrap="square">
            <a:spAutoFit/>
          </a:bodyPr>
          <a:lstStyle/>
          <a:p>
            <a:pPr algn="ctr"/>
            <a:r>
              <a:rPr sz="1200" b="0" i="0">
                <a:solidFill>
                  <a:srgbClr val="8888AA"/>
                </a:solidFill>
              </a:rPr>
              <a:t>Tests
Passed</a:t>
            </a:r>
          </a:p>
        </p:txBody>
      </p:sp>
      <p:sp>
        <p:nvSpPr>
          <p:cNvPr id="19" name="TextBox 18"/>
          <p:cNvSpPr txBox="1"/>
          <p:nvPr/>
        </p:nvSpPr>
        <p:spPr>
          <a:xfrm>
            <a:off x="502920" y="6217920"/>
            <a:ext cx="6400800" cy="384048"/>
          </a:xfrm>
          <a:prstGeom prst="rect">
            <a:avLst/>
          </a:prstGeom>
          <a:noFill/>
        </p:spPr>
        <p:txBody>
          <a:bodyPr wrap="square">
            <a:spAutoFit/>
          </a:bodyPr>
          <a:lstStyle/>
          <a:p>
            <a:pPr algn="l"/>
            <a:r>
              <a:rPr sz="1200" b="0" i="0">
                <a:solidFill>
                  <a:srgbClr val="444460"/>
                </a:solidFill>
              </a:rPr>
              <a:t>Intel Core i7-12th Gen  ·  6 cores / 12 threads  ·  AVX2  ·  GCC 15  ·  Windows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Base Library — simd_bitonic</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Open-source SIMD bitonic sort · AVX2 path · Batcher odd-even merge network</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188720"/>
            <a:ext cx="5394960" cy="3749039"/>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609344"/>
            <a:ext cx="5394960" cy="228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280160"/>
            <a:ext cx="5029200" cy="320040"/>
          </a:xfrm>
          <a:prstGeom prst="rect">
            <a:avLst/>
          </a:prstGeom>
          <a:noFill/>
        </p:spPr>
        <p:txBody>
          <a:bodyPr wrap="square">
            <a:spAutoFit/>
          </a:bodyPr>
          <a:lstStyle/>
          <a:p>
            <a:pPr algn="l"/>
            <a:r>
              <a:rPr sz="1400" b="1" i="0">
                <a:solidFill>
                  <a:srgbClr val="00D4FF"/>
                </a:solidFill>
              </a:rPr>
              <a:t>What the library does</a:t>
            </a:r>
          </a:p>
        </p:txBody>
      </p:sp>
      <p:sp>
        <p:nvSpPr>
          <p:cNvPr id="9" name="TextBox 8"/>
          <p:cNvSpPr txBox="1"/>
          <p:nvPr/>
        </p:nvSpPr>
        <p:spPr>
          <a:xfrm>
            <a:off x="594360" y="1691640"/>
            <a:ext cx="5029200" cy="384048"/>
          </a:xfrm>
          <a:prstGeom prst="rect">
            <a:avLst/>
          </a:prstGeom>
          <a:noFill/>
        </p:spPr>
        <p:txBody>
          <a:bodyPr wrap="square">
            <a:spAutoFit/>
          </a:bodyPr>
          <a:lstStyle/>
          <a:p>
            <a:pPr algn="l"/>
            <a:r>
              <a:rPr sz="1300" b="0" i="0">
                <a:solidFill>
                  <a:srgbClr val="FFFFFF"/>
                </a:solidFill>
              </a:rPr>
              <a:t>·  Sorts floating-point arrays using 256-bit AVX2 registers</a:t>
            </a:r>
          </a:p>
        </p:txBody>
      </p:sp>
      <p:sp>
        <p:nvSpPr>
          <p:cNvPr id="10" name="TextBox 9"/>
          <p:cNvSpPr txBox="1"/>
          <p:nvPr/>
        </p:nvSpPr>
        <p:spPr>
          <a:xfrm>
            <a:off x="594360" y="2075688"/>
            <a:ext cx="5029200" cy="384048"/>
          </a:xfrm>
          <a:prstGeom prst="rect">
            <a:avLst/>
          </a:prstGeom>
          <a:noFill/>
        </p:spPr>
        <p:txBody>
          <a:bodyPr wrap="square">
            <a:spAutoFit/>
          </a:bodyPr>
          <a:lstStyle/>
          <a:p>
            <a:pPr algn="l"/>
            <a:r>
              <a:rPr sz="1300" b="0" i="0">
                <a:solidFill>
                  <a:srgbClr val="FFFFFF"/>
                </a:solidFill>
              </a:rPr>
              <a:t>·  Processes 8 numbers simultaneously per register (vs 1 in std::sort)</a:t>
            </a:r>
          </a:p>
        </p:txBody>
      </p:sp>
      <p:sp>
        <p:nvSpPr>
          <p:cNvPr id="11" name="TextBox 10"/>
          <p:cNvSpPr txBox="1"/>
          <p:nvPr/>
        </p:nvSpPr>
        <p:spPr>
          <a:xfrm>
            <a:off x="594360" y="2459736"/>
            <a:ext cx="5029200" cy="384048"/>
          </a:xfrm>
          <a:prstGeom prst="rect">
            <a:avLst/>
          </a:prstGeom>
          <a:noFill/>
        </p:spPr>
        <p:txBody>
          <a:bodyPr wrap="square">
            <a:spAutoFit/>
          </a:bodyPr>
          <a:lstStyle/>
          <a:p>
            <a:pPr algn="l"/>
            <a:r>
              <a:rPr sz="1300" b="0" i="0">
                <a:solidFill>
                  <a:srgbClr val="FFFFFF"/>
                </a:solidFill>
              </a:rPr>
              <a:t>·  simd_small_sort: branchless sorting network for chunks ≤ 192 elements</a:t>
            </a:r>
          </a:p>
        </p:txBody>
      </p:sp>
      <p:sp>
        <p:nvSpPr>
          <p:cNvPr id="12" name="TextBox 11"/>
          <p:cNvSpPr txBox="1"/>
          <p:nvPr/>
        </p:nvSpPr>
        <p:spPr>
          <a:xfrm>
            <a:off x="594360" y="2843784"/>
            <a:ext cx="5029200" cy="384048"/>
          </a:xfrm>
          <a:prstGeom prst="rect">
            <a:avLst/>
          </a:prstGeom>
          <a:noFill/>
        </p:spPr>
        <p:txBody>
          <a:bodyPr wrap="square">
            <a:spAutoFit/>
          </a:bodyPr>
          <a:lstStyle/>
          <a:p>
            <a:pPr algn="l"/>
            <a:r>
              <a:rPr sz="1300" b="0" i="0">
                <a:solidFill>
                  <a:srgbClr val="FFFFFF"/>
                </a:solidFill>
              </a:rPr>
              <a:t>·  simd_merge_sort: splits array into 192-element chunks, sorts each, then merges repeatedly</a:t>
            </a:r>
          </a:p>
        </p:txBody>
      </p:sp>
      <p:sp>
        <p:nvSpPr>
          <p:cNvPr id="13" name="TextBox 12"/>
          <p:cNvSpPr txBox="1"/>
          <p:nvPr/>
        </p:nvSpPr>
        <p:spPr>
          <a:xfrm>
            <a:off x="594360" y="3227832"/>
            <a:ext cx="5029200" cy="384048"/>
          </a:xfrm>
          <a:prstGeom prst="rect">
            <a:avLst/>
          </a:prstGeom>
          <a:noFill/>
        </p:spPr>
        <p:txBody>
          <a:bodyPr wrap="square">
            <a:spAutoFit/>
          </a:bodyPr>
          <a:lstStyle/>
          <a:p>
            <a:pPr algn="l"/>
            <a:r>
              <a:rPr sz="1300" b="0" i="0">
                <a:solidFill>
                  <a:srgbClr val="FFFFFF"/>
                </a:solidFill>
              </a:rPr>
              <a:t>·  At n = 2,000,000: needs 14 merge passes to fully sort</a:t>
            </a:r>
          </a:p>
        </p:txBody>
      </p:sp>
      <p:sp>
        <p:nvSpPr>
          <p:cNvPr id="14" name="Rectangle 13"/>
          <p:cNvSpPr/>
          <p:nvPr/>
        </p:nvSpPr>
        <p:spPr>
          <a:xfrm>
            <a:off x="5989320" y="1188720"/>
            <a:ext cx="5806440" cy="3749039"/>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89320" y="1609344"/>
            <a:ext cx="5806440" cy="2286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280160"/>
            <a:ext cx="5440679" cy="320040"/>
          </a:xfrm>
          <a:prstGeom prst="rect">
            <a:avLst/>
          </a:prstGeom>
          <a:noFill/>
        </p:spPr>
        <p:txBody>
          <a:bodyPr wrap="square">
            <a:spAutoFit/>
          </a:bodyPr>
          <a:lstStyle/>
          <a:p>
            <a:pPr algn="l"/>
            <a:r>
              <a:rPr sz="1400" b="1" i="0">
                <a:solidFill>
                  <a:srgbClr val="FFC844"/>
                </a:solidFill>
              </a:rPr>
              <a:t>Performance gaps we identified</a:t>
            </a:r>
          </a:p>
        </p:txBody>
      </p:sp>
      <p:sp>
        <p:nvSpPr>
          <p:cNvPr id="17" name="TextBox 16"/>
          <p:cNvSpPr txBox="1"/>
          <p:nvPr/>
        </p:nvSpPr>
        <p:spPr>
          <a:xfrm>
            <a:off x="6172200" y="1691640"/>
            <a:ext cx="5440679" cy="384048"/>
          </a:xfrm>
          <a:prstGeom prst="rect">
            <a:avLst/>
          </a:prstGeom>
          <a:noFill/>
        </p:spPr>
        <p:txBody>
          <a:bodyPr wrap="square">
            <a:spAutoFit/>
          </a:bodyPr>
          <a:lstStyle/>
          <a:p>
            <a:pPr algn="l"/>
            <a:r>
              <a:rPr sz="1300" b="0" i="0">
                <a:solidFill>
                  <a:srgbClr val="FFFFFF"/>
                </a:solidFill>
              </a:rPr>
              <a:t>·  Gap 1 — Single-threaded: 11 cores sit idle</a:t>
            </a:r>
          </a:p>
        </p:txBody>
      </p:sp>
      <p:sp>
        <p:nvSpPr>
          <p:cNvPr id="18" name="TextBox 17"/>
          <p:cNvSpPr txBox="1"/>
          <p:nvPr/>
        </p:nvSpPr>
        <p:spPr>
          <a:xfrm>
            <a:off x="6172200" y="2075688"/>
            <a:ext cx="5440679" cy="384048"/>
          </a:xfrm>
          <a:prstGeom prst="rect">
            <a:avLst/>
          </a:prstGeom>
          <a:noFill/>
        </p:spPr>
        <p:txBody>
          <a:bodyPr wrap="square">
            <a:spAutoFit/>
          </a:bodyPr>
          <a:lstStyle/>
          <a:p>
            <a:pPr algn="l"/>
            <a:r>
              <a:rPr sz="1300" b="0" i="0">
                <a:solidFill>
                  <a:srgbClr val="FFFFFF"/>
                </a:solidFill>
              </a:rPr>
              <a:t>·  Gap 2 — Merge hot-loop makes a branch decision 50M times/sort</a:t>
            </a:r>
          </a:p>
        </p:txBody>
      </p:sp>
      <p:sp>
        <p:nvSpPr>
          <p:cNvPr id="19" name="TextBox 18"/>
          <p:cNvSpPr txBox="1"/>
          <p:nvPr/>
        </p:nvSpPr>
        <p:spPr>
          <a:xfrm>
            <a:off x="6172200" y="2459736"/>
            <a:ext cx="5440679" cy="384048"/>
          </a:xfrm>
          <a:prstGeom prst="rect">
            <a:avLst/>
          </a:prstGeom>
          <a:noFill/>
        </p:spPr>
        <p:txBody>
          <a:bodyPr wrap="square">
            <a:spAutoFit/>
          </a:bodyPr>
          <a:lstStyle/>
          <a:p>
            <a:pPr algn="l"/>
            <a:r>
              <a:rPr sz="1300" b="0" i="0">
                <a:solidFill>
                  <a:srgbClr val="FFFFFF"/>
                </a:solidFill>
              </a:rPr>
              <a:t>·  Gap 3 — No memory prefetching for large array merges</a:t>
            </a:r>
          </a:p>
        </p:txBody>
      </p:sp>
      <p:sp>
        <p:nvSpPr>
          <p:cNvPr id="20" name="TextBox 19"/>
          <p:cNvSpPr txBox="1"/>
          <p:nvPr/>
        </p:nvSpPr>
        <p:spPr>
          <a:xfrm>
            <a:off x="6172200" y="2843784"/>
            <a:ext cx="5440679" cy="384048"/>
          </a:xfrm>
          <a:prstGeom prst="rect">
            <a:avLst/>
          </a:prstGeom>
          <a:noFill/>
        </p:spPr>
        <p:txBody>
          <a:bodyPr wrap="square">
            <a:spAutoFit/>
          </a:bodyPr>
          <a:lstStyle/>
          <a:p>
            <a:pPr algn="l"/>
            <a:r>
              <a:rPr sz="1300" b="0" i="0">
                <a:solidFill>
                  <a:srgbClr val="FFFFFF"/>
                </a:solidFill>
              </a:rPr>
              <a:t>·  Gap 4 — AVX-512 (wider registers) not used</a:t>
            </a:r>
          </a:p>
        </p:txBody>
      </p:sp>
      <p:sp>
        <p:nvSpPr>
          <p:cNvPr id="21" name="TextBox 20"/>
          <p:cNvSpPr txBox="1"/>
          <p:nvPr/>
        </p:nvSpPr>
        <p:spPr>
          <a:xfrm>
            <a:off x="6172200" y="3227832"/>
            <a:ext cx="5440679" cy="384048"/>
          </a:xfrm>
          <a:prstGeom prst="rect">
            <a:avLst/>
          </a:prstGeom>
          <a:noFill/>
        </p:spPr>
        <p:txBody>
          <a:bodyPr wrap="square">
            <a:spAutoFit/>
          </a:bodyPr>
          <a:lstStyle/>
          <a:p>
            <a:pPr algn="l"/>
            <a:r>
              <a:rPr sz="1300" b="0" i="0">
                <a:solidFill>
                  <a:srgbClr val="FFFFFF"/>
                </a:solidFill>
              </a:rPr>
              <a:t>·  Gap 5 — Tile size hardcoded, ignores actual cache</a:t>
            </a:r>
          </a:p>
        </p:txBody>
      </p:sp>
      <p:sp>
        <p:nvSpPr>
          <p:cNvPr id="22" name="Rectangle 21"/>
          <p:cNvSpPr/>
          <p:nvPr/>
        </p:nvSpPr>
        <p:spPr>
          <a:xfrm>
            <a:off x="411480" y="5120640"/>
            <a:ext cx="11365992" cy="141732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5120640"/>
            <a:ext cx="11365992" cy="141732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166360"/>
            <a:ext cx="10972800" cy="320040"/>
          </a:xfrm>
          <a:prstGeom prst="rect">
            <a:avLst/>
          </a:prstGeom>
          <a:noFill/>
        </p:spPr>
        <p:txBody>
          <a:bodyPr wrap="square">
            <a:spAutoFit/>
          </a:bodyPr>
          <a:lstStyle/>
          <a:p>
            <a:pPr algn="l"/>
            <a:r>
              <a:rPr sz="1300" b="1" i="0">
                <a:solidFill>
                  <a:srgbClr val="FFFFFF"/>
                </a:solidFill>
              </a:rPr>
              <a:t>Baseline already beats std::sort — our goal: push even further</a:t>
            </a:r>
          </a:p>
        </p:txBody>
      </p:sp>
      <p:sp>
        <p:nvSpPr>
          <p:cNvPr id="25" name="Rectangle 24"/>
          <p:cNvSpPr/>
          <p:nvPr/>
        </p:nvSpPr>
        <p:spPr>
          <a:xfrm>
            <a:off x="685800" y="5559552"/>
            <a:ext cx="2606040" cy="804672"/>
          </a:xfrm>
          <a:prstGeom prst="rect">
            <a:avLst/>
          </a:prstGeom>
          <a:solidFill>
            <a:srgbClr val="0A182E"/>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577840"/>
            <a:ext cx="2606040" cy="347472"/>
          </a:xfrm>
          <a:prstGeom prst="rect">
            <a:avLst/>
          </a:prstGeom>
          <a:noFill/>
        </p:spPr>
        <p:txBody>
          <a:bodyPr wrap="square">
            <a:spAutoFit/>
          </a:bodyPr>
          <a:lstStyle/>
          <a:p>
            <a:pPr algn="ctr"/>
            <a:r>
              <a:rPr sz="1200" b="0" i="0">
                <a:solidFill>
                  <a:srgbClr val="8888AA"/>
                </a:solidFill>
              </a:rPr>
              <a:t>n = 81</a:t>
            </a:r>
          </a:p>
        </p:txBody>
      </p:sp>
      <p:sp>
        <p:nvSpPr>
          <p:cNvPr id="27" name="TextBox 26"/>
          <p:cNvSpPr txBox="1"/>
          <p:nvPr/>
        </p:nvSpPr>
        <p:spPr>
          <a:xfrm>
            <a:off x="685800" y="5925312"/>
            <a:ext cx="2606040" cy="402336"/>
          </a:xfrm>
          <a:prstGeom prst="rect">
            <a:avLst/>
          </a:prstGeom>
          <a:noFill/>
        </p:spPr>
        <p:txBody>
          <a:bodyPr wrap="square">
            <a:spAutoFit/>
          </a:bodyPr>
          <a:lstStyle/>
          <a:p>
            <a:pPr algn="ctr"/>
            <a:r>
              <a:rPr sz="1300" b="1" i="0">
                <a:solidFill>
                  <a:srgbClr val="00D4FF"/>
                </a:solidFill>
              </a:rPr>
              <a:t>9.02× faster than std::sort</a:t>
            </a:r>
          </a:p>
        </p:txBody>
      </p:sp>
      <p:sp>
        <p:nvSpPr>
          <p:cNvPr id="28" name="Rectangle 27"/>
          <p:cNvSpPr/>
          <p:nvPr/>
        </p:nvSpPr>
        <p:spPr>
          <a:xfrm>
            <a:off x="3474720" y="5559552"/>
            <a:ext cx="2606040" cy="804672"/>
          </a:xfrm>
          <a:prstGeom prst="rect">
            <a:avLst/>
          </a:prstGeom>
          <a:solidFill>
            <a:srgbClr val="0A182E"/>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0" y="5577840"/>
            <a:ext cx="2606040" cy="347472"/>
          </a:xfrm>
          <a:prstGeom prst="rect">
            <a:avLst/>
          </a:prstGeom>
          <a:noFill/>
        </p:spPr>
        <p:txBody>
          <a:bodyPr wrap="square">
            <a:spAutoFit/>
          </a:bodyPr>
          <a:lstStyle/>
          <a:p>
            <a:pPr algn="ctr"/>
            <a:r>
              <a:rPr sz="1200" b="0" i="0">
                <a:solidFill>
                  <a:srgbClr val="8888AA"/>
                </a:solidFill>
              </a:rPr>
              <a:t>n = 2,187</a:t>
            </a:r>
          </a:p>
        </p:txBody>
      </p:sp>
      <p:sp>
        <p:nvSpPr>
          <p:cNvPr id="30" name="TextBox 29"/>
          <p:cNvSpPr txBox="1"/>
          <p:nvPr/>
        </p:nvSpPr>
        <p:spPr>
          <a:xfrm>
            <a:off x="3474720" y="5925312"/>
            <a:ext cx="2606040" cy="402336"/>
          </a:xfrm>
          <a:prstGeom prst="rect">
            <a:avLst/>
          </a:prstGeom>
          <a:noFill/>
        </p:spPr>
        <p:txBody>
          <a:bodyPr wrap="square">
            <a:spAutoFit/>
          </a:bodyPr>
          <a:lstStyle/>
          <a:p>
            <a:pPr algn="ctr"/>
            <a:r>
              <a:rPr sz="1300" b="1" i="0">
                <a:solidFill>
                  <a:srgbClr val="00D4FF"/>
                </a:solidFill>
              </a:rPr>
              <a:t>4.34× faster than std::sort</a:t>
            </a:r>
          </a:p>
        </p:txBody>
      </p:sp>
      <p:sp>
        <p:nvSpPr>
          <p:cNvPr id="31" name="Rectangle 30"/>
          <p:cNvSpPr/>
          <p:nvPr/>
        </p:nvSpPr>
        <p:spPr>
          <a:xfrm>
            <a:off x="6263640" y="5559552"/>
            <a:ext cx="2606040" cy="804672"/>
          </a:xfrm>
          <a:prstGeom prst="rect">
            <a:avLst/>
          </a:prstGeom>
          <a:solidFill>
            <a:srgbClr val="0A182E"/>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5577840"/>
            <a:ext cx="2606040" cy="347472"/>
          </a:xfrm>
          <a:prstGeom prst="rect">
            <a:avLst/>
          </a:prstGeom>
          <a:noFill/>
        </p:spPr>
        <p:txBody>
          <a:bodyPr wrap="square">
            <a:spAutoFit/>
          </a:bodyPr>
          <a:lstStyle/>
          <a:p>
            <a:pPr algn="ctr"/>
            <a:r>
              <a:rPr sz="1200" b="0" i="0">
                <a:solidFill>
                  <a:srgbClr val="8888AA"/>
                </a:solidFill>
              </a:rPr>
              <a:t>n = 19,683</a:t>
            </a:r>
          </a:p>
        </p:txBody>
      </p:sp>
      <p:sp>
        <p:nvSpPr>
          <p:cNvPr id="33" name="TextBox 32"/>
          <p:cNvSpPr txBox="1"/>
          <p:nvPr/>
        </p:nvSpPr>
        <p:spPr>
          <a:xfrm>
            <a:off x="6263640" y="5925312"/>
            <a:ext cx="2606040" cy="402336"/>
          </a:xfrm>
          <a:prstGeom prst="rect">
            <a:avLst/>
          </a:prstGeom>
          <a:noFill/>
        </p:spPr>
        <p:txBody>
          <a:bodyPr wrap="square">
            <a:spAutoFit/>
          </a:bodyPr>
          <a:lstStyle/>
          <a:p>
            <a:pPr algn="ctr"/>
            <a:r>
              <a:rPr sz="1300" b="1" i="0">
                <a:solidFill>
                  <a:srgbClr val="00D4FF"/>
                </a:solidFill>
              </a:rPr>
              <a:t>3.85× faster than std::sort</a:t>
            </a:r>
          </a:p>
        </p:txBody>
      </p:sp>
      <p:sp>
        <p:nvSpPr>
          <p:cNvPr id="34" name="Rectangle 33"/>
          <p:cNvSpPr/>
          <p:nvPr/>
        </p:nvSpPr>
        <p:spPr>
          <a:xfrm>
            <a:off x="9052559" y="5559552"/>
            <a:ext cx="2606040" cy="804672"/>
          </a:xfrm>
          <a:prstGeom prst="rect">
            <a:avLst/>
          </a:prstGeom>
          <a:solidFill>
            <a:srgbClr val="0A182E"/>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52559" y="5577840"/>
            <a:ext cx="2606040" cy="347472"/>
          </a:xfrm>
          <a:prstGeom prst="rect">
            <a:avLst/>
          </a:prstGeom>
          <a:noFill/>
        </p:spPr>
        <p:txBody>
          <a:bodyPr wrap="square">
            <a:spAutoFit/>
          </a:bodyPr>
          <a:lstStyle/>
          <a:p>
            <a:pPr algn="ctr"/>
            <a:r>
              <a:rPr sz="1200" b="0" i="0">
                <a:solidFill>
                  <a:srgbClr val="8888AA"/>
                </a:solidFill>
              </a:rPr>
              <a:t>n = 531,441</a:t>
            </a:r>
          </a:p>
        </p:txBody>
      </p:sp>
      <p:sp>
        <p:nvSpPr>
          <p:cNvPr id="36" name="TextBox 35"/>
          <p:cNvSpPr txBox="1"/>
          <p:nvPr/>
        </p:nvSpPr>
        <p:spPr>
          <a:xfrm>
            <a:off x="9052559" y="5925312"/>
            <a:ext cx="2606040" cy="402336"/>
          </a:xfrm>
          <a:prstGeom prst="rect">
            <a:avLst/>
          </a:prstGeom>
          <a:noFill/>
        </p:spPr>
        <p:txBody>
          <a:bodyPr wrap="square">
            <a:spAutoFit/>
          </a:bodyPr>
          <a:lstStyle/>
          <a:p>
            <a:pPr algn="ctr"/>
            <a:r>
              <a:rPr sz="1300" b="1" i="0">
                <a:solidFill>
                  <a:srgbClr val="00D4FF"/>
                </a:solidFill>
              </a:rPr>
              <a:t>2.84× faster than std::sort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Project Scope &amp; Approach</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Five targeted improvements — each isolated and measured independently</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188720"/>
            <a:ext cx="3566160" cy="534924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609344"/>
            <a:ext cx="3566160" cy="2286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280160"/>
            <a:ext cx="3200400" cy="320040"/>
          </a:xfrm>
          <a:prstGeom prst="rect">
            <a:avLst/>
          </a:prstGeom>
          <a:noFill/>
        </p:spPr>
        <p:txBody>
          <a:bodyPr wrap="square">
            <a:spAutoFit/>
          </a:bodyPr>
          <a:lstStyle/>
          <a:p>
            <a:pPr algn="l"/>
            <a:r>
              <a:rPr sz="1400" b="1" i="0">
                <a:solidFill>
                  <a:srgbClr val="00E596"/>
                </a:solidFill>
              </a:rPr>
              <a:t>In Scope</a:t>
            </a:r>
          </a:p>
        </p:txBody>
      </p:sp>
      <p:sp>
        <p:nvSpPr>
          <p:cNvPr id="9" name="TextBox 8"/>
          <p:cNvSpPr txBox="1"/>
          <p:nvPr/>
        </p:nvSpPr>
        <p:spPr>
          <a:xfrm>
            <a:off x="594360" y="1691640"/>
            <a:ext cx="3200400" cy="384048"/>
          </a:xfrm>
          <a:prstGeom prst="rect">
            <a:avLst/>
          </a:prstGeom>
          <a:noFill/>
        </p:spPr>
        <p:txBody>
          <a:bodyPr wrap="square">
            <a:spAutoFit/>
          </a:bodyPr>
          <a:lstStyle/>
          <a:p>
            <a:pPr algn="l"/>
            <a:r>
              <a:rPr sz="1300" b="0" i="0">
                <a:solidFill>
                  <a:srgbClr val="FFFFFF"/>
                </a:solidFill>
              </a:rPr>
              <a:t>·  Gap 1: OpenMP task-based multi-threading</a:t>
            </a:r>
          </a:p>
        </p:txBody>
      </p:sp>
      <p:sp>
        <p:nvSpPr>
          <p:cNvPr id="10" name="TextBox 9"/>
          <p:cNvSpPr txBox="1"/>
          <p:nvPr/>
        </p:nvSpPr>
        <p:spPr>
          <a:xfrm>
            <a:off x="594360" y="2075688"/>
            <a:ext cx="3200400" cy="384048"/>
          </a:xfrm>
          <a:prstGeom prst="rect">
            <a:avLst/>
          </a:prstGeom>
          <a:noFill/>
        </p:spPr>
        <p:txBody>
          <a:bodyPr wrap="square">
            <a:spAutoFit/>
          </a:bodyPr>
          <a:lstStyle/>
          <a:p>
            <a:pPr algn="l"/>
            <a:r>
              <a:rPr sz="1300" b="0" i="0">
                <a:solidFill>
                  <a:srgbClr val="FFFFFF"/>
                </a:solidFill>
              </a:rPr>
              <a:t>·  Gap 2: Branchless merge hot-loop</a:t>
            </a:r>
          </a:p>
        </p:txBody>
      </p:sp>
      <p:sp>
        <p:nvSpPr>
          <p:cNvPr id="11" name="TextBox 10"/>
          <p:cNvSpPr txBox="1"/>
          <p:nvPr/>
        </p:nvSpPr>
        <p:spPr>
          <a:xfrm>
            <a:off x="594360" y="2459736"/>
            <a:ext cx="3200400" cy="384048"/>
          </a:xfrm>
          <a:prstGeom prst="rect">
            <a:avLst/>
          </a:prstGeom>
          <a:noFill/>
        </p:spPr>
        <p:txBody>
          <a:bodyPr wrap="square">
            <a:spAutoFit/>
          </a:bodyPr>
          <a:lstStyle/>
          <a:p>
            <a:pPr algn="l"/>
            <a:r>
              <a:rPr sz="1300" b="0" i="0">
                <a:solidFill>
                  <a:srgbClr val="FFFFFF"/>
                </a:solidFill>
              </a:rPr>
              <a:t>·  Gap 3: Software memory prefetching</a:t>
            </a:r>
          </a:p>
        </p:txBody>
      </p:sp>
      <p:sp>
        <p:nvSpPr>
          <p:cNvPr id="12" name="TextBox 11"/>
          <p:cNvSpPr txBox="1"/>
          <p:nvPr/>
        </p:nvSpPr>
        <p:spPr>
          <a:xfrm>
            <a:off x="594360" y="2843784"/>
            <a:ext cx="3200400" cy="384048"/>
          </a:xfrm>
          <a:prstGeom prst="rect">
            <a:avLst/>
          </a:prstGeom>
          <a:noFill/>
        </p:spPr>
        <p:txBody>
          <a:bodyPr wrap="square">
            <a:spAutoFit/>
          </a:bodyPr>
          <a:lstStyle/>
          <a:p>
            <a:pPr algn="l"/>
            <a:r>
              <a:rPr sz="1300" b="0" i="0">
                <a:solidFill>
                  <a:srgbClr val="FFFFFF"/>
                </a:solidFill>
              </a:rPr>
              <a:t>·  Gap 4: AVX-512 simulation (tile doubling)</a:t>
            </a:r>
          </a:p>
        </p:txBody>
      </p:sp>
      <p:sp>
        <p:nvSpPr>
          <p:cNvPr id="13" name="TextBox 12"/>
          <p:cNvSpPr txBox="1"/>
          <p:nvPr/>
        </p:nvSpPr>
        <p:spPr>
          <a:xfrm>
            <a:off x="594360" y="3227832"/>
            <a:ext cx="3200400" cy="384048"/>
          </a:xfrm>
          <a:prstGeom prst="rect">
            <a:avLst/>
          </a:prstGeom>
          <a:noFill/>
        </p:spPr>
        <p:txBody>
          <a:bodyPr wrap="square">
            <a:spAutoFit/>
          </a:bodyPr>
          <a:lstStyle/>
          <a:p>
            <a:pPr algn="l"/>
            <a:r>
              <a:rPr sz="1300" b="0" i="0">
                <a:solidFill>
                  <a:srgbClr val="FFFFFF"/>
                </a:solidFill>
              </a:rPr>
              <a:t>·  Gap 5: Dynamic tile + pooled allocation</a:t>
            </a:r>
          </a:p>
        </p:txBody>
      </p:sp>
      <p:sp>
        <p:nvSpPr>
          <p:cNvPr id="14" name="TextBox 13"/>
          <p:cNvSpPr txBox="1"/>
          <p:nvPr/>
        </p:nvSpPr>
        <p:spPr>
          <a:xfrm>
            <a:off x="594360" y="3611879"/>
            <a:ext cx="3200400" cy="384048"/>
          </a:xfrm>
          <a:prstGeom prst="rect">
            <a:avLst/>
          </a:prstGeom>
          <a:noFill/>
        </p:spPr>
        <p:txBody>
          <a:bodyPr wrap="square">
            <a:spAutoFit/>
          </a:bodyPr>
          <a:lstStyle/>
          <a:p>
            <a:pPr algn="l"/>
            <a:r>
              <a:rPr sz="1300" b="0" i="0">
                <a:solidFill>
                  <a:srgbClr val="FFFFFF"/>
                </a:solidFill>
              </a:rPr>
              <a:t>·  Correctness check vs std::sort at every size</a:t>
            </a:r>
          </a:p>
        </p:txBody>
      </p:sp>
      <p:sp>
        <p:nvSpPr>
          <p:cNvPr id="15" name="TextBox 14"/>
          <p:cNvSpPr txBox="1"/>
          <p:nvPr/>
        </p:nvSpPr>
        <p:spPr>
          <a:xfrm>
            <a:off x="594360" y="3995928"/>
            <a:ext cx="3200400" cy="384048"/>
          </a:xfrm>
          <a:prstGeom prst="rect">
            <a:avLst/>
          </a:prstGeom>
          <a:noFill/>
        </p:spPr>
        <p:txBody>
          <a:bodyPr wrap="square">
            <a:spAutoFit/>
          </a:bodyPr>
          <a:lstStyle/>
          <a:p>
            <a:pPr algn="l"/>
            <a:r>
              <a:rPr sz="1300" b="0" i="0">
                <a:solidFill>
                  <a:srgbClr val="FFFFFF"/>
                </a:solidFill>
              </a:rPr>
              <a:t>·  Strong &amp; weak scaling measurement</a:t>
            </a:r>
          </a:p>
        </p:txBody>
      </p:sp>
      <p:sp>
        <p:nvSpPr>
          <p:cNvPr id="16" name="TextBox 15"/>
          <p:cNvSpPr txBox="1"/>
          <p:nvPr/>
        </p:nvSpPr>
        <p:spPr>
          <a:xfrm>
            <a:off x="594360" y="4379976"/>
            <a:ext cx="3200400" cy="384048"/>
          </a:xfrm>
          <a:prstGeom prst="rect">
            <a:avLst/>
          </a:prstGeom>
          <a:noFill/>
        </p:spPr>
        <p:txBody>
          <a:bodyPr wrap="square">
            <a:spAutoFit/>
          </a:bodyPr>
          <a:lstStyle/>
          <a:p>
            <a:pPr algn="l"/>
            <a:r>
              <a:rPr sz="1300" b="0" i="0">
                <a:solidFill>
                  <a:srgbClr val="FFFFFF"/>
                </a:solidFill>
              </a:rPr>
              <a:t>·  Array sizes 10K → 2M floats</a:t>
            </a:r>
          </a:p>
        </p:txBody>
      </p:sp>
      <p:sp>
        <p:nvSpPr>
          <p:cNvPr id="17" name="Rectangle 16"/>
          <p:cNvSpPr/>
          <p:nvPr/>
        </p:nvSpPr>
        <p:spPr>
          <a:xfrm>
            <a:off x="4160520" y="1188720"/>
            <a:ext cx="3566160" cy="246888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1609344"/>
            <a:ext cx="3566160" cy="2286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1280160"/>
            <a:ext cx="3200400" cy="320040"/>
          </a:xfrm>
          <a:prstGeom prst="rect">
            <a:avLst/>
          </a:prstGeom>
          <a:noFill/>
        </p:spPr>
        <p:txBody>
          <a:bodyPr wrap="square">
            <a:spAutoFit/>
          </a:bodyPr>
          <a:lstStyle/>
          <a:p>
            <a:pPr algn="l"/>
            <a:r>
              <a:rPr sz="1400" b="1" i="0">
                <a:solidFill>
                  <a:srgbClr val="FF4D6D"/>
                </a:solidFill>
              </a:rPr>
              <a:t>Out of Scope</a:t>
            </a:r>
          </a:p>
        </p:txBody>
      </p:sp>
      <p:sp>
        <p:nvSpPr>
          <p:cNvPr id="20" name="TextBox 19"/>
          <p:cNvSpPr txBox="1"/>
          <p:nvPr/>
        </p:nvSpPr>
        <p:spPr>
          <a:xfrm>
            <a:off x="4343400" y="1691640"/>
            <a:ext cx="3200400" cy="384048"/>
          </a:xfrm>
          <a:prstGeom prst="rect">
            <a:avLst/>
          </a:prstGeom>
          <a:noFill/>
        </p:spPr>
        <p:txBody>
          <a:bodyPr wrap="square">
            <a:spAutoFit/>
          </a:bodyPr>
          <a:lstStyle/>
          <a:p>
            <a:pPr algn="l"/>
            <a:r>
              <a:rPr sz="1300" b="0" i="0">
                <a:solidFill>
                  <a:srgbClr val="FFFFFF"/>
                </a:solidFill>
              </a:rPr>
              <a:t>·  Real AVX-512 (hardware unavailable)</a:t>
            </a:r>
          </a:p>
        </p:txBody>
      </p:sp>
      <p:sp>
        <p:nvSpPr>
          <p:cNvPr id="21" name="TextBox 20"/>
          <p:cNvSpPr txBox="1"/>
          <p:nvPr/>
        </p:nvSpPr>
        <p:spPr>
          <a:xfrm>
            <a:off x="4343400" y="2075688"/>
            <a:ext cx="3200400" cy="384048"/>
          </a:xfrm>
          <a:prstGeom prst="rect">
            <a:avLst/>
          </a:prstGeom>
          <a:noFill/>
        </p:spPr>
        <p:txBody>
          <a:bodyPr wrap="square">
            <a:spAutoFit/>
          </a:bodyPr>
          <a:lstStyle/>
          <a:p>
            <a:pPr algn="l"/>
            <a:r>
              <a:rPr sz="1300" b="0" i="0">
                <a:solidFill>
                  <a:srgbClr val="FFFFFF"/>
                </a:solidFill>
              </a:rPr>
              <a:t>·  Distributed / MPI parallelism</a:t>
            </a:r>
          </a:p>
        </p:txBody>
      </p:sp>
      <p:sp>
        <p:nvSpPr>
          <p:cNvPr id="22" name="TextBox 21"/>
          <p:cNvSpPr txBox="1"/>
          <p:nvPr/>
        </p:nvSpPr>
        <p:spPr>
          <a:xfrm>
            <a:off x="4343400" y="2459736"/>
            <a:ext cx="3200400" cy="384048"/>
          </a:xfrm>
          <a:prstGeom prst="rect">
            <a:avLst/>
          </a:prstGeom>
          <a:noFill/>
        </p:spPr>
        <p:txBody>
          <a:bodyPr wrap="square">
            <a:spAutoFit/>
          </a:bodyPr>
          <a:lstStyle/>
          <a:p>
            <a:pPr algn="l"/>
            <a:r>
              <a:rPr sz="1300" b="0" i="0">
                <a:solidFill>
                  <a:srgbClr val="FFFFFF"/>
                </a:solidFill>
              </a:rPr>
              <a:t>·  GPU acceleration</a:t>
            </a:r>
          </a:p>
        </p:txBody>
      </p:sp>
      <p:sp>
        <p:nvSpPr>
          <p:cNvPr id="23" name="TextBox 22"/>
          <p:cNvSpPr txBox="1"/>
          <p:nvPr/>
        </p:nvSpPr>
        <p:spPr>
          <a:xfrm>
            <a:off x="4343400" y="2843784"/>
            <a:ext cx="3200400" cy="384048"/>
          </a:xfrm>
          <a:prstGeom prst="rect">
            <a:avLst/>
          </a:prstGeom>
          <a:noFill/>
        </p:spPr>
        <p:txBody>
          <a:bodyPr wrap="square">
            <a:spAutoFit/>
          </a:bodyPr>
          <a:lstStyle/>
          <a:p>
            <a:pPr algn="l"/>
            <a:r>
              <a:rPr sz="1300" b="0" i="0">
                <a:solidFill>
                  <a:srgbClr val="FFFFFF"/>
                </a:solidFill>
              </a:rPr>
              <a:t>·  Non-x86 platforms</a:t>
            </a:r>
          </a:p>
        </p:txBody>
      </p:sp>
      <p:sp>
        <p:nvSpPr>
          <p:cNvPr id="24" name="Rectangle 23"/>
          <p:cNvSpPr/>
          <p:nvPr/>
        </p:nvSpPr>
        <p:spPr>
          <a:xfrm>
            <a:off x="4160520" y="3840480"/>
            <a:ext cx="3566160" cy="269748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60520" y="4261104"/>
            <a:ext cx="3566160" cy="228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3931920"/>
            <a:ext cx="3200400" cy="320040"/>
          </a:xfrm>
          <a:prstGeom prst="rect">
            <a:avLst/>
          </a:prstGeom>
          <a:noFill/>
        </p:spPr>
        <p:txBody>
          <a:bodyPr wrap="square">
            <a:spAutoFit/>
          </a:bodyPr>
          <a:lstStyle/>
          <a:p>
            <a:pPr algn="l"/>
            <a:r>
              <a:rPr sz="1400" b="1" i="0">
                <a:solidFill>
                  <a:srgbClr val="00D4FF"/>
                </a:solidFill>
              </a:rPr>
              <a:t>Tools</a:t>
            </a:r>
          </a:p>
        </p:txBody>
      </p:sp>
      <p:sp>
        <p:nvSpPr>
          <p:cNvPr id="27" name="TextBox 26"/>
          <p:cNvSpPr txBox="1"/>
          <p:nvPr/>
        </p:nvSpPr>
        <p:spPr>
          <a:xfrm>
            <a:off x="4343400" y="4343400"/>
            <a:ext cx="3200400" cy="384048"/>
          </a:xfrm>
          <a:prstGeom prst="rect">
            <a:avLst/>
          </a:prstGeom>
          <a:noFill/>
        </p:spPr>
        <p:txBody>
          <a:bodyPr wrap="square">
            <a:spAutoFit/>
          </a:bodyPr>
          <a:lstStyle/>
          <a:p>
            <a:pPr algn="l"/>
            <a:r>
              <a:rPr sz="1300" b="0" i="0">
                <a:solidFill>
                  <a:srgbClr val="FFFFFF"/>
                </a:solidFill>
              </a:rPr>
              <a:t>·  Language: C++11</a:t>
            </a:r>
          </a:p>
        </p:txBody>
      </p:sp>
      <p:sp>
        <p:nvSpPr>
          <p:cNvPr id="28" name="TextBox 27"/>
          <p:cNvSpPr txBox="1"/>
          <p:nvPr/>
        </p:nvSpPr>
        <p:spPr>
          <a:xfrm>
            <a:off x="4343400" y="4727448"/>
            <a:ext cx="3200400" cy="384048"/>
          </a:xfrm>
          <a:prstGeom prst="rect">
            <a:avLst/>
          </a:prstGeom>
          <a:noFill/>
        </p:spPr>
        <p:txBody>
          <a:bodyPr wrap="square">
            <a:spAutoFit/>
          </a:bodyPr>
          <a:lstStyle/>
          <a:p>
            <a:pPr algn="l"/>
            <a:r>
              <a:rPr sz="1300" b="0" i="0">
                <a:solidFill>
                  <a:srgbClr val="FFFFFF"/>
                </a:solidFill>
              </a:rPr>
              <a:t>·  Compiler: GCC 15  (-O3 -mavx2 -fopenmp)</a:t>
            </a:r>
          </a:p>
        </p:txBody>
      </p:sp>
      <p:sp>
        <p:nvSpPr>
          <p:cNvPr id="29" name="TextBox 28"/>
          <p:cNvSpPr txBox="1"/>
          <p:nvPr/>
        </p:nvSpPr>
        <p:spPr>
          <a:xfrm>
            <a:off x="4343400" y="5111496"/>
            <a:ext cx="3200400" cy="384048"/>
          </a:xfrm>
          <a:prstGeom prst="rect">
            <a:avLst/>
          </a:prstGeom>
          <a:noFill/>
        </p:spPr>
        <p:txBody>
          <a:bodyPr wrap="square">
            <a:spAutoFit/>
          </a:bodyPr>
          <a:lstStyle/>
          <a:p>
            <a:pPr algn="l"/>
            <a:r>
              <a:rPr sz="1300" b="0" i="0">
                <a:solidFill>
                  <a:srgbClr val="FFFFFF"/>
                </a:solidFill>
              </a:rPr>
              <a:t>·  Threading: OpenMP 4.5 task model</a:t>
            </a:r>
          </a:p>
        </p:txBody>
      </p:sp>
      <p:sp>
        <p:nvSpPr>
          <p:cNvPr id="30" name="TextBox 29"/>
          <p:cNvSpPr txBox="1"/>
          <p:nvPr/>
        </p:nvSpPr>
        <p:spPr>
          <a:xfrm>
            <a:off x="4343400" y="5495544"/>
            <a:ext cx="3200400" cy="384048"/>
          </a:xfrm>
          <a:prstGeom prst="rect">
            <a:avLst/>
          </a:prstGeom>
          <a:noFill/>
        </p:spPr>
        <p:txBody>
          <a:bodyPr wrap="square">
            <a:spAutoFit/>
          </a:bodyPr>
          <a:lstStyle/>
          <a:p>
            <a:pPr algn="l"/>
            <a:r>
              <a:rPr sz="1300" b="0" i="0">
                <a:solidFill>
                  <a:srgbClr val="FFFFFF"/>
                </a:solidFill>
              </a:rPr>
              <a:t>·  Timer: sokol_time.h (nanosecond precision)</a:t>
            </a:r>
          </a:p>
        </p:txBody>
      </p:sp>
      <p:sp>
        <p:nvSpPr>
          <p:cNvPr id="31" name="TextBox 30"/>
          <p:cNvSpPr txBox="1"/>
          <p:nvPr/>
        </p:nvSpPr>
        <p:spPr>
          <a:xfrm>
            <a:off x="4343400" y="5879592"/>
            <a:ext cx="3200400" cy="384048"/>
          </a:xfrm>
          <a:prstGeom prst="rect">
            <a:avLst/>
          </a:prstGeom>
          <a:noFill/>
        </p:spPr>
        <p:txBody>
          <a:bodyPr wrap="square">
            <a:spAutoFit/>
          </a:bodyPr>
          <a:lstStyle/>
          <a:p>
            <a:pPr algn="l"/>
            <a:r>
              <a:rPr sz="1300" b="0" i="0">
                <a:solidFill>
                  <a:srgbClr val="FFFFFF"/>
                </a:solidFill>
              </a:rPr>
              <a:t>·  RNG: fixed seed 0xABCDEF01 (reproducible)</a:t>
            </a:r>
          </a:p>
        </p:txBody>
      </p:sp>
      <p:sp>
        <p:nvSpPr>
          <p:cNvPr id="32" name="Rectangle 31"/>
          <p:cNvSpPr/>
          <p:nvPr/>
        </p:nvSpPr>
        <p:spPr>
          <a:xfrm>
            <a:off x="7909560" y="1188720"/>
            <a:ext cx="3886200" cy="534924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1609344"/>
            <a:ext cx="3886200" cy="2286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92440" y="1280160"/>
            <a:ext cx="3520440" cy="320040"/>
          </a:xfrm>
          <a:prstGeom prst="rect">
            <a:avLst/>
          </a:prstGeom>
          <a:noFill/>
        </p:spPr>
        <p:txBody>
          <a:bodyPr wrap="square">
            <a:spAutoFit/>
          </a:bodyPr>
          <a:lstStyle/>
          <a:p>
            <a:pPr algn="l"/>
            <a:r>
              <a:rPr sz="1400" b="1" i="0">
                <a:solidFill>
                  <a:srgbClr val="FFC844"/>
                </a:solidFill>
              </a:rPr>
              <a:t>Methodology</a:t>
            </a:r>
          </a:p>
        </p:txBody>
      </p:sp>
      <p:sp>
        <p:nvSpPr>
          <p:cNvPr id="35" name="TextBox 34"/>
          <p:cNvSpPr txBox="1"/>
          <p:nvPr/>
        </p:nvSpPr>
        <p:spPr>
          <a:xfrm>
            <a:off x="8092440" y="1691640"/>
            <a:ext cx="3520440" cy="384048"/>
          </a:xfrm>
          <a:prstGeom prst="rect">
            <a:avLst/>
          </a:prstGeom>
          <a:noFill/>
        </p:spPr>
        <p:txBody>
          <a:bodyPr wrap="square">
            <a:spAutoFit/>
          </a:bodyPr>
          <a:lstStyle/>
          <a:p>
            <a:pPr algn="l"/>
            <a:r>
              <a:rPr sz="1300" b="0" i="0">
                <a:solidFill>
                  <a:srgbClr val="FFFFFF"/>
                </a:solidFill>
              </a:rPr>
              <a:t>·  Each variant is a separate selectable option</a:t>
            </a:r>
          </a:p>
        </p:txBody>
      </p:sp>
      <p:sp>
        <p:nvSpPr>
          <p:cNvPr id="36" name="TextBox 35"/>
          <p:cNvSpPr txBox="1"/>
          <p:nvPr/>
        </p:nvSpPr>
        <p:spPr>
          <a:xfrm>
            <a:off x="8092440" y="2075688"/>
            <a:ext cx="3520440" cy="384048"/>
          </a:xfrm>
          <a:prstGeom prst="rect">
            <a:avLst/>
          </a:prstGeom>
          <a:noFill/>
        </p:spPr>
        <p:txBody>
          <a:bodyPr wrap="square">
            <a:spAutoFit/>
          </a:bodyPr>
          <a:lstStyle/>
          <a:p>
            <a:pPr algn="l"/>
            <a:r>
              <a:rPr sz="1300" b="0" i="0">
                <a:solidFill>
                  <a:srgbClr val="FFFFFF"/>
                </a:solidFill>
              </a:rPr>
              <a:t>·  100 timed runs per size — averaged</a:t>
            </a:r>
          </a:p>
        </p:txBody>
      </p:sp>
      <p:sp>
        <p:nvSpPr>
          <p:cNvPr id="37" name="TextBox 36"/>
          <p:cNvSpPr txBox="1"/>
          <p:nvPr/>
        </p:nvSpPr>
        <p:spPr>
          <a:xfrm>
            <a:off x="8092440" y="2459736"/>
            <a:ext cx="3520440" cy="384048"/>
          </a:xfrm>
          <a:prstGeom prst="rect">
            <a:avLst/>
          </a:prstGeom>
          <a:noFill/>
        </p:spPr>
        <p:txBody>
          <a:bodyPr wrap="square">
            <a:spAutoFit/>
          </a:bodyPr>
          <a:lstStyle/>
          <a:p>
            <a:pPr algn="l"/>
            <a:r>
              <a:rPr sz="1300" b="0" i="0">
                <a:solidFill>
                  <a:srgbClr val="FFFFFF"/>
                </a:solidFill>
              </a:rPr>
              <a:t>·  Same random data for all variants (fair comparison)</a:t>
            </a:r>
          </a:p>
        </p:txBody>
      </p:sp>
      <p:sp>
        <p:nvSpPr>
          <p:cNvPr id="38" name="TextBox 37"/>
          <p:cNvSpPr txBox="1"/>
          <p:nvPr/>
        </p:nvSpPr>
        <p:spPr>
          <a:xfrm>
            <a:off x="8092440" y="2843784"/>
            <a:ext cx="3520440" cy="384048"/>
          </a:xfrm>
          <a:prstGeom prst="rect">
            <a:avLst/>
          </a:prstGeom>
          <a:noFill/>
        </p:spPr>
        <p:txBody>
          <a:bodyPr wrap="square">
            <a:spAutoFit/>
          </a:bodyPr>
          <a:lstStyle/>
          <a:p>
            <a:pPr algn="l"/>
            <a:r>
              <a:rPr sz="1300" b="0" i="0">
                <a:solidFill>
                  <a:srgbClr val="FFFFFF"/>
                </a:solidFill>
              </a:rPr>
              <a:t>·  Correctness verified before any timing</a:t>
            </a:r>
          </a:p>
        </p:txBody>
      </p:sp>
      <p:sp>
        <p:nvSpPr>
          <p:cNvPr id="39" name="TextBox 38"/>
          <p:cNvSpPr txBox="1"/>
          <p:nvPr/>
        </p:nvSpPr>
        <p:spPr>
          <a:xfrm>
            <a:off x="8092440" y="3227832"/>
            <a:ext cx="3520440" cy="384048"/>
          </a:xfrm>
          <a:prstGeom prst="rect">
            <a:avLst/>
          </a:prstGeom>
          <a:noFill/>
        </p:spPr>
        <p:txBody>
          <a:bodyPr wrap="square">
            <a:spAutoFit/>
          </a:bodyPr>
          <a:lstStyle/>
          <a:p>
            <a:pPr algn="l"/>
            <a:r>
              <a:rPr sz="1300" b="0" i="0">
                <a:solidFill>
                  <a:srgbClr val="FFFFFF"/>
                </a:solidFill>
              </a:rPr>
              <a:t>·  5 correctness sizes × 7 variants = 35 tests</a:t>
            </a:r>
          </a:p>
        </p:txBody>
      </p:sp>
      <p:sp>
        <p:nvSpPr>
          <p:cNvPr id="40" name="TextBox 39"/>
          <p:cNvSpPr txBox="1"/>
          <p:nvPr/>
        </p:nvSpPr>
        <p:spPr>
          <a:xfrm>
            <a:off x="8092440" y="3611879"/>
            <a:ext cx="3520440" cy="384048"/>
          </a:xfrm>
          <a:prstGeom prst="rect">
            <a:avLst/>
          </a:prstGeom>
          <a:noFill/>
        </p:spPr>
        <p:txBody>
          <a:bodyPr wrap="square">
            <a:spAutoFit/>
          </a:bodyPr>
          <a:lstStyle/>
          <a:p>
            <a:pPr algn="l"/>
            <a:r>
              <a:rPr sz="1300" b="0" i="0">
                <a:solidFill>
                  <a:srgbClr val="FFFFFF"/>
                </a:solidFill>
              </a:rPr>
              <a:t>·  Results from actual hardware runs — no simulation</a:t>
            </a:r>
          </a:p>
        </p:txBody>
      </p:sp>
      <p:sp>
        <p:nvSpPr>
          <p:cNvPr id="41" name="TextBox 40"/>
          <p:cNvSpPr txBox="1"/>
          <p:nvPr/>
        </p:nvSpPr>
        <p:spPr>
          <a:xfrm>
            <a:off x="8092440" y="3995928"/>
            <a:ext cx="3520440" cy="384048"/>
          </a:xfrm>
          <a:prstGeom prst="rect">
            <a:avLst/>
          </a:prstGeom>
          <a:noFill/>
        </p:spPr>
        <p:txBody>
          <a:bodyPr wrap="square">
            <a:spAutoFit/>
          </a:bodyPr>
          <a:lstStyle/>
          <a:p>
            <a:pPr algn="l"/>
            <a:r>
              <a:rPr sz="1300" b="0" i="0">
                <a:solidFill>
                  <a:srgbClr val="FFFFFF"/>
                </a:solidFill>
              </a:rPr>
              <a:t>·  Scalability: thread sweep 1 → 12 threads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Baseline — How simd_merge_sort Works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Two phases: branchless tile sort + recursive merge</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188720"/>
            <a:ext cx="5623560" cy="274320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609344"/>
            <a:ext cx="5623560" cy="228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280160"/>
            <a:ext cx="5257800" cy="320040"/>
          </a:xfrm>
          <a:prstGeom prst="rect">
            <a:avLst/>
          </a:prstGeom>
          <a:noFill/>
        </p:spPr>
        <p:txBody>
          <a:bodyPr wrap="square">
            <a:spAutoFit/>
          </a:bodyPr>
          <a:lstStyle/>
          <a:p>
            <a:pPr algn="l"/>
            <a:r>
              <a:rPr sz="1400" b="1" i="0">
                <a:solidFill>
                  <a:srgbClr val="00D4FF"/>
                </a:solidFill>
              </a:rPr>
              <a:t>Phase 1 — Tile Sort (simd_small_sort)</a:t>
            </a:r>
          </a:p>
        </p:txBody>
      </p:sp>
      <p:sp>
        <p:nvSpPr>
          <p:cNvPr id="9" name="TextBox 8"/>
          <p:cNvSpPr txBox="1"/>
          <p:nvPr/>
        </p:nvSpPr>
        <p:spPr>
          <a:xfrm>
            <a:off x="594360" y="1691640"/>
            <a:ext cx="5257800" cy="384048"/>
          </a:xfrm>
          <a:prstGeom prst="rect">
            <a:avLst/>
          </a:prstGeom>
          <a:noFill/>
        </p:spPr>
        <p:txBody>
          <a:bodyPr wrap="square">
            <a:spAutoFit/>
          </a:bodyPr>
          <a:lstStyle/>
          <a:p>
            <a:pPr algn="l"/>
            <a:r>
              <a:rPr sz="1300" b="0" i="0">
                <a:solidFill>
                  <a:srgbClr val="FFFFFF"/>
                </a:solidFill>
              </a:rPr>
              <a:t>·  Load up to 192 floats into 24 AVX2 registers (8 per register)</a:t>
            </a:r>
          </a:p>
        </p:txBody>
      </p:sp>
      <p:sp>
        <p:nvSpPr>
          <p:cNvPr id="10" name="TextBox 9"/>
          <p:cNvSpPr txBox="1"/>
          <p:nvPr/>
        </p:nvSpPr>
        <p:spPr>
          <a:xfrm>
            <a:off x="594360" y="2075688"/>
            <a:ext cx="5257800" cy="384048"/>
          </a:xfrm>
          <a:prstGeom prst="rect">
            <a:avLst/>
          </a:prstGeom>
          <a:noFill/>
        </p:spPr>
        <p:txBody>
          <a:bodyPr wrap="square">
            <a:spAutoFit/>
          </a:bodyPr>
          <a:lstStyle/>
          <a:p>
            <a:pPr algn="l"/>
            <a:r>
              <a:rPr sz="1300" b="0" i="0">
                <a:solidFill>
                  <a:srgbClr val="FFFFFF"/>
                </a:solidFill>
              </a:rPr>
              <a:t>·  Apply a fixed comparison network — like a tournament bracket</a:t>
            </a:r>
          </a:p>
        </p:txBody>
      </p:sp>
      <p:sp>
        <p:nvSpPr>
          <p:cNvPr id="11" name="TextBox 10"/>
          <p:cNvSpPr txBox="1"/>
          <p:nvPr/>
        </p:nvSpPr>
        <p:spPr>
          <a:xfrm>
            <a:off x="594360" y="2459736"/>
            <a:ext cx="5257800" cy="384048"/>
          </a:xfrm>
          <a:prstGeom prst="rect">
            <a:avLst/>
          </a:prstGeom>
          <a:noFill/>
        </p:spPr>
        <p:txBody>
          <a:bodyPr wrap="square">
            <a:spAutoFit/>
          </a:bodyPr>
          <a:lstStyle/>
          <a:p>
            <a:pPr algn="l"/>
            <a:r>
              <a:rPr sz="1300" b="0" i="0">
                <a:solidFill>
                  <a:srgbClr val="FFFFFF"/>
                </a:solidFill>
              </a:rPr>
              <a:t>·  All 8 comparisons happen in parallel — zero branches</a:t>
            </a:r>
          </a:p>
        </p:txBody>
      </p:sp>
      <p:sp>
        <p:nvSpPr>
          <p:cNvPr id="12" name="TextBox 11"/>
          <p:cNvSpPr txBox="1"/>
          <p:nvPr/>
        </p:nvSpPr>
        <p:spPr>
          <a:xfrm>
            <a:off x="594360" y="2843784"/>
            <a:ext cx="5257800" cy="384048"/>
          </a:xfrm>
          <a:prstGeom prst="rect">
            <a:avLst/>
          </a:prstGeom>
          <a:noFill/>
        </p:spPr>
        <p:txBody>
          <a:bodyPr wrap="square">
            <a:spAutoFit/>
          </a:bodyPr>
          <a:lstStyle/>
          <a:p>
            <a:pPr algn="l"/>
            <a:r>
              <a:rPr sz="1300" b="0" i="0">
                <a:solidFill>
                  <a:srgbClr val="FFFFFF"/>
                </a:solidFill>
              </a:rPr>
              <a:t>·  Output: a perfectly sorted 192-element chunk</a:t>
            </a:r>
          </a:p>
        </p:txBody>
      </p:sp>
      <p:sp>
        <p:nvSpPr>
          <p:cNvPr id="13" name="Rectangle 12"/>
          <p:cNvSpPr/>
          <p:nvPr/>
        </p:nvSpPr>
        <p:spPr>
          <a:xfrm>
            <a:off x="6309360" y="1188720"/>
            <a:ext cx="5623560" cy="274320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609344"/>
            <a:ext cx="5623560"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280160"/>
            <a:ext cx="5257800" cy="320040"/>
          </a:xfrm>
          <a:prstGeom prst="rect">
            <a:avLst/>
          </a:prstGeom>
          <a:noFill/>
        </p:spPr>
        <p:txBody>
          <a:bodyPr wrap="square">
            <a:spAutoFit/>
          </a:bodyPr>
          <a:lstStyle/>
          <a:p>
            <a:pPr algn="l"/>
            <a:r>
              <a:rPr sz="1400" b="1" i="0">
                <a:solidFill>
                  <a:srgbClr val="6C63FF"/>
                </a:solidFill>
              </a:rPr>
              <a:t>Phase 2 — Bottom-up Merge (simd_merge_sort)</a:t>
            </a:r>
          </a:p>
        </p:txBody>
      </p:sp>
      <p:sp>
        <p:nvSpPr>
          <p:cNvPr id="16" name="TextBox 15"/>
          <p:cNvSpPr txBox="1"/>
          <p:nvPr/>
        </p:nvSpPr>
        <p:spPr>
          <a:xfrm>
            <a:off x="6492240" y="1691640"/>
            <a:ext cx="5257800" cy="384048"/>
          </a:xfrm>
          <a:prstGeom prst="rect">
            <a:avLst/>
          </a:prstGeom>
          <a:noFill/>
        </p:spPr>
        <p:txBody>
          <a:bodyPr wrap="square">
            <a:spAutoFit/>
          </a:bodyPr>
          <a:lstStyle/>
          <a:p>
            <a:pPr algn="l"/>
            <a:r>
              <a:rPr sz="1300" b="0" i="0">
                <a:solidFill>
                  <a:srgbClr val="FFFFFF"/>
                </a:solidFill>
              </a:rPr>
              <a:t>·  Sorted chunks are merged in pairs: 192 → 384 → 768 → … → n</a:t>
            </a:r>
          </a:p>
        </p:txBody>
      </p:sp>
      <p:sp>
        <p:nvSpPr>
          <p:cNvPr id="17" name="TextBox 16"/>
          <p:cNvSpPr txBox="1"/>
          <p:nvPr/>
        </p:nvSpPr>
        <p:spPr>
          <a:xfrm>
            <a:off x="6492240" y="2075688"/>
            <a:ext cx="5257800" cy="384048"/>
          </a:xfrm>
          <a:prstGeom prst="rect">
            <a:avLst/>
          </a:prstGeom>
          <a:noFill/>
        </p:spPr>
        <p:txBody>
          <a:bodyPr wrap="square">
            <a:spAutoFit/>
          </a:bodyPr>
          <a:lstStyle/>
          <a:p>
            <a:pPr algn="l"/>
            <a:r>
              <a:rPr sz="1300" b="0" i="0">
                <a:solidFill>
                  <a:srgbClr val="FFFFFF"/>
                </a:solidFill>
              </a:rPr>
              <a:t>·  At n = 2,000,000: requires 14 merge passes</a:t>
            </a:r>
          </a:p>
        </p:txBody>
      </p:sp>
      <p:sp>
        <p:nvSpPr>
          <p:cNvPr id="18" name="TextBox 17"/>
          <p:cNvSpPr txBox="1"/>
          <p:nvPr/>
        </p:nvSpPr>
        <p:spPr>
          <a:xfrm>
            <a:off x="6492240" y="2459736"/>
            <a:ext cx="5257800" cy="384048"/>
          </a:xfrm>
          <a:prstGeom prst="rect">
            <a:avLst/>
          </a:prstGeom>
          <a:noFill/>
        </p:spPr>
        <p:txBody>
          <a:bodyPr wrap="square">
            <a:spAutoFit/>
          </a:bodyPr>
          <a:lstStyle/>
          <a:p>
            <a:pPr algn="l"/>
            <a:r>
              <a:rPr sz="1300" b="0" i="0">
                <a:solidFill>
                  <a:srgbClr val="FFFFFF"/>
                </a:solidFill>
              </a:rPr>
              <a:t>·  Merge hot-loop: pick smaller head element, load 8 floats, store</a:t>
            </a:r>
          </a:p>
        </p:txBody>
      </p:sp>
      <p:sp>
        <p:nvSpPr>
          <p:cNvPr id="19" name="TextBox 18"/>
          <p:cNvSpPr txBox="1"/>
          <p:nvPr/>
        </p:nvSpPr>
        <p:spPr>
          <a:xfrm>
            <a:off x="6492240" y="2843784"/>
            <a:ext cx="5257800" cy="384048"/>
          </a:xfrm>
          <a:prstGeom prst="rect">
            <a:avLst/>
          </a:prstGeom>
          <a:noFill/>
        </p:spPr>
        <p:txBody>
          <a:bodyPr wrap="square">
            <a:spAutoFit/>
          </a:bodyPr>
          <a:lstStyle/>
          <a:p>
            <a:pPr algn="l"/>
            <a:r>
              <a:rPr sz="1300" b="0" i="0">
                <a:solidFill>
                  <a:srgbClr val="FFFFFF"/>
                </a:solidFill>
              </a:rPr>
              <a:t>·  This is where 65–75% of total runtime is spent → main target</a:t>
            </a:r>
          </a:p>
        </p:txBody>
      </p:sp>
      <p:sp>
        <p:nvSpPr>
          <p:cNvPr id="20" name="Rectangle 19"/>
          <p:cNvSpPr/>
          <p:nvPr/>
        </p:nvSpPr>
        <p:spPr>
          <a:xfrm>
            <a:off x="411480" y="4160520"/>
            <a:ext cx="11365992" cy="237744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224528"/>
            <a:ext cx="7315200" cy="347472"/>
          </a:xfrm>
          <a:prstGeom prst="rect">
            <a:avLst/>
          </a:prstGeom>
          <a:noFill/>
        </p:spPr>
        <p:txBody>
          <a:bodyPr wrap="square">
            <a:spAutoFit/>
          </a:bodyPr>
          <a:lstStyle/>
          <a:p>
            <a:pPr algn="l"/>
            <a:r>
              <a:rPr sz="1400" b="1" i="0">
                <a:solidFill>
                  <a:srgbClr val="FFFFFF"/>
                </a:solidFill>
              </a:rPr>
              <a:t>Baseline speedup vs std::sort  (actual measured values)</a:t>
            </a:r>
          </a:p>
        </p:txBody>
      </p:sp>
      <p:sp>
        <p:nvSpPr>
          <p:cNvPr id="22" name="TextBox 21"/>
          <p:cNvSpPr txBox="1"/>
          <p:nvPr/>
        </p:nvSpPr>
        <p:spPr>
          <a:xfrm>
            <a:off x="594360" y="4617720"/>
            <a:ext cx="1737360" cy="274320"/>
          </a:xfrm>
          <a:prstGeom prst="rect">
            <a:avLst/>
          </a:prstGeom>
          <a:noFill/>
        </p:spPr>
        <p:txBody>
          <a:bodyPr wrap="square">
            <a:spAutoFit/>
          </a:bodyPr>
          <a:lstStyle/>
          <a:p>
            <a:pPr algn="ctr"/>
            <a:r>
              <a:rPr sz="1100" b="1" i="0">
                <a:solidFill>
                  <a:srgbClr val="8888AA"/>
                </a:solidFill>
              </a:rPr>
              <a:t>Array size</a:t>
            </a:r>
          </a:p>
        </p:txBody>
      </p:sp>
      <p:sp>
        <p:nvSpPr>
          <p:cNvPr id="23" name="TextBox 22"/>
          <p:cNvSpPr txBox="1"/>
          <p:nvPr/>
        </p:nvSpPr>
        <p:spPr>
          <a:xfrm>
            <a:off x="2286000" y="4617720"/>
            <a:ext cx="1737360" cy="274320"/>
          </a:xfrm>
          <a:prstGeom prst="rect">
            <a:avLst/>
          </a:prstGeom>
          <a:noFill/>
        </p:spPr>
        <p:txBody>
          <a:bodyPr wrap="square">
            <a:spAutoFit/>
          </a:bodyPr>
          <a:lstStyle/>
          <a:p>
            <a:pPr algn="ctr"/>
            <a:r>
              <a:rPr sz="1100" b="1" i="0">
                <a:solidFill>
                  <a:srgbClr val="8888AA"/>
                </a:solidFill>
              </a:rPr>
              <a:t>std::sort</a:t>
            </a:r>
          </a:p>
        </p:txBody>
      </p:sp>
      <p:sp>
        <p:nvSpPr>
          <p:cNvPr id="24" name="TextBox 23"/>
          <p:cNvSpPr txBox="1"/>
          <p:nvPr/>
        </p:nvSpPr>
        <p:spPr>
          <a:xfrm>
            <a:off x="4114800" y="4617720"/>
            <a:ext cx="1737360" cy="274320"/>
          </a:xfrm>
          <a:prstGeom prst="rect">
            <a:avLst/>
          </a:prstGeom>
          <a:noFill/>
        </p:spPr>
        <p:txBody>
          <a:bodyPr wrap="square">
            <a:spAutoFit/>
          </a:bodyPr>
          <a:lstStyle/>
          <a:p>
            <a:pPr algn="ctr"/>
            <a:r>
              <a:rPr sz="1100" b="1" i="0">
                <a:solidFill>
                  <a:srgbClr val="8888AA"/>
                </a:solidFill>
              </a:rPr>
              <a:t>SIMD baseline</a:t>
            </a:r>
          </a:p>
        </p:txBody>
      </p:sp>
      <p:sp>
        <p:nvSpPr>
          <p:cNvPr id="25" name="TextBox 24"/>
          <p:cNvSpPr txBox="1"/>
          <p:nvPr/>
        </p:nvSpPr>
        <p:spPr>
          <a:xfrm>
            <a:off x="5943600" y="4617720"/>
            <a:ext cx="1737360" cy="274320"/>
          </a:xfrm>
          <a:prstGeom prst="rect">
            <a:avLst/>
          </a:prstGeom>
          <a:noFill/>
        </p:spPr>
        <p:txBody>
          <a:bodyPr wrap="square">
            <a:spAutoFit/>
          </a:bodyPr>
          <a:lstStyle/>
          <a:p>
            <a:pPr algn="ctr"/>
            <a:r>
              <a:rPr sz="1100" b="1" i="0">
                <a:solidFill>
                  <a:srgbClr val="8888AA"/>
                </a:solidFill>
              </a:rPr>
              <a:t>Speedup</a:t>
            </a:r>
          </a:p>
        </p:txBody>
      </p:sp>
      <p:sp>
        <p:nvSpPr>
          <p:cNvPr id="26" name="TextBox 25"/>
          <p:cNvSpPr txBox="1"/>
          <p:nvPr/>
        </p:nvSpPr>
        <p:spPr>
          <a:xfrm>
            <a:off x="7772400" y="4617720"/>
            <a:ext cx="1737360" cy="274320"/>
          </a:xfrm>
          <a:prstGeom prst="rect">
            <a:avLst/>
          </a:prstGeom>
          <a:noFill/>
        </p:spPr>
        <p:txBody>
          <a:bodyPr wrap="square">
            <a:spAutoFit/>
          </a:bodyPr>
          <a:lstStyle/>
          <a:p>
            <a:pPr algn="ctr"/>
            <a:r>
              <a:rPr sz="1100" b="1" i="0">
                <a:solidFill>
                  <a:srgbClr val="8888AA"/>
                </a:solidFill>
              </a:rPr>
              <a:t>Fits in</a:t>
            </a:r>
          </a:p>
        </p:txBody>
      </p:sp>
      <p:sp>
        <p:nvSpPr>
          <p:cNvPr id="27" name="TextBox 26"/>
          <p:cNvSpPr txBox="1"/>
          <p:nvPr/>
        </p:nvSpPr>
        <p:spPr>
          <a:xfrm>
            <a:off x="9601200" y="4617720"/>
            <a:ext cx="1737360" cy="274320"/>
          </a:xfrm>
          <a:prstGeom prst="rect">
            <a:avLst/>
          </a:prstGeom>
          <a:noFill/>
        </p:spPr>
        <p:txBody>
          <a:bodyPr wrap="square">
            <a:spAutoFit/>
          </a:bodyPr>
          <a:lstStyle/>
          <a:p>
            <a:pPr algn="ctr"/>
            <a:r>
              <a:rPr sz="1100" b="1" i="0">
                <a:solidFill>
                  <a:srgbClr val="8888AA"/>
                </a:solidFill>
              </a:rPr>
              <a:t>Bottleneck</a:t>
            </a:r>
          </a:p>
        </p:txBody>
      </p:sp>
      <p:sp>
        <p:nvSpPr>
          <p:cNvPr id="28" name="Rectangle 27"/>
          <p:cNvSpPr/>
          <p:nvPr/>
        </p:nvSpPr>
        <p:spPr>
          <a:xfrm>
            <a:off x="594360" y="4919472"/>
            <a:ext cx="11064240" cy="22860"/>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4983480"/>
            <a:ext cx="11064240" cy="393192"/>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5029200"/>
            <a:ext cx="1737360" cy="320040"/>
          </a:xfrm>
          <a:prstGeom prst="rect">
            <a:avLst/>
          </a:prstGeom>
          <a:noFill/>
        </p:spPr>
        <p:txBody>
          <a:bodyPr wrap="square">
            <a:spAutoFit/>
          </a:bodyPr>
          <a:lstStyle/>
          <a:p>
            <a:pPr algn="ctr"/>
            <a:r>
              <a:rPr sz="1200" b="0" i="0">
                <a:solidFill>
                  <a:srgbClr val="FFFFFF"/>
                </a:solidFill>
              </a:rPr>
              <a:t>n = 81</a:t>
            </a:r>
          </a:p>
        </p:txBody>
      </p:sp>
      <p:sp>
        <p:nvSpPr>
          <p:cNvPr id="31" name="TextBox 30"/>
          <p:cNvSpPr txBox="1"/>
          <p:nvPr/>
        </p:nvSpPr>
        <p:spPr>
          <a:xfrm>
            <a:off x="2286000" y="5029200"/>
            <a:ext cx="1737360" cy="320040"/>
          </a:xfrm>
          <a:prstGeom prst="rect">
            <a:avLst/>
          </a:prstGeom>
          <a:noFill/>
        </p:spPr>
        <p:txBody>
          <a:bodyPr wrap="square">
            <a:spAutoFit/>
          </a:bodyPr>
          <a:lstStyle/>
          <a:p>
            <a:pPr algn="ctr"/>
            <a:r>
              <a:rPr sz="1200" b="0" i="0">
                <a:solidFill>
                  <a:srgbClr val="FFFFFF"/>
                </a:solidFill>
              </a:rPr>
              <a:t>0.19 ms</a:t>
            </a:r>
          </a:p>
        </p:txBody>
      </p:sp>
      <p:sp>
        <p:nvSpPr>
          <p:cNvPr id="32" name="TextBox 31"/>
          <p:cNvSpPr txBox="1"/>
          <p:nvPr/>
        </p:nvSpPr>
        <p:spPr>
          <a:xfrm>
            <a:off x="4114800" y="5029200"/>
            <a:ext cx="1737360" cy="320040"/>
          </a:xfrm>
          <a:prstGeom prst="rect">
            <a:avLst/>
          </a:prstGeom>
          <a:noFill/>
        </p:spPr>
        <p:txBody>
          <a:bodyPr wrap="square">
            <a:spAutoFit/>
          </a:bodyPr>
          <a:lstStyle/>
          <a:p>
            <a:pPr algn="ctr"/>
            <a:r>
              <a:rPr sz="1200" b="0" i="0">
                <a:solidFill>
                  <a:srgbClr val="FFFFFF"/>
                </a:solidFill>
              </a:rPr>
              <a:t>0.02 ms</a:t>
            </a:r>
          </a:p>
        </p:txBody>
      </p:sp>
      <p:sp>
        <p:nvSpPr>
          <p:cNvPr id="33" name="TextBox 32"/>
          <p:cNvSpPr txBox="1"/>
          <p:nvPr/>
        </p:nvSpPr>
        <p:spPr>
          <a:xfrm>
            <a:off x="5943600" y="5029200"/>
            <a:ext cx="1737360" cy="320040"/>
          </a:xfrm>
          <a:prstGeom prst="rect">
            <a:avLst/>
          </a:prstGeom>
          <a:noFill/>
        </p:spPr>
        <p:txBody>
          <a:bodyPr wrap="square">
            <a:spAutoFit/>
          </a:bodyPr>
          <a:lstStyle/>
          <a:p>
            <a:pPr algn="ctr"/>
            <a:r>
              <a:rPr sz="1200" b="0" i="0">
                <a:solidFill>
                  <a:srgbClr val="00E596"/>
                </a:solidFill>
              </a:rPr>
              <a:t>9.0×</a:t>
            </a:r>
          </a:p>
        </p:txBody>
      </p:sp>
      <p:sp>
        <p:nvSpPr>
          <p:cNvPr id="34" name="TextBox 33"/>
          <p:cNvSpPr txBox="1"/>
          <p:nvPr/>
        </p:nvSpPr>
        <p:spPr>
          <a:xfrm>
            <a:off x="7772400" y="5029200"/>
            <a:ext cx="1737360" cy="320040"/>
          </a:xfrm>
          <a:prstGeom prst="rect">
            <a:avLst/>
          </a:prstGeom>
          <a:noFill/>
        </p:spPr>
        <p:txBody>
          <a:bodyPr wrap="square">
            <a:spAutoFit/>
          </a:bodyPr>
          <a:lstStyle/>
          <a:p>
            <a:pPr algn="ctr"/>
            <a:r>
              <a:rPr sz="1200" b="0" i="0">
                <a:solidFill>
                  <a:srgbClr val="FFFFFF"/>
                </a:solidFill>
              </a:rPr>
              <a:t>L1 cache</a:t>
            </a:r>
          </a:p>
        </p:txBody>
      </p:sp>
      <p:sp>
        <p:nvSpPr>
          <p:cNvPr id="35" name="TextBox 34"/>
          <p:cNvSpPr txBox="1"/>
          <p:nvPr/>
        </p:nvSpPr>
        <p:spPr>
          <a:xfrm>
            <a:off x="9601200" y="5029200"/>
            <a:ext cx="1737360" cy="320040"/>
          </a:xfrm>
          <a:prstGeom prst="rect">
            <a:avLst/>
          </a:prstGeom>
          <a:noFill/>
        </p:spPr>
        <p:txBody>
          <a:bodyPr wrap="square">
            <a:spAutoFit/>
          </a:bodyPr>
          <a:lstStyle/>
          <a:p>
            <a:pPr algn="ctr"/>
            <a:r>
              <a:rPr sz="1200" b="0" i="0">
                <a:solidFill>
                  <a:srgbClr val="FFFFFF"/>
                </a:solidFill>
              </a:rPr>
              <a:t>None — pure SIMD</a:t>
            </a:r>
          </a:p>
        </p:txBody>
      </p:sp>
      <p:sp>
        <p:nvSpPr>
          <p:cNvPr id="36" name="Rectangle 35"/>
          <p:cNvSpPr/>
          <p:nvPr/>
        </p:nvSpPr>
        <p:spPr>
          <a:xfrm>
            <a:off x="594360" y="5394960"/>
            <a:ext cx="11064240" cy="393192"/>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5440680"/>
            <a:ext cx="1737360" cy="320040"/>
          </a:xfrm>
          <a:prstGeom prst="rect">
            <a:avLst/>
          </a:prstGeom>
          <a:noFill/>
        </p:spPr>
        <p:txBody>
          <a:bodyPr wrap="square">
            <a:spAutoFit/>
          </a:bodyPr>
          <a:lstStyle/>
          <a:p>
            <a:pPr algn="ctr"/>
            <a:r>
              <a:rPr sz="1200" b="0" i="0">
                <a:solidFill>
                  <a:srgbClr val="FFFFFF"/>
                </a:solidFill>
              </a:rPr>
              <a:t>n = 2,187</a:t>
            </a:r>
          </a:p>
        </p:txBody>
      </p:sp>
      <p:sp>
        <p:nvSpPr>
          <p:cNvPr id="38" name="TextBox 37"/>
          <p:cNvSpPr txBox="1"/>
          <p:nvPr/>
        </p:nvSpPr>
        <p:spPr>
          <a:xfrm>
            <a:off x="2286000" y="5440680"/>
            <a:ext cx="1737360" cy="320040"/>
          </a:xfrm>
          <a:prstGeom prst="rect">
            <a:avLst/>
          </a:prstGeom>
          <a:noFill/>
        </p:spPr>
        <p:txBody>
          <a:bodyPr wrap="square">
            <a:spAutoFit/>
          </a:bodyPr>
          <a:lstStyle/>
          <a:p>
            <a:pPr algn="ctr"/>
            <a:r>
              <a:rPr sz="1200" b="0" i="0">
                <a:solidFill>
                  <a:srgbClr val="FFFFFF"/>
                </a:solidFill>
              </a:rPr>
              <a:t>7.4 ms</a:t>
            </a:r>
          </a:p>
        </p:txBody>
      </p:sp>
      <p:sp>
        <p:nvSpPr>
          <p:cNvPr id="39" name="TextBox 38"/>
          <p:cNvSpPr txBox="1"/>
          <p:nvPr/>
        </p:nvSpPr>
        <p:spPr>
          <a:xfrm>
            <a:off x="4114800" y="5440680"/>
            <a:ext cx="1737360" cy="320040"/>
          </a:xfrm>
          <a:prstGeom prst="rect">
            <a:avLst/>
          </a:prstGeom>
          <a:noFill/>
        </p:spPr>
        <p:txBody>
          <a:bodyPr wrap="square">
            <a:spAutoFit/>
          </a:bodyPr>
          <a:lstStyle/>
          <a:p>
            <a:pPr algn="ctr"/>
            <a:r>
              <a:rPr sz="1200" b="0" i="0">
                <a:solidFill>
                  <a:srgbClr val="FFFFFF"/>
                </a:solidFill>
              </a:rPr>
              <a:t>1.7 ms</a:t>
            </a:r>
          </a:p>
        </p:txBody>
      </p:sp>
      <p:sp>
        <p:nvSpPr>
          <p:cNvPr id="40" name="TextBox 39"/>
          <p:cNvSpPr txBox="1"/>
          <p:nvPr/>
        </p:nvSpPr>
        <p:spPr>
          <a:xfrm>
            <a:off x="5943600" y="5440680"/>
            <a:ext cx="1737360" cy="320040"/>
          </a:xfrm>
          <a:prstGeom prst="rect">
            <a:avLst/>
          </a:prstGeom>
          <a:noFill/>
        </p:spPr>
        <p:txBody>
          <a:bodyPr wrap="square">
            <a:spAutoFit/>
          </a:bodyPr>
          <a:lstStyle/>
          <a:p>
            <a:pPr algn="ctr"/>
            <a:r>
              <a:rPr sz="1200" b="0" i="0">
                <a:solidFill>
                  <a:srgbClr val="00E596"/>
                </a:solidFill>
              </a:rPr>
              <a:t>4.3×</a:t>
            </a:r>
          </a:p>
        </p:txBody>
      </p:sp>
      <p:sp>
        <p:nvSpPr>
          <p:cNvPr id="41" name="TextBox 40"/>
          <p:cNvSpPr txBox="1"/>
          <p:nvPr/>
        </p:nvSpPr>
        <p:spPr>
          <a:xfrm>
            <a:off x="7772400" y="5440680"/>
            <a:ext cx="1737360" cy="320040"/>
          </a:xfrm>
          <a:prstGeom prst="rect">
            <a:avLst/>
          </a:prstGeom>
          <a:noFill/>
        </p:spPr>
        <p:txBody>
          <a:bodyPr wrap="square">
            <a:spAutoFit/>
          </a:bodyPr>
          <a:lstStyle/>
          <a:p>
            <a:pPr algn="ctr"/>
            <a:r>
              <a:rPr sz="1200" b="0" i="0">
                <a:solidFill>
                  <a:srgbClr val="FFFFFF"/>
                </a:solidFill>
              </a:rPr>
              <a:t>L2 cache</a:t>
            </a:r>
          </a:p>
        </p:txBody>
      </p:sp>
      <p:sp>
        <p:nvSpPr>
          <p:cNvPr id="42" name="TextBox 41"/>
          <p:cNvSpPr txBox="1"/>
          <p:nvPr/>
        </p:nvSpPr>
        <p:spPr>
          <a:xfrm>
            <a:off x="9601200" y="5440680"/>
            <a:ext cx="1737360" cy="320040"/>
          </a:xfrm>
          <a:prstGeom prst="rect">
            <a:avLst/>
          </a:prstGeom>
          <a:noFill/>
        </p:spPr>
        <p:txBody>
          <a:bodyPr wrap="square">
            <a:spAutoFit/>
          </a:bodyPr>
          <a:lstStyle/>
          <a:p>
            <a:pPr algn="ctr"/>
            <a:r>
              <a:rPr sz="1200" b="0" i="0">
                <a:solidFill>
                  <a:srgbClr val="FFFFFF"/>
                </a:solidFill>
              </a:rPr>
              <a:t>Merge overhead</a:t>
            </a:r>
          </a:p>
        </p:txBody>
      </p:sp>
      <p:sp>
        <p:nvSpPr>
          <p:cNvPr id="43" name="Rectangle 42"/>
          <p:cNvSpPr/>
          <p:nvPr/>
        </p:nvSpPr>
        <p:spPr>
          <a:xfrm>
            <a:off x="594360" y="5806440"/>
            <a:ext cx="11064240" cy="393192"/>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 y="5852160"/>
            <a:ext cx="1737360" cy="320040"/>
          </a:xfrm>
          <a:prstGeom prst="rect">
            <a:avLst/>
          </a:prstGeom>
          <a:noFill/>
        </p:spPr>
        <p:txBody>
          <a:bodyPr wrap="square">
            <a:spAutoFit/>
          </a:bodyPr>
          <a:lstStyle/>
          <a:p>
            <a:pPr algn="ctr"/>
            <a:r>
              <a:rPr sz="1200" b="0" i="0">
                <a:solidFill>
                  <a:srgbClr val="FFFFFF"/>
                </a:solidFill>
              </a:rPr>
              <a:t>n = 531,441</a:t>
            </a:r>
          </a:p>
        </p:txBody>
      </p:sp>
      <p:sp>
        <p:nvSpPr>
          <p:cNvPr id="45" name="TextBox 44"/>
          <p:cNvSpPr txBox="1"/>
          <p:nvPr/>
        </p:nvSpPr>
        <p:spPr>
          <a:xfrm>
            <a:off x="2286000" y="5852160"/>
            <a:ext cx="1737360" cy="320040"/>
          </a:xfrm>
          <a:prstGeom prst="rect">
            <a:avLst/>
          </a:prstGeom>
          <a:noFill/>
        </p:spPr>
        <p:txBody>
          <a:bodyPr wrap="square">
            <a:spAutoFit/>
          </a:bodyPr>
          <a:lstStyle/>
          <a:p>
            <a:pPr algn="ctr"/>
            <a:r>
              <a:rPr sz="1200" b="0" i="0">
                <a:solidFill>
                  <a:srgbClr val="FFFFFF"/>
                </a:solidFill>
              </a:rPr>
              <a:t>3,303 ms</a:t>
            </a:r>
          </a:p>
        </p:txBody>
      </p:sp>
      <p:sp>
        <p:nvSpPr>
          <p:cNvPr id="46" name="TextBox 45"/>
          <p:cNvSpPr txBox="1"/>
          <p:nvPr/>
        </p:nvSpPr>
        <p:spPr>
          <a:xfrm>
            <a:off x="4114800" y="5852160"/>
            <a:ext cx="1737360" cy="320040"/>
          </a:xfrm>
          <a:prstGeom prst="rect">
            <a:avLst/>
          </a:prstGeom>
          <a:noFill/>
        </p:spPr>
        <p:txBody>
          <a:bodyPr wrap="square">
            <a:spAutoFit/>
          </a:bodyPr>
          <a:lstStyle/>
          <a:p>
            <a:pPr algn="ctr"/>
            <a:r>
              <a:rPr sz="1200" b="0" i="0">
                <a:solidFill>
                  <a:srgbClr val="FFFFFF"/>
                </a:solidFill>
              </a:rPr>
              <a:t>1,161 ms</a:t>
            </a:r>
          </a:p>
        </p:txBody>
      </p:sp>
      <p:sp>
        <p:nvSpPr>
          <p:cNvPr id="47" name="TextBox 46"/>
          <p:cNvSpPr txBox="1"/>
          <p:nvPr/>
        </p:nvSpPr>
        <p:spPr>
          <a:xfrm>
            <a:off x="5943600" y="5852160"/>
            <a:ext cx="1737360" cy="320040"/>
          </a:xfrm>
          <a:prstGeom prst="rect">
            <a:avLst/>
          </a:prstGeom>
          <a:noFill/>
        </p:spPr>
        <p:txBody>
          <a:bodyPr wrap="square">
            <a:spAutoFit/>
          </a:bodyPr>
          <a:lstStyle/>
          <a:p>
            <a:pPr algn="ctr"/>
            <a:r>
              <a:rPr sz="1200" b="0" i="0">
                <a:solidFill>
                  <a:srgbClr val="00E596"/>
                </a:solidFill>
              </a:rPr>
              <a:t>2.8×</a:t>
            </a:r>
          </a:p>
        </p:txBody>
      </p:sp>
      <p:sp>
        <p:nvSpPr>
          <p:cNvPr id="48" name="TextBox 47"/>
          <p:cNvSpPr txBox="1"/>
          <p:nvPr/>
        </p:nvSpPr>
        <p:spPr>
          <a:xfrm>
            <a:off x="7772400" y="5852160"/>
            <a:ext cx="1737360" cy="320040"/>
          </a:xfrm>
          <a:prstGeom prst="rect">
            <a:avLst/>
          </a:prstGeom>
          <a:noFill/>
        </p:spPr>
        <p:txBody>
          <a:bodyPr wrap="square">
            <a:spAutoFit/>
          </a:bodyPr>
          <a:lstStyle/>
          <a:p>
            <a:pPr algn="ctr"/>
            <a:r>
              <a:rPr sz="1200" b="0" i="0">
                <a:solidFill>
                  <a:srgbClr val="FFFFFF"/>
                </a:solidFill>
              </a:rPr>
              <a:t>RAM</a:t>
            </a:r>
          </a:p>
        </p:txBody>
      </p:sp>
      <p:sp>
        <p:nvSpPr>
          <p:cNvPr id="49" name="TextBox 48"/>
          <p:cNvSpPr txBox="1"/>
          <p:nvPr/>
        </p:nvSpPr>
        <p:spPr>
          <a:xfrm>
            <a:off x="9601200" y="5852160"/>
            <a:ext cx="1737360" cy="320040"/>
          </a:xfrm>
          <a:prstGeom prst="rect">
            <a:avLst/>
          </a:prstGeom>
          <a:noFill/>
        </p:spPr>
        <p:txBody>
          <a:bodyPr wrap="square">
            <a:spAutoFit/>
          </a:bodyPr>
          <a:lstStyle/>
          <a:p>
            <a:pPr algn="ctr"/>
            <a:r>
              <a:rPr sz="1200" b="0" i="0">
                <a:solidFill>
                  <a:srgbClr val="FFFFFF"/>
                </a:solidFill>
              </a:rPr>
              <a:t>Memory bandwidth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Five Optimizations — What We Changed and Why</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Each targets a specific hardware bottleneck</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188720"/>
            <a:ext cx="2231136" cy="534924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188720"/>
            <a:ext cx="2231136"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188720"/>
            <a:ext cx="2231136" cy="347472"/>
          </a:xfrm>
          <a:prstGeom prst="rect">
            <a:avLst/>
          </a:prstGeom>
          <a:noFill/>
        </p:spPr>
        <p:txBody>
          <a:bodyPr wrap="square">
            <a:spAutoFit/>
          </a:bodyPr>
          <a:lstStyle/>
          <a:p>
            <a:pPr algn="ctr"/>
            <a:r>
              <a:rPr sz="1300" b="1" i="0">
                <a:solidFill>
                  <a:srgbClr val="050510"/>
                </a:solidFill>
              </a:rPr>
              <a:t>Gap 1</a:t>
            </a:r>
          </a:p>
        </p:txBody>
      </p:sp>
      <p:sp>
        <p:nvSpPr>
          <p:cNvPr id="9" name="TextBox 8"/>
          <p:cNvSpPr txBox="1"/>
          <p:nvPr/>
        </p:nvSpPr>
        <p:spPr>
          <a:xfrm>
            <a:off x="502920" y="1572768"/>
            <a:ext cx="2048256" cy="548640"/>
          </a:xfrm>
          <a:prstGeom prst="rect">
            <a:avLst/>
          </a:prstGeom>
          <a:noFill/>
        </p:spPr>
        <p:txBody>
          <a:bodyPr wrap="square">
            <a:spAutoFit/>
          </a:bodyPr>
          <a:lstStyle/>
          <a:p>
            <a:pPr algn="ctr"/>
            <a:r>
              <a:rPr sz="1400" b="1" i="0">
                <a:solidFill>
                  <a:srgbClr val="FFFFFF"/>
                </a:solidFill>
              </a:rPr>
              <a:t>OpenMP
Multi-threading</a:t>
            </a:r>
          </a:p>
        </p:txBody>
      </p:sp>
      <p:sp>
        <p:nvSpPr>
          <p:cNvPr id="10" name="Rectangle 9"/>
          <p:cNvSpPr/>
          <p:nvPr/>
        </p:nvSpPr>
        <p:spPr>
          <a:xfrm>
            <a:off x="502920" y="2176272"/>
            <a:ext cx="2048256" cy="1828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40280"/>
            <a:ext cx="2048256" cy="320040"/>
          </a:xfrm>
          <a:prstGeom prst="rect">
            <a:avLst/>
          </a:prstGeom>
          <a:noFill/>
        </p:spPr>
        <p:txBody>
          <a:bodyPr wrap="square">
            <a:spAutoFit/>
          </a:bodyPr>
          <a:lstStyle/>
          <a:p>
            <a:pPr algn="ctr"/>
            <a:r>
              <a:rPr sz="1100" b="1" i="0">
                <a:solidFill>
                  <a:srgbClr val="00D4FF"/>
                </a:solidFill>
              </a:rPr>
              <a:t>12 cores instead of 1</a:t>
            </a:r>
          </a:p>
        </p:txBody>
      </p:sp>
      <p:sp>
        <p:nvSpPr>
          <p:cNvPr id="12" name="TextBox 11"/>
          <p:cNvSpPr txBox="1"/>
          <p:nvPr/>
        </p:nvSpPr>
        <p:spPr>
          <a:xfrm>
            <a:off x="502920" y="2633472"/>
            <a:ext cx="2048256" cy="2194560"/>
          </a:xfrm>
          <a:prstGeom prst="rect">
            <a:avLst/>
          </a:prstGeom>
          <a:noFill/>
        </p:spPr>
        <p:txBody>
          <a:bodyPr wrap="square">
            <a:spAutoFit/>
          </a:bodyPr>
          <a:lstStyle/>
          <a:p>
            <a:pPr algn="l"/>
            <a:r>
              <a:rPr sz="1150" b="0" i="0">
                <a:solidFill>
                  <a:srgbClr val="8888AA"/>
                </a:solidFill>
              </a:rPr>
              <a:t>Recursive task spawning parallelises both tile sort and merge tree phases. Depth = 4 → up to 16 concurrent tasks.</a:t>
            </a:r>
          </a:p>
        </p:txBody>
      </p:sp>
      <p:sp>
        <p:nvSpPr>
          <p:cNvPr id="13" name="Rectangle 12"/>
          <p:cNvSpPr/>
          <p:nvPr/>
        </p:nvSpPr>
        <p:spPr>
          <a:xfrm>
            <a:off x="502920"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961888"/>
            <a:ext cx="2048256" cy="347472"/>
          </a:xfrm>
          <a:prstGeom prst="rect">
            <a:avLst/>
          </a:prstGeom>
          <a:noFill/>
        </p:spPr>
        <p:txBody>
          <a:bodyPr wrap="square">
            <a:spAutoFit/>
          </a:bodyPr>
          <a:lstStyle/>
          <a:p>
            <a:pPr algn="ctr"/>
            <a:r>
              <a:rPr sz="1200" b="1" i="0">
                <a:solidFill>
                  <a:srgbClr val="00D4FF"/>
                </a:solidFill>
              </a:rPr>
              <a:t>Gain: 2.7 – 3.0×</a:t>
            </a:r>
          </a:p>
        </p:txBody>
      </p:sp>
      <p:sp>
        <p:nvSpPr>
          <p:cNvPr id="15" name="Rectangle 14"/>
          <p:cNvSpPr/>
          <p:nvPr/>
        </p:nvSpPr>
        <p:spPr>
          <a:xfrm>
            <a:off x="2770632" y="1188720"/>
            <a:ext cx="2231136" cy="534924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70632" y="1188720"/>
            <a:ext cx="2231136" cy="34747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70632" y="1188720"/>
            <a:ext cx="2231136" cy="347472"/>
          </a:xfrm>
          <a:prstGeom prst="rect">
            <a:avLst/>
          </a:prstGeom>
          <a:noFill/>
        </p:spPr>
        <p:txBody>
          <a:bodyPr wrap="square">
            <a:spAutoFit/>
          </a:bodyPr>
          <a:lstStyle/>
          <a:p>
            <a:pPr algn="ctr"/>
            <a:r>
              <a:rPr sz="1300" b="1" i="0">
                <a:solidFill>
                  <a:srgbClr val="050510"/>
                </a:solidFill>
              </a:rPr>
              <a:t>Gap 2</a:t>
            </a:r>
          </a:p>
        </p:txBody>
      </p:sp>
      <p:sp>
        <p:nvSpPr>
          <p:cNvPr id="18" name="TextBox 17"/>
          <p:cNvSpPr txBox="1"/>
          <p:nvPr/>
        </p:nvSpPr>
        <p:spPr>
          <a:xfrm>
            <a:off x="2862072" y="1572768"/>
            <a:ext cx="2048256" cy="548640"/>
          </a:xfrm>
          <a:prstGeom prst="rect">
            <a:avLst/>
          </a:prstGeom>
          <a:noFill/>
        </p:spPr>
        <p:txBody>
          <a:bodyPr wrap="square">
            <a:spAutoFit/>
          </a:bodyPr>
          <a:lstStyle/>
          <a:p>
            <a:pPr algn="ctr"/>
            <a:r>
              <a:rPr sz="1400" b="1" i="0">
                <a:solidFill>
                  <a:srgbClr val="FFFFFF"/>
                </a:solidFill>
              </a:rPr>
              <a:t>Branchless
Merge</a:t>
            </a:r>
          </a:p>
        </p:txBody>
      </p:sp>
      <p:sp>
        <p:nvSpPr>
          <p:cNvPr id="19" name="Rectangle 18"/>
          <p:cNvSpPr/>
          <p:nvPr/>
        </p:nvSpPr>
        <p:spPr>
          <a:xfrm>
            <a:off x="2862072" y="2176272"/>
            <a:ext cx="2048256"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62072" y="2240280"/>
            <a:ext cx="2048256" cy="320040"/>
          </a:xfrm>
          <a:prstGeom prst="rect">
            <a:avLst/>
          </a:prstGeom>
          <a:noFill/>
        </p:spPr>
        <p:txBody>
          <a:bodyPr wrap="square">
            <a:spAutoFit/>
          </a:bodyPr>
          <a:lstStyle/>
          <a:p>
            <a:pPr algn="ctr"/>
            <a:r>
              <a:rPr sz="1100" b="1" i="0">
                <a:solidFill>
                  <a:srgbClr val="6C63FF"/>
                </a:solidFill>
              </a:rPr>
              <a:t>No mis-predicted branches</a:t>
            </a:r>
          </a:p>
        </p:txBody>
      </p:sp>
      <p:sp>
        <p:nvSpPr>
          <p:cNvPr id="21" name="TextBox 20"/>
          <p:cNvSpPr txBox="1"/>
          <p:nvPr/>
        </p:nvSpPr>
        <p:spPr>
          <a:xfrm>
            <a:off x="2862072" y="2633472"/>
            <a:ext cx="2048256" cy="2194560"/>
          </a:xfrm>
          <a:prstGeom prst="rect">
            <a:avLst/>
          </a:prstGeom>
          <a:noFill/>
        </p:spPr>
        <p:txBody>
          <a:bodyPr wrap="square">
            <a:spAutoFit/>
          </a:bodyPr>
          <a:lstStyle/>
          <a:p>
            <a:pPr algn="l"/>
            <a:r>
              <a:rPr sz="1150" b="0" i="0">
                <a:solidFill>
                  <a:srgbClr val="8888AA"/>
                </a:solidFill>
              </a:rPr>
              <a:t>Replace if-branch in merge loop with arithmetic pointer selection. CPU calculates source address without guessing.</a:t>
            </a:r>
          </a:p>
        </p:txBody>
      </p:sp>
      <p:sp>
        <p:nvSpPr>
          <p:cNvPr id="22" name="Rectangle 21"/>
          <p:cNvSpPr/>
          <p:nvPr/>
        </p:nvSpPr>
        <p:spPr>
          <a:xfrm>
            <a:off x="2862072"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62072" y="5961888"/>
            <a:ext cx="2048256" cy="347472"/>
          </a:xfrm>
          <a:prstGeom prst="rect">
            <a:avLst/>
          </a:prstGeom>
          <a:noFill/>
        </p:spPr>
        <p:txBody>
          <a:bodyPr wrap="square">
            <a:spAutoFit/>
          </a:bodyPr>
          <a:lstStyle/>
          <a:p>
            <a:pPr algn="ctr"/>
            <a:r>
              <a:rPr sz="1200" b="1" i="0">
                <a:solidFill>
                  <a:srgbClr val="6C63FF"/>
                </a:solidFill>
              </a:rPr>
              <a:t>Gain: 1.0 – 1.1×</a:t>
            </a:r>
          </a:p>
        </p:txBody>
      </p:sp>
      <p:sp>
        <p:nvSpPr>
          <p:cNvPr id="24" name="Rectangle 23"/>
          <p:cNvSpPr/>
          <p:nvPr/>
        </p:nvSpPr>
        <p:spPr>
          <a:xfrm>
            <a:off x="5129784" y="1188720"/>
            <a:ext cx="2231136" cy="534924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29784" y="1188720"/>
            <a:ext cx="2231136" cy="34747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9784" y="1188720"/>
            <a:ext cx="2231136" cy="347472"/>
          </a:xfrm>
          <a:prstGeom prst="rect">
            <a:avLst/>
          </a:prstGeom>
          <a:noFill/>
        </p:spPr>
        <p:txBody>
          <a:bodyPr wrap="square">
            <a:spAutoFit/>
          </a:bodyPr>
          <a:lstStyle/>
          <a:p>
            <a:pPr algn="ctr"/>
            <a:r>
              <a:rPr sz="1300" b="1" i="0">
                <a:solidFill>
                  <a:srgbClr val="050510"/>
                </a:solidFill>
              </a:rPr>
              <a:t>Gap 3</a:t>
            </a:r>
          </a:p>
        </p:txBody>
      </p:sp>
      <p:sp>
        <p:nvSpPr>
          <p:cNvPr id="27" name="TextBox 26"/>
          <p:cNvSpPr txBox="1"/>
          <p:nvPr/>
        </p:nvSpPr>
        <p:spPr>
          <a:xfrm>
            <a:off x="5221224" y="1572768"/>
            <a:ext cx="2048256" cy="548640"/>
          </a:xfrm>
          <a:prstGeom prst="rect">
            <a:avLst/>
          </a:prstGeom>
          <a:noFill/>
        </p:spPr>
        <p:txBody>
          <a:bodyPr wrap="square">
            <a:spAutoFit/>
          </a:bodyPr>
          <a:lstStyle/>
          <a:p>
            <a:pPr algn="ctr"/>
            <a:r>
              <a:rPr sz="1400" b="1" i="0">
                <a:solidFill>
                  <a:srgbClr val="FFFFFF"/>
                </a:solidFill>
              </a:rPr>
              <a:t>Memory
Prefetch</a:t>
            </a:r>
          </a:p>
        </p:txBody>
      </p:sp>
      <p:sp>
        <p:nvSpPr>
          <p:cNvPr id="28" name="Rectangle 27"/>
          <p:cNvSpPr/>
          <p:nvPr/>
        </p:nvSpPr>
        <p:spPr>
          <a:xfrm>
            <a:off x="5221224" y="2176272"/>
            <a:ext cx="2048256" cy="18288"/>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21224" y="2240280"/>
            <a:ext cx="2048256" cy="320040"/>
          </a:xfrm>
          <a:prstGeom prst="rect">
            <a:avLst/>
          </a:prstGeom>
          <a:noFill/>
        </p:spPr>
        <p:txBody>
          <a:bodyPr wrap="square">
            <a:spAutoFit/>
          </a:bodyPr>
          <a:lstStyle/>
          <a:p>
            <a:pPr algn="ctr"/>
            <a:r>
              <a:rPr sz="1100" b="1" i="0">
                <a:solidFill>
                  <a:srgbClr val="00E596"/>
                </a:solidFill>
              </a:rPr>
              <a:t>Hide RAM latency</a:t>
            </a:r>
          </a:p>
        </p:txBody>
      </p:sp>
      <p:sp>
        <p:nvSpPr>
          <p:cNvPr id="30" name="TextBox 29"/>
          <p:cNvSpPr txBox="1"/>
          <p:nvPr/>
        </p:nvSpPr>
        <p:spPr>
          <a:xfrm>
            <a:off x="5221224" y="2633472"/>
            <a:ext cx="2048256" cy="2194560"/>
          </a:xfrm>
          <a:prstGeom prst="rect">
            <a:avLst/>
          </a:prstGeom>
          <a:noFill/>
        </p:spPr>
        <p:txBody>
          <a:bodyPr wrap="square">
            <a:spAutoFit/>
          </a:bodyPr>
          <a:lstStyle/>
          <a:p>
            <a:pPr algn="l"/>
            <a:r>
              <a:rPr sz="1150" b="0" i="0">
                <a:solidFill>
                  <a:srgbClr val="8888AA"/>
                </a:solidFill>
              </a:rPr>
              <a:t>Issue prefetch hint 20 SIMD vectors (640 bytes) ahead. Covers ~80ns DRAM latency before the data is needed.</a:t>
            </a:r>
          </a:p>
        </p:txBody>
      </p:sp>
      <p:sp>
        <p:nvSpPr>
          <p:cNvPr id="31" name="Rectangle 30"/>
          <p:cNvSpPr/>
          <p:nvPr/>
        </p:nvSpPr>
        <p:spPr>
          <a:xfrm>
            <a:off x="5221224"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21224" y="5961888"/>
            <a:ext cx="2048256" cy="347472"/>
          </a:xfrm>
          <a:prstGeom prst="rect">
            <a:avLst/>
          </a:prstGeom>
          <a:noFill/>
        </p:spPr>
        <p:txBody>
          <a:bodyPr wrap="square">
            <a:spAutoFit/>
          </a:bodyPr>
          <a:lstStyle/>
          <a:p>
            <a:pPr algn="ctr"/>
            <a:r>
              <a:rPr sz="1200" b="1" i="0">
                <a:solidFill>
                  <a:srgbClr val="00E596"/>
                </a:solidFill>
              </a:rPr>
              <a:t>Gain: 1.0 – 1.2×</a:t>
            </a:r>
          </a:p>
        </p:txBody>
      </p:sp>
      <p:sp>
        <p:nvSpPr>
          <p:cNvPr id="33" name="Rectangle 32"/>
          <p:cNvSpPr/>
          <p:nvPr/>
        </p:nvSpPr>
        <p:spPr>
          <a:xfrm>
            <a:off x="7488936" y="1188720"/>
            <a:ext cx="2231136" cy="534924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88936" y="1188720"/>
            <a:ext cx="2231136" cy="347472"/>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88936" y="1188720"/>
            <a:ext cx="2231136" cy="347472"/>
          </a:xfrm>
          <a:prstGeom prst="rect">
            <a:avLst/>
          </a:prstGeom>
          <a:noFill/>
        </p:spPr>
        <p:txBody>
          <a:bodyPr wrap="square">
            <a:spAutoFit/>
          </a:bodyPr>
          <a:lstStyle/>
          <a:p>
            <a:pPr algn="ctr"/>
            <a:r>
              <a:rPr sz="1300" b="1" i="0">
                <a:solidFill>
                  <a:srgbClr val="050510"/>
                </a:solidFill>
              </a:rPr>
              <a:t>Gap 4</a:t>
            </a:r>
          </a:p>
        </p:txBody>
      </p:sp>
      <p:sp>
        <p:nvSpPr>
          <p:cNvPr id="36" name="TextBox 35"/>
          <p:cNvSpPr txBox="1"/>
          <p:nvPr/>
        </p:nvSpPr>
        <p:spPr>
          <a:xfrm>
            <a:off x="7580376" y="1572768"/>
            <a:ext cx="2048256" cy="548640"/>
          </a:xfrm>
          <a:prstGeom prst="rect">
            <a:avLst/>
          </a:prstGeom>
          <a:noFill/>
        </p:spPr>
        <p:txBody>
          <a:bodyPr wrap="square">
            <a:spAutoFit/>
          </a:bodyPr>
          <a:lstStyle/>
          <a:p>
            <a:pPr algn="ctr"/>
            <a:r>
              <a:rPr sz="1400" b="1" i="0">
                <a:solidFill>
                  <a:srgbClr val="FFFFFF"/>
                </a:solidFill>
              </a:rPr>
              <a:t>AVX-512
Simulation</a:t>
            </a:r>
          </a:p>
        </p:txBody>
      </p:sp>
      <p:sp>
        <p:nvSpPr>
          <p:cNvPr id="37" name="Rectangle 36"/>
          <p:cNvSpPr/>
          <p:nvPr/>
        </p:nvSpPr>
        <p:spPr>
          <a:xfrm>
            <a:off x="7580376" y="2176272"/>
            <a:ext cx="2048256" cy="18288"/>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80376" y="2240280"/>
            <a:ext cx="2048256" cy="320040"/>
          </a:xfrm>
          <a:prstGeom prst="rect">
            <a:avLst/>
          </a:prstGeom>
          <a:noFill/>
        </p:spPr>
        <p:txBody>
          <a:bodyPr wrap="square">
            <a:spAutoFit/>
          </a:bodyPr>
          <a:lstStyle/>
          <a:p>
            <a:pPr algn="ctr"/>
            <a:r>
              <a:rPr sz="1100" b="1" i="0">
                <a:solidFill>
                  <a:srgbClr val="FFC844"/>
                </a:solidFill>
              </a:rPr>
              <a:t>One fewer merge pass</a:t>
            </a:r>
          </a:p>
        </p:txBody>
      </p:sp>
      <p:sp>
        <p:nvSpPr>
          <p:cNvPr id="39" name="TextBox 38"/>
          <p:cNvSpPr txBox="1"/>
          <p:nvPr/>
        </p:nvSpPr>
        <p:spPr>
          <a:xfrm>
            <a:off x="7580376" y="2633472"/>
            <a:ext cx="2048256" cy="2194560"/>
          </a:xfrm>
          <a:prstGeom prst="rect">
            <a:avLst/>
          </a:prstGeom>
          <a:noFill/>
        </p:spPr>
        <p:txBody>
          <a:bodyPr wrap="square">
            <a:spAutoFit/>
          </a:bodyPr>
          <a:lstStyle/>
          <a:p>
            <a:pPr algn="l"/>
            <a:r>
              <a:rPr sz="1150" b="0" i="0">
                <a:solidFill>
                  <a:srgbClr val="8888AA"/>
                </a:solidFill>
              </a:rPr>
              <a:t>Create 384-element sorted runs (2× normal tile) then start merging from 384. Saves 1 of 14 merge passes at n = 2M.</a:t>
            </a:r>
          </a:p>
        </p:txBody>
      </p:sp>
      <p:sp>
        <p:nvSpPr>
          <p:cNvPr id="40" name="Rectangle 39"/>
          <p:cNvSpPr/>
          <p:nvPr/>
        </p:nvSpPr>
        <p:spPr>
          <a:xfrm>
            <a:off x="7580376"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80376" y="5961888"/>
            <a:ext cx="2048256" cy="347472"/>
          </a:xfrm>
          <a:prstGeom prst="rect">
            <a:avLst/>
          </a:prstGeom>
          <a:noFill/>
        </p:spPr>
        <p:txBody>
          <a:bodyPr wrap="square">
            <a:spAutoFit/>
          </a:bodyPr>
          <a:lstStyle/>
          <a:p>
            <a:pPr algn="ctr"/>
            <a:r>
              <a:rPr sz="1200" b="1" i="0">
                <a:solidFill>
                  <a:srgbClr val="FFC844"/>
                </a:solidFill>
              </a:rPr>
              <a:t>Gain: 1.05 – 1.2×</a:t>
            </a:r>
          </a:p>
        </p:txBody>
      </p:sp>
      <p:sp>
        <p:nvSpPr>
          <p:cNvPr id="42" name="Rectangle 41"/>
          <p:cNvSpPr/>
          <p:nvPr/>
        </p:nvSpPr>
        <p:spPr>
          <a:xfrm>
            <a:off x="9848088" y="1188720"/>
            <a:ext cx="2231136" cy="5349240"/>
          </a:xfrm>
          <a:prstGeom prst="rect">
            <a:avLst/>
          </a:prstGeom>
          <a:solidFill>
            <a:srgbClr val="1A1A24"/>
          </a:solidFill>
          <a:ln w="1270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848088" y="1188720"/>
            <a:ext cx="2231136" cy="347472"/>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48088" y="1188720"/>
            <a:ext cx="2231136" cy="347472"/>
          </a:xfrm>
          <a:prstGeom prst="rect">
            <a:avLst/>
          </a:prstGeom>
          <a:noFill/>
        </p:spPr>
        <p:txBody>
          <a:bodyPr wrap="square">
            <a:spAutoFit/>
          </a:bodyPr>
          <a:lstStyle/>
          <a:p>
            <a:pPr algn="ctr"/>
            <a:r>
              <a:rPr sz="1300" b="1" i="0">
                <a:solidFill>
                  <a:srgbClr val="050510"/>
                </a:solidFill>
              </a:rPr>
              <a:t>Gap 5</a:t>
            </a:r>
          </a:p>
        </p:txBody>
      </p:sp>
      <p:sp>
        <p:nvSpPr>
          <p:cNvPr id="45" name="TextBox 44"/>
          <p:cNvSpPr txBox="1"/>
          <p:nvPr/>
        </p:nvSpPr>
        <p:spPr>
          <a:xfrm>
            <a:off x="9939528" y="1572768"/>
            <a:ext cx="2048256" cy="548640"/>
          </a:xfrm>
          <a:prstGeom prst="rect">
            <a:avLst/>
          </a:prstGeom>
          <a:noFill/>
        </p:spPr>
        <p:txBody>
          <a:bodyPr wrap="square">
            <a:spAutoFit/>
          </a:bodyPr>
          <a:lstStyle/>
          <a:p>
            <a:pPr algn="ctr"/>
            <a:r>
              <a:rPr sz="1400" b="1" i="0">
                <a:solidFill>
                  <a:srgbClr val="FFFFFF"/>
                </a:solidFill>
              </a:rPr>
              <a:t>Pooled
Allocation</a:t>
            </a:r>
          </a:p>
        </p:txBody>
      </p:sp>
      <p:sp>
        <p:nvSpPr>
          <p:cNvPr id="46" name="Rectangle 45"/>
          <p:cNvSpPr/>
          <p:nvPr/>
        </p:nvSpPr>
        <p:spPr>
          <a:xfrm>
            <a:off x="9939528" y="2176272"/>
            <a:ext cx="2048256" cy="18288"/>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39528" y="2240280"/>
            <a:ext cx="2048256" cy="320040"/>
          </a:xfrm>
          <a:prstGeom prst="rect">
            <a:avLst/>
          </a:prstGeom>
          <a:noFill/>
        </p:spPr>
        <p:txBody>
          <a:bodyPr wrap="square">
            <a:spAutoFit/>
          </a:bodyPr>
          <a:lstStyle/>
          <a:p>
            <a:pPr algn="ctr"/>
            <a:r>
              <a:rPr sz="1100" b="1" i="0">
                <a:solidFill>
                  <a:srgbClr val="FF4D6D"/>
                </a:solidFill>
              </a:rPr>
              <a:t>No malloc per merge call</a:t>
            </a:r>
          </a:p>
        </p:txBody>
      </p:sp>
      <p:sp>
        <p:nvSpPr>
          <p:cNvPr id="48" name="TextBox 47"/>
          <p:cNvSpPr txBox="1"/>
          <p:nvPr/>
        </p:nvSpPr>
        <p:spPr>
          <a:xfrm>
            <a:off x="9939528" y="2633472"/>
            <a:ext cx="2048256" cy="2194560"/>
          </a:xfrm>
          <a:prstGeom prst="rect">
            <a:avLst/>
          </a:prstGeom>
          <a:noFill/>
        </p:spPr>
        <p:txBody>
          <a:bodyPr wrap="square">
            <a:spAutoFit/>
          </a:bodyPr>
          <a:lstStyle/>
          <a:p>
            <a:pPr algn="l"/>
            <a:r>
              <a:rPr sz="1150" b="0" i="0">
                <a:solidFill>
                  <a:srgbClr val="8888AA"/>
                </a:solidFill>
              </a:rPr>
              <a:t>Reuse a thread-local buffer instead of malloc/free for every merge. Eliminates thousands of allocations per sort.</a:t>
            </a:r>
          </a:p>
        </p:txBody>
      </p:sp>
      <p:sp>
        <p:nvSpPr>
          <p:cNvPr id="49" name="Rectangle 48"/>
          <p:cNvSpPr/>
          <p:nvPr/>
        </p:nvSpPr>
        <p:spPr>
          <a:xfrm>
            <a:off x="9939528" y="5943600"/>
            <a:ext cx="2048256" cy="411480"/>
          </a:xfrm>
          <a:prstGeom prst="rect">
            <a:avLst/>
          </a:prstGeom>
          <a:solidFill>
            <a:srgbClr val="08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39528" y="5961888"/>
            <a:ext cx="2048256" cy="347472"/>
          </a:xfrm>
          <a:prstGeom prst="rect">
            <a:avLst/>
          </a:prstGeom>
          <a:noFill/>
        </p:spPr>
        <p:txBody>
          <a:bodyPr wrap="square">
            <a:spAutoFit/>
          </a:bodyPr>
          <a:lstStyle/>
          <a:p>
            <a:pPr algn="ctr"/>
            <a:r>
              <a:rPr sz="1200" b="1" i="0">
                <a:solidFill>
                  <a:srgbClr val="FF4D6D"/>
                </a:solidFill>
              </a:rPr>
              <a:t>Gain: 1.07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Results — Speedup Over Baseline at n = 500,000</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Actual measured values · 100 runs averaged · Intel Core i7-12th Gen · 12 threads</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444752"/>
            <a:ext cx="1645920" cy="438912"/>
          </a:xfrm>
          <a:prstGeom prst="rect">
            <a:avLst/>
          </a:prstGeom>
          <a:noFill/>
        </p:spPr>
        <p:txBody>
          <a:bodyPr wrap="none">
            <a:spAutoFit/>
          </a:bodyPr>
          <a:lstStyle/>
          <a:p>
            <a:pPr algn="r"/>
            <a:r>
              <a:rPr sz="1300" b="0" i="0">
                <a:solidFill>
                  <a:srgbClr val="8888AA"/>
                </a:solidFill>
              </a:rPr>
              <a:t>Baseline</a:t>
            </a:r>
          </a:p>
        </p:txBody>
      </p:sp>
      <p:sp>
        <p:nvSpPr>
          <p:cNvPr id="7" name="Rectangle 6"/>
          <p:cNvSpPr/>
          <p:nvPr/>
        </p:nvSpPr>
        <p:spPr>
          <a:xfrm>
            <a:off x="1371600" y="1444752"/>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1444752"/>
            <a:ext cx="2220685" cy="438912"/>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3725" y="1444752"/>
            <a:ext cx="731520" cy="438912"/>
          </a:xfrm>
          <a:prstGeom prst="rect">
            <a:avLst/>
          </a:prstGeom>
          <a:noFill/>
        </p:spPr>
        <p:txBody>
          <a:bodyPr wrap="square">
            <a:spAutoFit/>
          </a:bodyPr>
          <a:lstStyle/>
          <a:p>
            <a:pPr algn="l"/>
            <a:r>
              <a:rPr sz="1300" b="1" i="0">
                <a:solidFill>
                  <a:srgbClr val="444460"/>
                </a:solidFill>
              </a:rPr>
              <a:t>1.00×</a:t>
            </a:r>
          </a:p>
        </p:txBody>
      </p:sp>
      <p:sp>
        <p:nvSpPr>
          <p:cNvPr id="10" name="TextBox 9"/>
          <p:cNvSpPr txBox="1"/>
          <p:nvPr/>
        </p:nvSpPr>
        <p:spPr>
          <a:xfrm>
            <a:off x="274320" y="2103120"/>
            <a:ext cx="1645920" cy="438912"/>
          </a:xfrm>
          <a:prstGeom prst="rect">
            <a:avLst/>
          </a:prstGeom>
          <a:noFill/>
        </p:spPr>
        <p:txBody>
          <a:bodyPr wrap="none">
            <a:spAutoFit/>
          </a:bodyPr>
          <a:lstStyle/>
          <a:p>
            <a:pPr algn="r"/>
            <a:r>
              <a:rPr sz="1300" b="0" i="0">
                <a:solidFill>
                  <a:srgbClr val="8888AA"/>
                </a:solidFill>
              </a:rPr>
              <a:t>Branchless</a:t>
            </a:r>
          </a:p>
        </p:txBody>
      </p:sp>
      <p:sp>
        <p:nvSpPr>
          <p:cNvPr id="11" name="Rectangle 10"/>
          <p:cNvSpPr/>
          <p:nvPr/>
        </p:nvSpPr>
        <p:spPr>
          <a:xfrm>
            <a:off x="1371600" y="2103120"/>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71600" y="2103120"/>
            <a:ext cx="2442754" cy="43891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5794" y="2103120"/>
            <a:ext cx="731520" cy="438912"/>
          </a:xfrm>
          <a:prstGeom prst="rect">
            <a:avLst/>
          </a:prstGeom>
          <a:noFill/>
        </p:spPr>
        <p:txBody>
          <a:bodyPr wrap="square">
            <a:spAutoFit/>
          </a:bodyPr>
          <a:lstStyle/>
          <a:p>
            <a:pPr algn="l"/>
            <a:r>
              <a:rPr sz="1300" b="1" i="0">
                <a:solidFill>
                  <a:srgbClr val="6C63FF"/>
                </a:solidFill>
              </a:rPr>
              <a:t>1.10×</a:t>
            </a:r>
          </a:p>
        </p:txBody>
      </p:sp>
      <p:sp>
        <p:nvSpPr>
          <p:cNvPr id="14" name="TextBox 13"/>
          <p:cNvSpPr txBox="1"/>
          <p:nvPr/>
        </p:nvSpPr>
        <p:spPr>
          <a:xfrm>
            <a:off x="274320" y="2761488"/>
            <a:ext cx="1645920" cy="438912"/>
          </a:xfrm>
          <a:prstGeom prst="rect">
            <a:avLst/>
          </a:prstGeom>
          <a:noFill/>
        </p:spPr>
        <p:txBody>
          <a:bodyPr wrap="none">
            <a:spAutoFit/>
          </a:bodyPr>
          <a:lstStyle/>
          <a:p>
            <a:pPr algn="r"/>
            <a:r>
              <a:rPr sz="1300" b="0" i="0">
                <a:solidFill>
                  <a:srgbClr val="8888AA"/>
                </a:solidFill>
              </a:rPr>
              <a:t>Prefetch</a:t>
            </a:r>
          </a:p>
        </p:txBody>
      </p:sp>
      <p:sp>
        <p:nvSpPr>
          <p:cNvPr id="15" name="Rectangle 14"/>
          <p:cNvSpPr/>
          <p:nvPr/>
        </p:nvSpPr>
        <p:spPr>
          <a:xfrm>
            <a:off x="1371600" y="2761488"/>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71600" y="2761488"/>
            <a:ext cx="2575995" cy="43891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9035" y="2761488"/>
            <a:ext cx="731520" cy="438912"/>
          </a:xfrm>
          <a:prstGeom prst="rect">
            <a:avLst/>
          </a:prstGeom>
          <a:noFill/>
        </p:spPr>
        <p:txBody>
          <a:bodyPr wrap="square">
            <a:spAutoFit/>
          </a:bodyPr>
          <a:lstStyle/>
          <a:p>
            <a:pPr algn="l"/>
            <a:r>
              <a:rPr sz="1300" b="1" i="0">
                <a:solidFill>
                  <a:srgbClr val="00D4FF"/>
                </a:solidFill>
              </a:rPr>
              <a:t>1.16×</a:t>
            </a:r>
          </a:p>
        </p:txBody>
      </p:sp>
      <p:sp>
        <p:nvSpPr>
          <p:cNvPr id="18" name="TextBox 17"/>
          <p:cNvSpPr txBox="1"/>
          <p:nvPr/>
        </p:nvSpPr>
        <p:spPr>
          <a:xfrm>
            <a:off x="274320" y="3419856"/>
            <a:ext cx="1645920" cy="438912"/>
          </a:xfrm>
          <a:prstGeom prst="rect">
            <a:avLst/>
          </a:prstGeom>
          <a:noFill/>
        </p:spPr>
        <p:txBody>
          <a:bodyPr wrap="none">
            <a:spAutoFit/>
          </a:bodyPr>
          <a:lstStyle/>
          <a:p>
            <a:pPr algn="r"/>
            <a:r>
              <a:rPr sz="1300" b="0" i="0">
                <a:solidFill>
                  <a:srgbClr val="8888AA"/>
                </a:solidFill>
              </a:rPr>
              <a:t>AVX-512 Sim</a:t>
            </a:r>
          </a:p>
        </p:txBody>
      </p:sp>
      <p:sp>
        <p:nvSpPr>
          <p:cNvPr id="19" name="Rectangle 18"/>
          <p:cNvSpPr/>
          <p:nvPr/>
        </p:nvSpPr>
        <p:spPr>
          <a:xfrm>
            <a:off x="1371600" y="3419856"/>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371600" y="3419856"/>
            <a:ext cx="2753650" cy="438912"/>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16690" y="3419856"/>
            <a:ext cx="731520" cy="438912"/>
          </a:xfrm>
          <a:prstGeom prst="rect">
            <a:avLst/>
          </a:prstGeom>
          <a:noFill/>
        </p:spPr>
        <p:txBody>
          <a:bodyPr wrap="square">
            <a:spAutoFit/>
          </a:bodyPr>
          <a:lstStyle/>
          <a:p>
            <a:pPr algn="l"/>
            <a:r>
              <a:rPr sz="1300" b="1" i="0">
                <a:solidFill>
                  <a:srgbClr val="FFC844"/>
                </a:solidFill>
              </a:rPr>
              <a:t>1.24×</a:t>
            </a:r>
          </a:p>
        </p:txBody>
      </p:sp>
      <p:sp>
        <p:nvSpPr>
          <p:cNvPr id="22" name="TextBox 21"/>
          <p:cNvSpPr txBox="1"/>
          <p:nvPr/>
        </p:nvSpPr>
        <p:spPr>
          <a:xfrm>
            <a:off x="274320" y="4078224"/>
            <a:ext cx="1645920" cy="438912"/>
          </a:xfrm>
          <a:prstGeom prst="rect">
            <a:avLst/>
          </a:prstGeom>
          <a:noFill/>
        </p:spPr>
        <p:txBody>
          <a:bodyPr wrap="none">
            <a:spAutoFit/>
          </a:bodyPr>
          <a:lstStyle/>
          <a:p>
            <a:pPr algn="r"/>
            <a:r>
              <a:rPr sz="1300" b="0" i="0">
                <a:solidFill>
                  <a:srgbClr val="8888AA"/>
                </a:solidFill>
              </a:rPr>
              <a:t>DynTile</a:t>
            </a:r>
          </a:p>
        </p:txBody>
      </p:sp>
      <p:sp>
        <p:nvSpPr>
          <p:cNvPr id="23" name="Rectangle 22"/>
          <p:cNvSpPr/>
          <p:nvPr/>
        </p:nvSpPr>
        <p:spPr>
          <a:xfrm>
            <a:off x="1371600" y="4078224"/>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371600" y="4078224"/>
            <a:ext cx="2842477" cy="43891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05517" y="4078224"/>
            <a:ext cx="731520" cy="438912"/>
          </a:xfrm>
          <a:prstGeom prst="rect">
            <a:avLst/>
          </a:prstGeom>
          <a:noFill/>
        </p:spPr>
        <p:txBody>
          <a:bodyPr wrap="square">
            <a:spAutoFit/>
          </a:bodyPr>
          <a:lstStyle/>
          <a:p>
            <a:pPr algn="l"/>
            <a:r>
              <a:rPr sz="1300" b="1" i="0">
                <a:solidFill>
                  <a:srgbClr val="00E596"/>
                </a:solidFill>
              </a:rPr>
              <a:t>1.28×</a:t>
            </a:r>
          </a:p>
        </p:txBody>
      </p:sp>
      <p:sp>
        <p:nvSpPr>
          <p:cNvPr id="26" name="TextBox 25"/>
          <p:cNvSpPr txBox="1"/>
          <p:nvPr/>
        </p:nvSpPr>
        <p:spPr>
          <a:xfrm>
            <a:off x="274320" y="4736592"/>
            <a:ext cx="1645920" cy="438912"/>
          </a:xfrm>
          <a:prstGeom prst="rect">
            <a:avLst/>
          </a:prstGeom>
          <a:noFill/>
        </p:spPr>
        <p:txBody>
          <a:bodyPr wrap="none">
            <a:spAutoFit/>
          </a:bodyPr>
          <a:lstStyle/>
          <a:p>
            <a:pPr algn="r"/>
            <a:r>
              <a:rPr sz="1300" b="0" i="0">
                <a:solidFill>
                  <a:srgbClr val="8888AA"/>
                </a:solidFill>
              </a:rPr>
              <a:t>OpenMP</a:t>
            </a:r>
          </a:p>
        </p:txBody>
      </p:sp>
      <p:sp>
        <p:nvSpPr>
          <p:cNvPr id="27" name="Rectangle 26"/>
          <p:cNvSpPr/>
          <p:nvPr/>
        </p:nvSpPr>
        <p:spPr>
          <a:xfrm>
            <a:off x="1371600" y="4736592"/>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71600" y="4736592"/>
            <a:ext cx="5907024" cy="438912"/>
          </a:xfrm>
          <a:prstGeom prst="rect">
            <a:avLst/>
          </a:prstGeom>
          <a:solidFill>
            <a:srgbClr val="FF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70064" y="4736592"/>
            <a:ext cx="731520" cy="438912"/>
          </a:xfrm>
          <a:prstGeom prst="rect">
            <a:avLst/>
          </a:prstGeom>
          <a:noFill/>
        </p:spPr>
        <p:txBody>
          <a:bodyPr wrap="square">
            <a:spAutoFit/>
          </a:bodyPr>
          <a:lstStyle/>
          <a:p>
            <a:pPr algn="l"/>
            <a:r>
              <a:rPr sz="1300" b="1" i="0">
                <a:solidFill>
                  <a:srgbClr val="FF7F00"/>
                </a:solidFill>
              </a:rPr>
              <a:t>2.66×</a:t>
            </a:r>
          </a:p>
        </p:txBody>
      </p:sp>
      <p:sp>
        <p:nvSpPr>
          <p:cNvPr id="30" name="TextBox 29"/>
          <p:cNvSpPr txBox="1"/>
          <p:nvPr/>
        </p:nvSpPr>
        <p:spPr>
          <a:xfrm>
            <a:off x="274320" y="5394960"/>
            <a:ext cx="1645920" cy="438912"/>
          </a:xfrm>
          <a:prstGeom prst="rect">
            <a:avLst/>
          </a:prstGeom>
          <a:noFill/>
        </p:spPr>
        <p:txBody>
          <a:bodyPr wrap="none">
            <a:spAutoFit/>
          </a:bodyPr>
          <a:lstStyle/>
          <a:p>
            <a:pPr algn="r"/>
            <a:r>
              <a:rPr sz="1300" b="0" i="0">
                <a:solidFill>
                  <a:srgbClr val="8888AA"/>
                </a:solidFill>
              </a:rPr>
              <a:t>All Combined</a:t>
            </a:r>
          </a:p>
        </p:txBody>
      </p:sp>
      <p:sp>
        <p:nvSpPr>
          <p:cNvPr id="31" name="Rectangle 30"/>
          <p:cNvSpPr/>
          <p:nvPr/>
        </p:nvSpPr>
        <p:spPr>
          <a:xfrm>
            <a:off x="1371600" y="5394960"/>
            <a:ext cx="7772400" cy="438912"/>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371600" y="5394960"/>
            <a:ext cx="6750884" cy="438912"/>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3924" y="5394960"/>
            <a:ext cx="731520" cy="438912"/>
          </a:xfrm>
          <a:prstGeom prst="rect">
            <a:avLst/>
          </a:prstGeom>
          <a:noFill/>
        </p:spPr>
        <p:txBody>
          <a:bodyPr wrap="square">
            <a:spAutoFit/>
          </a:bodyPr>
          <a:lstStyle/>
          <a:p>
            <a:pPr algn="l"/>
            <a:r>
              <a:rPr sz="1300" b="1" i="0">
                <a:solidFill>
                  <a:srgbClr val="FF4080"/>
                </a:solidFill>
              </a:rPr>
              <a:t>3.04×</a:t>
            </a:r>
          </a:p>
        </p:txBody>
      </p:sp>
      <p:sp>
        <p:nvSpPr>
          <p:cNvPr id="34" name="Rectangle 33"/>
          <p:cNvSpPr/>
          <p:nvPr/>
        </p:nvSpPr>
        <p:spPr>
          <a:xfrm>
            <a:off x="3592285" y="1280160"/>
            <a:ext cx="18288" cy="4700016"/>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09405" y="1051560"/>
            <a:ext cx="731520" cy="256032"/>
          </a:xfrm>
          <a:prstGeom prst="rect">
            <a:avLst/>
          </a:prstGeom>
          <a:noFill/>
        </p:spPr>
        <p:txBody>
          <a:bodyPr wrap="square">
            <a:spAutoFit/>
          </a:bodyPr>
          <a:lstStyle/>
          <a:p>
            <a:pPr algn="ctr"/>
            <a:r>
              <a:rPr sz="1000" b="0" i="0">
                <a:solidFill>
                  <a:srgbClr val="444460"/>
                </a:solidFill>
              </a:rPr>
              <a:t>1.0×</a:t>
            </a:r>
          </a:p>
        </p:txBody>
      </p:sp>
      <p:sp>
        <p:nvSpPr>
          <p:cNvPr id="36" name="TextBox 35"/>
          <p:cNvSpPr txBox="1"/>
          <p:nvPr/>
        </p:nvSpPr>
        <p:spPr>
          <a:xfrm>
            <a:off x="9601200" y="1097280"/>
            <a:ext cx="2560320" cy="274320"/>
          </a:xfrm>
          <a:prstGeom prst="rect">
            <a:avLst/>
          </a:prstGeom>
          <a:noFill/>
        </p:spPr>
        <p:txBody>
          <a:bodyPr wrap="square">
            <a:spAutoFit/>
          </a:bodyPr>
          <a:lstStyle/>
          <a:p>
            <a:pPr algn="l"/>
            <a:r>
              <a:rPr sz="1100" b="0" i="1">
                <a:solidFill>
                  <a:srgbClr val="8888AA"/>
                </a:solidFill>
              </a:rPr>
              <a:t>Actual time (ms) at n=500K</a:t>
            </a:r>
          </a:p>
        </p:txBody>
      </p:sp>
      <p:sp>
        <p:nvSpPr>
          <p:cNvPr id="37" name="TextBox 36"/>
          <p:cNvSpPr txBox="1"/>
          <p:nvPr/>
        </p:nvSpPr>
        <p:spPr>
          <a:xfrm>
            <a:off x="9601200" y="1508760"/>
            <a:ext cx="2468880" cy="384048"/>
          </a:xfrm>
          <a:prstGeom prst="rect">
            <a:avLst/>
          </a:prstGeom>
          <a:noFill/>
        </p:spPr>
        <p:txBody>
          <a:bodyPr wrap="square">
            <a:spAutoFit/>
          </a:bodyPr>
          <a:lstStyle/>
          <a:p>
            <a:pPr algn="l"/>
            <a:r>
              <a:rPr sz="1300" b="1" i="0">
                <a:solidFill>
                  <a:srgbClr val="444460"/>
                </a:solidFill>
              </a:rPr>
              <a:t>1178 ms</a:t>
            </a:r>
          </a:p>
        </p:txBody>
      </p:sp>
      <p:sp>
        <p:nvSpPr>
          <p:cNvPr id="38" name="TextBox 37"/>
          <p:cNvSpPr txBox="1"/>
          <p:nvPr/>
        </p:nvSpPr>
        <p:spPr>
          <a:xfrm>
            <a:off x="9601200" y="2167127"/>
            <a:ext cx="2468880" cy="384048"/>
          </a:xfrm>
          <a:prstGeom prst="rect">
            <a:avLst/>
          </a:prstGeom>
          <a:noFill/>
        </p:spPr>
        <p:txBody>
          <a:bodyPr wrap="square">
            <a:spAutoFit/>
          </a:bodyPr>
          <a:lstStyle/>
          <a:p>
            <a:pPr algn="l"/>
            <a:r>
              <a:rPr sz="1300" b="1" i="0">
                <a:solidFill>
                  <a:srgbClr val="6C63FF"/>
                </a:solidFill>
              </a:rPr>
              <a:t>1074 ms</a:t>
            </a:r>
          </a:p>
        </p:txBody>
      </p:sp>
      <p:sp>
        <p:nvSpPr>
          <p:cNvPr id="39" name="TextBox 38"/>
          <p:cNvSpPr txBox="1"/>
          <p:nvPr/>
        </p:nvSpPr>
        <p:spPr>
          <a:xfrm>
            <a:off x="9601200" y="2825496"/>
            <a:ext cx="2468880" cy="384048"/>
          </a:xfrm>
          <a:prstGeom prst="rect">
            <a:avLst/>
          </a:prstGeom>
          <a:noFill/>
        </p:spPr>
        <p:txBody>
          <a:bodyPr wrap="square">
            <a:spAutoFit/>
          </a:bodyPr>
          <a:lstStyle/>
          <a:p>
            <a:pPr algn="l"/>
            <a:r>
              <a:rPr sz="1300" b="1" i="0">
                <a:solidFill>
                  <a:srgbClr val="00D4FF"/>
                </a:solidFill>
              </a:rPr>
              <a:t>1020 ms</a:t>
            </a:r>
          </a:p>
        </p:txBody>
      </p:sp>
      <p:sp>
        <p:nvSpPr>
          <p:cNvPr id="40" name="TextBox 39"/>
          <p:cNvSpPr txBox="1"/>
          <p:nvPr/>
        </p:nvSpPr>
        <p:spPr>
          <a:xfrm>
            <a:off x="9601200" y="3483864"/>
            <a:ext cx="2468880" cy="384048"/>
          </a:xfrm>
          <a:prstGeom prst="rect">
            <a:avLst/>
          </a:prstGeom>
          <a:noFill/>
        </p:spPr>
        <p:txBody>
          <a:bodyPr wrap="square">
            <a:spAutoFit/>
          </a:bodyPr>
          <a:lstStyle/>
          <a:p>
            <a:pPr algn="l"/>
            <a:r>
              <a:rPr sz="1300" b="1" i="0">
                <a:solidFill>
                  <a:srgbClr val="FFC844"/>
                </a:solidFill>
              </a:rPr>
              <a:t>948 ms</a:t>
            </a:r>
          </a:p>
        </p:txBody>
      </p:sp>
      <p:sp>
        <p:nvSpPr>
          <p:cNvPr id="41" name="TextBox 40"/>
          <p:cNvSpPr txBox="1"/>
          <p:nvPr/>
        </p:nvSpPr>
        <p:spPr>
          <a:xfrm>
            <a:off x="9601200" y="4142232"/>
            <a:ext cx="2468880" cy="384048"/>
          </a:xfrm>
          <a:prstGeom prst="rect">
            <a:avLst/>
          </a:prstGeom>
          <a:noFill/>
        </p:spPr>
        <p:txBody>
          <a:bodyPr wrap="square">
            <a:spAutoFit/>
          </a:bodyPr>
          <a:lstStyle/>
          <a:p>
            <a:pPr algn="l"/>
            <a:r>
              <a:rPr sz="1300" b="1" i="0">
                <a:solidFill>
                  <a:srgbClr val="00E596"/>
                </a:solidFill>
              </a:rPr>
              <a:t>919 ms</a:t>
            </a:r>
          </a:p>
        </p:txBody>
      </p:sp>
      <p:sp>
        <p:nvSpPr>
          <p:cNvPr id="42" name="TextBox 41"/>
          <p:cNvSpPr txBox="1"/>
          <p:nvPr/>
        </p:nvSpPr>
        <p:spPr>
          <a:xfrm>
            <a:off x="9601200" y="4800600"/>
            <a:ext cx="2468880" cy="384048"/>
          </a:xfrm>
          <a:prstGeom prst="rect">
            <a:avLst/>
          </a:prstGeom>
          <a:noFill/>
        </p:spPr>
        <p:txBody>
          <a:bodyPr wrap="square">
            <a:spAutoFit/>
          </a:bodyPr>
          <a:lstStyle/>
          <a:p>
            <a:pPr algn="l"/>
            <a:r>
              <a:rPr sz="1300" b="1" i="0">
                <a:solidFill>
                  <a:srgbClr val="FF7F00"/>
                </a:solidFill>
              </a:rPr>
              <a:t>443 ms</a:t>
            </a:r>
          </a:p>
        </p:txBody>
      </p:sp>
      <p:sp>
        <p:nvSpPr>
          <p:cNvPr id="43" name="TextBox 42"/>
          <p:cNvSpPr txBox="1"/>
          <p:nvPr/>
        </p:nvSpPr>
        <p:spPr>
          <a:xfrm>
            <a:off x="9601200" y="5458968"/>
            <a:ext cx="2468880" cy="384048"/>
          </a:xfrm>
          <a:prstGeom prst="rect">
            <a:avLst/>
          </a:prstGeom>
          <a:noFill/>
        </p:spPr>
        <p:txBody>
          <a:bodyPr wrap="square">
            <a:spAutoFit/>
          </a:bodyPr>
          <a:lstStyle/>
          <a:p>
            <a:pPr algn="l"/>
            <a:r>
              <a:rPr sz="1300" b="1" i="0">
                <a:solidFill>
                  <a:srgbClr val="FF4080"/>
                </a:solidFill>
              </a:rPr>
              <a:t>387 ms</a:t>
            </a:r>
          </a:p>
        </p:txBody>
      </p:sp>
      <p:sp>
        <p:nvSpPr>
          <p:cNvPr id="44" name="TextBox 43"/>
          <p:cNvSpPr txBox="1"/>
          <p:nvPr/>
        </p:nvSpPr>
        <p:spPr>
          <a:xfrm>
            <a:off x="274320" y="6236208"/>
            <a:ext cx="11640312" cy="365760"/>
          </a:xfrm>
          <a:prstGeom prst="rect">
            <a:avLst/>
          </a:prstGeom>
          <a:noFill/>
        </p:spPr>
        <p:txBody>
          <a:bodyPr wrap="square">
            <a:spAutoFit/>
          </a:bodyPr>
          <a:lstStyle/>
          <a:p>
            <a:pPr algn="ctr"/>
            <a:r>
              <a:rPr sz="1100" b="0" i="1">
                <a:solidFill>
                  <a:srgbClr val="8888AA"/>
                </a:solidFill>
              </a:rPr>
              <a:t>All = OpenMP + Branchless + Prefetch + DynTile combined  ·  Baseline = 1,178 ms (single-threaded, no optimizations)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Speedup Across All Array Sizes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Actual benchmark output — 9 sizes from 10K to 2M elements</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463040"/>
            <a:ext cx="7772400" cy="4389120"/>
          </a:xfrm>
          <a:prstGeom prst="rect">
            <a:avLst/>
          </a:prstGeom>
          <a:solidFill>
            <a:srgbClr val="0C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5852160"/>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5742432"/>
            <a:ext cx="868680" cy="256032"/>
          </a:xfrm>
          <a:prstGeom prst="rect">
            <a:avLst/>
          </a:prstGeom>
          <a:noFill/>
        </p:spPr>
        <p:txBody>
          <a:bodyPr wrap="square">
            <a:spAutoFit/>
          </a:bodyPr>
          <a:lstStyle/>
          <a:p>
            <a:pPr algn="r"/>
            <a:r>
              <a:rPr sz="1000" b="0" i="0">
                <a:solidFill>
                  <a:srgbClr val="8888AA"/>
                </a:solidFill>
              </a:rPr>
              <a:t>0.0×</a:t>
            </a:r>
          </a:p>
        </p:txBody>
      </p:sp>
      <p:sp>
        <p:nvSpPr>
          <p:cNvPr id="9" name="Rectangle 8"/>
          <p:cNvSpPr/>
          <p:nvPr/>
        </p:nvSpPr>
        <p:spPr>
          <a:xfrm>
            <a:off x="914400" y="4974336"/>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4864608"/>
            <a:ext cx="868680" cy="256032"/>
          </a:xfrm>
          <a:prstGeom prst="rect">
            <a:avLst/>
          </a:prstGeom>
          <a:noFill/>
        </p:spPr>
        <p:txBody>
          <a:bodyPr wrap="square">
            <a:spAutoFit/>
          </a:bodyPr>
          <a:lstStyle/>
          <a:p>
            <a:pPr algn="r"/>
            <a:r>
              <a:rPr sz="1000" b="0" i="0">
                <a:solidFill>
                  <a:srgbClr val="8888AA"/>
                </a:solidFill>
              </a:rPr>
              <a:t>0.7×</a:t>
            </a:r>
          </a:p>
        </p:txBody>
      </p:sp>
      <p:sp>
        <p:nvSpPr>
          <p:cNvPr id="11" name="Rectangle 10"/>
          <p:cNvSpPr/>
          <p:nvPr/>
        </p:nvSpPr>
        <p:spPr>
          <a:xfrm>
            <a:off x="914400" y="4096512"/>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0" y="3986784"/>
            <a:ext cx="868680" cy="256032"/>
          </a:xfrm>
          <a:prstGeom prst="rect">
            <a:avLst/>
          </a:prstGeom>
          <a:noFill/>
        </p:spPr>
        <p:txBody>
          <a:bodyPr wrap="square">
            <a:spAutoFit/>
          </a:bodyPr>
          <a:lstStyle/>
          <a:p>
            <a:pPr algn="r"/>
            <a:r>
              <a:rPr sz="1000" b="0" i="0">
                <a:solidFill>
                  <a:srgbClr val="8888AA"/>
                </a:solidFill>
              </a:rPr>
              <a:t>1.4×</a:t>
            </a:r>
          </a:p>
        </p:txBody>
      </p:sp>
      <p:sp>
        <p:nvSpPr>
          <p:cNvPr id="13" name="Rectangle 12"/>
          <p:cNvSpPr/>
          <p:nvPr/>
        </p:nvSpPr>
        <p:spPr>
          <a:xfrm>
            <a:off x="914400" y="3218688"/>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0" y="3108960"/>
            <a:ext cx="868680" cy="256032"/>
          </a:xfrm>
          <a:prstGeom prst="rect">
            <a:avLst/>
          </a:prstGeom>
          <a:noFill/>
        </p:spPr>
        <p:txBody>
          <a:bodyPr wrap="square">
            <a:spAutoFit/>
          </a:bodyPr>
          <a:lstStyle/>
          <a:p>
            <a:pPr algn="r"/>
            <a:r>
              <a:rPr sz="1000" b="0" i="0">
                <a:solidFill>
                  <a:srgbClr val="8888AA"/>
                </a:solidFill>
              </a:rPr>
              <a:t>2.1×</a:t>
            </a:r>
          </a:p>
        </p:txBody>
      </p:sp>
      <p:sp>
        <p:nvSpPr>
          <p:cNvPr id="15" name="Rectangle 14"/>
          <p:cNvSpPr/>
          <p:nvPr/>
        </p:nvSpPr>
        <p:spPr>
          <a:xfrm>
            <a:off x="914400" y="2340864"/>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0" y="2231136"/>
            <a:ext cx="868680" cy="256032"/>
          </a:xfrm>
          <a:prstGeom prst="rect">
            <a:avLst/>
          </a:prstGeom>
          <a:noFill/>
        </p:spPr>
        <p:txBody>
          <a:bodyPr wrap="square">
            <a:spAutoFit/>
          </a:bodyPr>
          <a:lstStyle/>
          <a:p>
            <a:pPr algn="r"/>
            <a:r>
              <a:rPr sz="1000" b="0" i="0">
                <a:solidFill>
                  <a:srgbClr val="8888AA"/>
                </a:solidFill>
              </a:rPr>
              <a:t>2.8×</a:t>
            </a:r>
          </a:p>
        </p:txBody>
      </p:sp>
      <p:sp>
        <p:nvSpPr>
          <p:cNvPr id="17" name="Rectangle 16"/>
          <p:cNvSpPr/>
          <p:nvPr/>
        </p:nvSpPr>
        <p:spPr>
          <a:xfrm>
            <a:off x="914400" y="1463040"/>
            <a:ext cx="77724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0" y="1353312"/>
            <a:ext cx="868680" cy="256032"/>
          </a:xfrm>
          <a:prstGeom prst="rect">
            <a:avLst/>
          </a:prstGeom>
          <a:noFill/>
        </p:spPr>
        <p:txBody>
          <a:bodyPr wrap="square">
            <a:spAutoFit/>
          </a:bodyPr>
          <a:lstStyle/>
          <a:p>
            <a:pPr algn="r"/>
            <a:r>
              <a:rPr sz="1000" b="0" i="0">
                <a:solidFill>
                  <a:srgbClr val="8888AA"/>
                </a:solidFill>
              </a:rPr>
              <a:t>3.5×</a:t>
            </a:r>
          </a:p>
        </p:txBody>
      </p:sp>
      <p:sp>
        <p:nvSpPr>
          <p:cNvPr id="19" name="Rectangle 18"/>
          <p:cNvSpPr/>
          <p:nvPr/>
        </p:nvSpPr>
        <p:spPr>
          <a:xfrm>
            <a:off x="914400" y="4598125"/>
            <a:ext cx="7772400" cy="2286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396957"/>
            <a:ext cx="914400" cy="182880"/>
          </a:xfrm>
          <a:prstGeom prst="rect">
            <a:avLst/>
          </a:prstGeom>
          <a:noFill/>
        </p:spPr>
        <p:txBody>
          <a:bodyPr wrap="square">
            <a:spAutoFit/>
          </a:bodyPr>
          <a:lstStyle/>
          <a:p>
            <a:pPr algn="l"/>
            <a:r>
              <a:rPr sz="900" b="0" i="1">
                <a:solidFill>
                  <a:srgbClr val="444460"/>
                </a:solidFill>
              </a:rPr>
              <a:t>baseline</a:t>
            </a:r>
          </a:p>
        </p:txBody>
      </p:sp>
      <p:sp>
        <p:nvSpPr>
          <p:cNvPr id="21" name="TextBox 20"/>
          <p:cNvSpPr txBox="1"/>
          <p:nvPr/>
        </p:nvSpPr>
        <p:spPr>
          <a:xfrm>
            <a:off x="640080" y="5907024"/>
            <a:ext cx="548640" cy="228600"/>
          </a:xfrm>
          <a:prstGeom prst="rect">
            <a:avLst/>
          </a:prstGeom>
          <a:noFill/>
        </p:spPr>
        <p:txBody>
          <a:bodyPr wrap="square">
            <a:spAutoFit/>
          </a:bodyPr>
          <a:lstStyle/>
          <a:p>
            <a:pPr algn="ctr"/>
            <a:r>
              <a:rPr sz="1000" b="0" i="0">
                <a:solidFill>
                  <a:srgbClr val="8888AA"/>
                </a:solidFill>
              </a:rPr>
              <a:t>10K</a:t>
            </a:r>
          </a:p>
        </p:txBody>
      </p:sp>
      <p:sp>
        <p:nvSpPr>
          <p:cNvPr id="22" name="Rectangle 21"/>
          <p:cNvSpPr/>
          <p:nvPr/>
        </p:nvSpPr>
        <p:spPr>
          <a:xfrm>
            <a:off x="9144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11630" y="5907024"/>
            <a:ext cx="548640" cy="228600"/>
          </a:xfrm>
          <a:prstGeom prst="rect">
            <a:avLst/>
          </a:prstGeom>
          <a:noFill/>
        </p:spPr>
        <p:txBody>
          <a:bodyPr wrap="square">
            <a:spAutoFit/>
          </a:bodyPr>
          <a:lstStyle/>
          <a:p>
            <a:pPr algn="ctr"/>
            <a:r>
              <a:rPr sz="1000" b="0" i="0">
                <a:solidFill>
                  <a:srgbClr val="8888AA"/>
                </a:solidFill>
              </a:rPr>
              <a:t>50K</a:t>
            </a:r>
          </a:p>
        </p:txBody>
      </p:sp>
      <p:sp>
        <p:nvSpPr>
          <p:cNvPr id="24" name="Rectangle 23"/>
          <p:cNvSpPr/>
          <p:nvPr/>
        </p:nvSpPr>
        <p:spPr>
          <a:xfrm>
            <a:off x="188595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83180" y="5907024"/>
            <a:ext cx="548640" cy="228600"/>
          </a:xfrm>
          <a:prstGeom prst="rect">
            <a:avLst/>
          </a:prstGeom>
          <a:noFill/>
        </p:spPr>
        <p:txBody>
          <a:bodyPr wrap="square">
            <a:spAutoFit/>
          </a:bodyPr>
          <a:lstStyle/>
          <a:p>
            <a:pPr algn="ctr"/>
            <a:r>
              <a:rPr sz="1000" b="0" i="0">
                <a:solidFill>
                  <a:srgbClr val="8888AA"/>
                </a:solidFill>
              </a:rPr>
              <a:t>100K</a:t>
            </a:r>
          </a:p>
        </p:txBody>
      </p:sp>
      <p:sp>
        <p:nvSpPr>
          <p:cNvPr id="26" name="Rectangle 25"/>
          <p:cNvSpPr/>
          <p:nvPr/>
        </p:nvSpPr>
        <p:spPr>
          <a:xfrm>
            <a:off x="28575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4730" y="5907024"/>
            <a:ext cx="548640" cy="228600"/>
          </a:xfrm>
          <a:prstGeom prst="rect">
            <a:avLst/>
          </a:prstGeom>
          <a:noFill/>
        </p:spPr>
        <p:txBody>
          <a:bodyPr wrap="square">
            <a:spAutoFit/>
          </a:bodyPr>
          <a:lstStyle/>
          <a:p>
            <a:pPr algn="ctr"/>
            <a:r>
              <a:rPr sz="1000" b="0" i="0">
                <a:solidFill>
                  <a:srgbClr val="8888AA"/>
                </a:solidFill>
              </a:rPr>
              <a:t>250K</a:t>
            </a:r>
          </a:p>
        </p:txBody>
      </p:sp>
      <p:sp>
        <p:nvSpPr>
          <p:cNvPr id="28" name="Rectangle 27"/>
          <p:cNvSpPr/>
          <p:nvPr/>
        </p:nvSpPr>
        <p:spPr>
          <a:xfrm>
            <a:off x="382905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80" y="5907024"/>
            <a:ext cx="548640" cy="228600"/>
          </a:xfrm>
          <a:prstGeom prst="rect">
            <a:avLst/>
          </a:prstGeom>
          <a:noFill/>
        </p:spPr>
        <p:txBody>
          <a:bodyPr wrap="square">
            <a:spAutoFit/>
          </a:bodyPr>
          <a:lstStyle/>
          <a:p>
            <a:pPr algn="ctr"/>
            <a:r>
              <a:rPr sz="1000" b="0" i="0">
                <a:solidFill>
                  <a:srgbClr val="8888AA"/>
                </a:solidFill>
              </a:rPr>
              <a:t>500K</a:t>
            </a:r>
          </a:p>
        </p:txBody>
      </p:sp>
      <p:sp>
        <p:nvSpPr>
          <p:cNvPr id="30" name="Rectangle 29"/>
          <p:cNvSpPr/>
          <p:nvPr/>
        </p:nvSpPr>
        <p:spPr>
          <a:xfrm>
            <a:off x="48006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7830" y="5907024"/>
            <a:ext cx="548640" cy="228600"/>
          </a:xfrm>
          <a:prstGeom prst="rect">
            <a:avLst/>
          </a:prstGeom>
          <a:noFill/>
        </p:spPr>
        <p:txBody>
          <a:bodyPr wrap="square">
            <a:spAutoFit/>
          </a:bodyPr>
          <a:lstStyle/>
          <a:p>
            <a:pPr algn="ctr"/>
            <a:r>
              <a:rPr sz="1000" b="0" i="0">
                <a:solidFill>
                  <a:srgbClr val="8888AA"/>
                </a:solidFill>
              </a:rPr>
              <a:t>750K</a:t>
            </a:r>
          </a:p>
        </p:txBody>
      </p:sp>
      <p:sp>
        <p:nvSpPr>
          <p:cNvPr id="32" name="Rectangle 31"/>
          <p:cNvSpPr/>
          <p:nvPr/>
        </p:nvSpPr>
        <p:spPr>
          <a:xfrm>
            <a:off x="577215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9380" y="5907024"/>
            <a:ext cx="548640" cy="228600"/>
          </a:xfrm>
          <a:prstGeom prst="rect">
            <a:avLst/>
          </a:prstGeom>
          <a:noFill/>
        </p:spPr>
        <p:txBody>
          <a:bodyPr wrap="square">
            <a:spAutoFit/>
          </a:bodyPr>
          <a:lstStyle/>
          <a:p>
            <a:pPr algn="ctr"/>
            <a:r>
              <a:rPr sz="1000" b="0" i="0">
                <a:solidFill>
                  <a:srgbClr val="8888AA"/>
                </a:solidFill>
              </a:rPr>
              <a:t>1M</a:t>
            </a:r>
          </a:p>
        </p:txBody>
      </p:sp>
      <p:sp>
        <p:nvSpPr>
          <p:cNvPr id="34" name="Rectangle 33"/>
          <p:cNvSpPr/>
          <p:nvPr/>
        </p:nvSpPr>
        <p:spPr>
          <a:xfrm>
            <a:off x="67437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40929" y="5907024"/>
            <a:ext cx="548640" cy="228600"/>
          </a:xfrm>
          <a:prstGeom prst="rect">
            <a:avLst/>
          </a:prstGeom>
          <a:noFill/>
        </p:spPr>
        <p:txBody>
          <a:bodyPr wrap="square">
            <a:spAutoFit/>
          </a:bodyPr>
          <a:lstStyle/>
          <a:p>
            <a:pPr algn="ctr"/>
            <a:r>
              <a:rPr sz="1000" b="0" i="0">
                <a:solidFill>
                  <a:srgbClr val="8888AA"/>
                </a:solidFill>
              </a:rPr>
              <a:t>1.5M</a:t>
            </a:r>
          </a:p>
        </p:txBody>
      </p:sp>
      <p:sp>
        <p:nvSpPr>
          <p:cNvPr id="36" name="Rectangle 35"/>
          <p:cNvSpPr/>
          <p:nvPr/>
        </p:nvSpPr>
        <p:spPr>
          <a:xfrm>
            <a:off x="771525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5907024"/>
            <a:ext cx="548640" cy="228600"/>
          </a:xfrm>
          <a:prstGeom prst="rect">
            <a:avLst/>
          </a:prstGeom>
          <a:noFill/>
        </p:spPr>
        <p:txBody>
          <a:bodyPr wrap="square">
            <a:spAutoFit/>
          </a:bodyPr>
          <a:lstStyle/>
          <a:p>
            <a:pPr algn="ctr"/>
            <a:r>
              <a:rPr sz="1000" b="0" i="0">
                <a:solidFill>
                  <a:srgbClr val="8888AA"/>
                </a:solidFill>
              </a:rPr>
              <a:t>2M</a:t>
            </a:r>
          </a:p>
        </p:txBody>
      </p:sp>
      <p:sp>
        <p:nvSpPr>
          <p:cNvPr id="38" name="Rectangle 37"/>
          <p:cNvSpPr/>
          <p:nvPr/>
        </p:nvSpPr>
        <p:spPr>
          <a:xfrm>
            <a:off x="8686800" y="1463040"/>
            <a:ext cx="10972" cy="4389120"/>
          </a:xfrm>
          <a:prstGeom prst="rect">
            <a:avLst/>
          </a:prstGeom>
          <a:solidFill>
            <a:srgbClr val="2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4400" y="5300384"/>
            <a:ext cx="227455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85950" y="3243768"/>
            <a:ext cx="1111163"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857500" y="2704533"/>
            <a:ext cx="972844"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829050" y="2754695"/>
            <a:ext cx="10003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800600" y="2516428"/>
            <a:ext cx="98513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72150" y="2679453"/>
            <a:ext cx="1024801"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743700" y="2353404"/>
            <a:ext cx="979609"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15250" y="2478807"/>
            <a:ext cx="100996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68680" y="5254664"/>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840230" y="3198048"/>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811780" y="2658813"/>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783330" y="2708975"/>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754880" y="2470708"/>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726430" y="2633733"/>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697980" y="2307684"/>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669529" y="2433087"/>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641080" y="2157200"/>
            <a:ext cx="91440" cy="9144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14400" y="4435101"/>
            <a:ext cx="971630" cy="36576"/>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885950" y="4447641"/>
            <a:ext cx="972844" cy="36576"/>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857500" y="4497802"/>
            <a:ext cx="974459" cy="36576"/>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829050" y="4573045"/>
            <a:ext cx="1024801" cy="36576"/>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800600" y="4246996"/>
            <a:ext cx="987285" cy="36576"/>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772150" y="4422560"/>
            <a:ext cx="974459" cy="36576"/>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743700" y="4347318"/>
            <a:ext cx="972278" cy="36576"/>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715250" y="4384939"/>
            <a:ext cx="971550" cy="36576"/>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68680" y="4389381"/>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840230" y="4401921"/>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811780" y="4452082"/>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783330" y="4527325"/>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754880" y="4201276"/>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5726430" y="4376840"/>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697980" y="4301598"/>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669529" y="4339219"/>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641080" y="4339219"/>
            <a:ext cx="91440" cy="91440"/>
          </a:xfrm>
          <a:prstGeom prst="ellipse">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14400" y="4522883"/>
            <a:ext cx="973571"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885950" y="4460181"/>
            <a:ext cx="971550"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857500" y="4460181"/>
            <a:ext cx="974459"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829050" y="4535424"/>
            <a:ext cx="1000340"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800600" y="4297157"/>
            <a:ext cx="979609"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772150" y="4422560"/>
            <a:ext cx="972278"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743700" y="4384939"/>
            <a:ext cx="972844"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715250" y="4435101"/>
            <a:ext cx="974459"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68680" y="4477163"/>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40230" y="4414461"/>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811780" y="4414461"/>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783330" y="4489704"/>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754880" y="4251437"/>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726430" y="4376840"/>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6697980" y="4339219"/>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669529" y="4389381"/>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641080" y="4314139"/>
            <a:ext cx="91440" cy="9144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14400" y="4623206"/>
            <a:ext cx="971873" cy="36576"/>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885950" y="4598125"/>
            <a:ext cx="976715" cy="36576"/>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2857500" y="4698448"/>
            <a:ext cx="985132" cy="36576"/>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3829050" y="4535424"/>
            <a:ext cx="981293" cy="36576"/>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800600" y="4397480"/>
            <a:ext cx="1006608" cy="36576"/>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772150" y="4660827"/>
            <a:ext cx="978083" cy="36576"/>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743700" y="4547964"/>
            <a:ext cx="972278" cy="36576"/>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7715250" y="4585585"/>
            <a:ext cx="972278" cy="36576"/>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68680" y="4577486"/>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840230" y="4552405"/>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811780" y="4652728"/>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783330" y="4489704"/>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754880" y="4351760"/>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5726430" y="4615107"/>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697980" y="4502244"/>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7669529" y="4539865"/>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641080" y="4502244"/>
            <a:ext cx="91440" cy="91440"/>
          </a:xfrm>
          <a:prstGeom prst="ellipse">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14400" y="4648287"/>
            <a:ext cx="971630" cy="36576"/>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885950" y="4660827"/>
            <a:ext cx="973571" cy="36576"/>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857500" y="4598125"/>
            <a:ext cx="971630" cy="36576"/>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829050" y="4585585"/>
            <a:ext cx="978083" cy="36576"/>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4800600" y="4472722"/>
            <a:ext cx="985132" cy="36576"/>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5772150" y="4635746"/>
            <a:ext cx="974459" cy="36576"/>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743700" y="4560504"/>
            <a:ext cx="972278" cy="36576"/>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7715250" y="4598125"/>
            <a:ext cx="972278" cy="36576"/>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868680" y="4602567"/>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840230" y="4615107"/>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2811780" y="4552405"/>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783330" y="4539865"/>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754880" y="4427002"/>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726430" y="4590026"/>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6697980" y="4514784"/>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669529" y="4552405"/>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8641080" y="4514784"/>
            <a:ext cx="91440" cy="91440"/>
          </a:xfrm>
          <a:prstGeom prst="ellipse">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14400" y="5287844"/>
            <a:ext cx="2263217"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885950" y="3243768"/>
            <a:ext cx="1198781"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2857500" y="2541509"/>
            <a:ext cx="1033054"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829050" y="2892639"/>
            <a:ext cx="129270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800600" y="2039895"/>
            <a:ext cx="1056014"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772150" y="2453727"/>
            <a:ext cx="983135"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6743700" y="2303242"/>
            <a:ext cx="976715"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7715250" y="2403565"/>
            <a:ext cx="9920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868680" y="5242124"/>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840230" y="3198048"/>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811780" y="2495789"/>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783330" y="2846919"/>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4754880" y="1994175"/>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5726430" y="2408007"/>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6697980" y="2257522"/>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7669529" y="2357845"/>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8641080" y="2157200"/>
            <a:ext cx="91440" cy="91440"/>
          </a:xfrm>
          <a:prstGeom prst="ellipse">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8869680" y="1463040"/>
            <a:ext cx="3063240" cy="438912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9006840" y="1536192"/>
            <a:ext cx="2743200" cy="320040"/>
          </a:xfrm>
          <a:prstGeom prst="rect">
            <a:avLst/>
          </a:prstGeom>
          <a:noFill/>
        </p:spPr>
        <p:txBody>
          <a:bodyPr wrap="square">
            <a:spAutoFit/>
          </a:bodyPr>
          <a:lstStyle/>
          <a:p>
            <a:pPr algn="l"/>
            <a:r>
              <a:rPr sz="1200" b="1" i="0">
                <a:solidFill>
                  <a:srgbClr val="FFFFFF"/>
                </a:solidFill>
              </a:rPr>
              <a:t>Variant</a:t>
            </a:r>
          </a:p>
        </p:txBody>
      </p:sp>
      <p:sp>
        <p:nvSpPr>
          <p:cNvPr id="143" name="Rectangle 142"/>
          <p:cNvSpPr/>
          <p:nvPr/>
        </p:nvSpPr>
        <p:spPr>
          <a:xfrm>
            <a:off x="9006840" y="1874519"/>
            <a:ext cx="274320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9052560" y="2011679"/>
            <a:ext cx="201168" cy="201168"/>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326880" y="1965960"/>
            <a:ext cx="1097280" cy="292608"/>
          </a:xfrm>
          <a:prstGeom prst="rect">
            <a:avLst/>
          </a:prstGeom>
          <a:noFill/>
        </p:spPr>
        <p:txBody>
          <a:bodyPr wrap="square">
            <a:spAutoFit/>
          </a:bodyPr>
          <a:lstStyle/>
          <a:p>
            <a:pPr algn="l"/>
            <a:r>
              <a:rPr sz="1100" b="1" i="0">
                <a:solidFill>
                  <a:srgbClr val="00E596"/>
                </a:solidFill>
              </a:rPr>
              <a:t>All Combined</a:t>
            </a:r>
          </a:p>
        </p:txBody>
      </p:sp>
      <p:sp>
        <p:nvSpPr>
          <p:cNvPr id="146" name="TextBox 145"/>
          <p:cNvSpPr txBox="1"/>
          <p:nvPr/>
        </p:nvSpPr>
        <p:spPr>
          <a:xfrm>
            <a:off x="9326880" y="2240279"/>
            <a:ext cx="2468880" cy="228600"/>
          </a:xfrm>
          <a:prstGeom prst="rect">
            <a:avLst/>
          </a:prstGeom>
          <a:noFill/>
        </p:spPr>
        <p:txBody>
          <a:bodyPr wrap="square">
            <a:spAutoFit/>
          </a:bodyPr>
          <a:lstStyle/>
          <a:p>
            <a:pPr algn="l"/>
            <a:r>
              <a:rPr sz="1000" b="0" i="0">
                <a:solidFill>
                  <a:srgbClr val="8888AA"/>
                </a:solidFill>
              </a:rPr>
              <a:t>Best overall</a:t>
            </a:r>
          </a:p>
        </p:txBody>
      </p:sp>
      <p:sp>
        <p:nvSpPr>
          <p:cNvPr id="147" name="Rectangle 146"/>
          <p:cNvSpPr/>
          <p:nvPr/>
        </p:nvSpPr>
        <p:spPr>
          <a:xfrm>
            <a:off x="9052560" y="2606039"/>
            <a:ext cx="201168" cy="20116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9326880" y="2560320"/>
            <a:ext cx="1097280" cy="292608"/>
          </a:xfrm>
          <a:prstGeom prst="rect">
            <a:avLst/>
          </a:prstGeom>
          <a:noFill/>
        </p:spPr>
        <p:txBody>
          <a:bodyPr wrap="square">
            <a:spAutoFit/>
          </a:bodyPr>
          <a:lstStyle/>
          <a:p>
            <a:pPr algn="l"/>
            <a:r>
              <a:rPr sz="1100" b="1" i="0">
                <a:solidFill>
                  <a:srgbClr val="00D4FF"/>
                </a:solidFill>
              </a:rPr>
              <a:t>OpenMP</a:t>
            </a:r>
          </a:p>
        </p:txBody>
      </p:sp>
      <p:sp>
        <p:nvSpPr>
          <p:cNvPr id="149" name="TextBox 148"/>
          <p:cNvSpPr txBox="1"/>
          <p:nvPr/>
        </p:nvSpPr>
        <p:spPr>
          <a:xfrm>
            <a:off x="9326880" y="2834639"/>
            <a:ext cx="2468880" cy="228600"/>
          </a:xfrm>
          <a:prstGeom prst="rect">
            <a:avLst/>
          </a:prstGeom>
          <a:noFill/>
        </p:spPr>
        <p:txBody>
          <a:bodyPr wrap="square">
            <a:spAutoFit/>
          </a:bodyPr>
          <a:lstStyle/>
          <a:p>
            <a:pPr algn="l"/>
            <a:r>
              <a:rPr sz="1000" b="0" i="0">
                <a:solidFill>
                  <a:srgbClr val="8888AA"/>
                </a:solidFill>
              </a:rPr>
              <a:t>Best at n&gt;50K</a:t>
            </a:r>
          </a:p>
        </p:txBody>
      </p:sp>
      <p:sp>
        <p:nvSpPr>
          <p:cNvPr id="150" name="Rectangle 149"/>
          <p:cNvSpPr/>
          <p:nvPr/>
        </p:nvSpPr>
        <p:spPr>
          <a:xfrm>
            <a:off x="9052560" y="3200399"/>
            <a:ext cx="201168" cy="201168"/>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9326880" y="3154679"/>
            <a:ext cx="1097280" cy="292608"/>
          </a:xfrm>
          <a:prstGeom prst="rect">
            <a:avLst/>
          </a:prstGeom>
          <a:noFill/>
        </p:spPr>
        <p:txBody>
          <a:bodyPr wrap="square">
            <a:spAutoFit/>
          </a:bodyPr>
          <a:lstStyle/>
          <a:p>
            <a:pPr algn="l"/>
            <a:r>
              <a:rPr sz="1100" b="1" i="0">
                <a:solidFill>
                  <a:srgbClr val="FFC844"/>
                </a:solidFill>
              </a:rPr>
              <a:t>DynTile</a:t>
            </a:r>
          </a:p>
        </p:txBody>
      </p:sp>
      <p:sp>
        <p:nvSpPr>
          <p:cNvPr id="152" name="TextBox 151"/>
          <p:cNvSpPr txBox="1"/>
          <p:nvPr/>
        </p:nvSpPr>
        <p:spPr>
          <a:xfrm>
            <a:off x="9326880" y="3428999"/>
            <a:ext cx="2468880" cy="228600"/>
          </a:xfrm>
          <a:prstGeom prst="rect">
            <a:avLst/>
          </a:prstGeom>
          <a:noFill/>
        </p:spPr>
        <p:txBody>
          <a:bodyPr wrap="square">
            <a:spAutoFit/>
          </a:bodyPr>
          <a:lstStyle/>
          <a:p>
            <a:pPr algn="l"/>
            <a:r>
              <a:rPr sz="1000" b="0" i="0">
                <a:solidFill>
                  <a:srgbClr val="8888AA"/>
                </a:solidFill>
              </a:rPr>
              <a:t>Best single-core</a:t>
            </a:r>
          </a:p>
        </p:txBody>
      </p:sp>
      <p:sp>
        <p:nvSpPr>
          <p:cNvPr id="153" name="Rectangle 152"/>
          <p:cNvSpPr/>
          <p:nvPr/>
        </p:nvSpPr>
        <p:spPr>
          <a:xfrm>
            <a:off x="9052560" y="3794759"/>
            <a:ext cx="201168" cy="20116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9326880" y="3749039"/>
            <a:ext cx="1097280" cy="292608"/>
          </a:xfrm>
          <a:prstGeom prst="rect">
            <a:avLst/>
          </a:prstGeom>
          <a:noFill/>
        </p:spPr>
        <p:txBody>
          <a:bodyPr wrap="square">
            <a:spAutoFit/>
          </a:bodyPr>
          <a:lstStyle/>
          <a:p>
            <a:pPr algn="l"/>
            <a:r>
              <a:rPr sz="1100" b="1" i="0">
                <a:solidFill>
                  <a:srgbClr val="6C63FF"/>
                </a:solidFill>
              </a:rPr>
              <a:t>AVX-512 Sim</a:t>
            </a:r>
          </a:p>
        </p:txBody>
      </p:sp>
      <p:sp>
        <p:nvSpPr>
          <p:cNvPr id="155" name="TextBox 154"/>
          <p:cNvSpPr txBox="1"/>
          <p:nvPr/>
        </p:nvSpPr>
        <p:spPr>
          <a:xfrm>
            <a:off x="9326880" y="4023359"/>
            <a:ext cx="2468880" cy="228600"/>
          </a:xfrm>
          <a:prstGeom prst="rect">
            <a:avLst/>
          </a:prstGeom>
          <a:noFill/>
        </p:spPr>
        <p:txBody>
          <a:bodyPr wrap="square">
            <a:spAutoFit/>
          </a:bodyPr>
          <a:lstStyle/>
          <a:p>
            <a:pPr algn="l"/>
            <a:r>
              <a:rPr sz="1000" b="0" i="0">
                <a:solidFill>
                  <a:srgbClr val="8888AA"/>
                </a:solidFill>
              </a:rPr>
              <a:t>Saves 1 merge pass</a:t>
            </a:r>
          </a:p>
        </p:txBody>
      </p:sp>
      <p:sp>
        <p:nvSpPr>
          <p:cNvPr id="156" name="Rectangle 155"/>
          <p:cNvSpPr/>
          <p:nvPr/>
        </p:nvSpPr>
        <p:spPr>
          <a:xfrm>
            <a:off x="9052560" y="4389120"/>
            <a:ext cx="201168" cy="201168"/>
          </a:xfrm>
          <a:prstGeom prst="rect">
            <a:avLst/>
          </a:prstGeom>
          <a:solidFill>
            <a:srgbClr val="FF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326880" y="4343400"/>
            <a:ext cx="1097280" cy="292608"/>
          </a:xfrm>
          <a:prstGeom prst="rect">
            <a:avLst/>
          </a:prstGeom>
          <a:noFill/>
        </p:spPr>
        <p:txBody>
          <a:bodyPr wrap="square">
            <a:spAutoFit/>
          </a:bodyPr>
          <a:lstStyle/>
          <a:p>
            <a:pPr algn="l"/>
            <a:r>
              <a:rPr sz="1100" b="1" i="0">
                <a:solidFill>
                  <a:srgbClr val="FF8040"/>
                </a:solidFill>
              </a:rPr>
              <a:t>Prefetch</a:t>
            </a:r>
          </a:p>
        </p:txBody>
      </p:sp>
      <p:sp>
        <p:nvSpPr>
          <p:cNvPr id="158" name="TextBox 157"/>
          <p:cNvSpPr txBox="1"/>
          <p:nvPr/>
        </p:nvSpPr>
        <p:spPr>
          <a:xfrm>
            <a:off x="9326880" y="4617720"/>
            <a:ext cx="2468880" cy="228600"/>
          </a:xfrm>
          <a:prstGeom prst="rect">
            <a:avLst/>
          </a:prstGeom>
          <a:noFill/>
        </p:spPr>
        <p:txBody>
          <a:bodyPr wrap="square">
            <a:spAutoFit/>
          </a:bodyPr>
          <a:lstStyle/>
          <a:p>
            <a:pPr algn="l"/>
            <a:r>
              <a:rPr sz="1000" b="0" i="0">
                <a:solidFill>
                  <a:srgbClr val="8888AA"/>
                </a:solidFill>
              </a:rPr>
              <a:t>Hides RAM latency</a:t>
            </a:r>
          </a:p>
        </p:txBody>
      </p:sp>
      <p:sp>
        <p:nvSpPr>
          <p:cNvPr id="159" name="Rectangle 158"/>
          <p:cNvSpPr/>
          <p:nvPr/>
        </p:nvSpPr>
        <p:spPr>
          <a:xfrm>
            <a:off x="9052560" y="4983480"/>
            <a:ext cx="201168" cy="201168"/>
          </a:xfrm>
          <a:prstGeom prst="rect">
            <a:avLst/>
          </a:prstGeom>
          <a:solidFill>
            <a:srgbClr val="FF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326880" y="4937760"/>
            <a:ext cx="1097280" cy="292608"/>
          </a:xfrm>
          <a:prstGeom prst="rect">
            <a:avLst/>
          </a:prstGeom>
          <a:noFill/>
        </p:spPr>
        <p:txBody>
          <a:bodyPr wrap="square">
            <a:spAutoFit/>
          </a:bodyPr>
          <a:lstStyle/>
          <a:p>
            <a:pPr algn="l"/>
            <a:r>
              <a:rPr sz="1100" b="1" i="0">
                <a:solidFill>
                  <a:srgbClr val="FF4080"/>
                </a:solidFill>
              </a:rPr>
              <a:t>Branchless</a:t>
            </a:r>
          </a:p>
        </p:txBody>
      </p:sp>
      <p:sp>
        <p:nvSpPr>
          <p:cNvPr id="161" name="TextBox 160"/>
          <p:cNvSpPr txBox="1"/>
          <p:nvPr/>
        </p:nvSpPr>
        <p:spPr>
          <a:xfrm>
            <a:off x="9326880" y="5212080"/>
            <a:ext cx="2468880" cy="228600"/>
          </a:xfrm>
          <a:prstGeom prst="rect">
            <a:avLst/>
          </a:prstGeom>
          <a:noFill/>
        </p:spPr>
        <p:txBody>
          <a:bodyPr wrap="square">
            <a:spAutoFit/>
          </a:bodyPr>
          <a:lstStyle/>
          <a:p>
            <a:pPr algn="l"/>
            <a:r>
              <a:rPr sz="1000" b="0" i="0">
                <a:solidFill>
                  <a:srgbClr val="8888AA"/>
                </a:solidFill>
              </a:rPr>
              <a:t>No branch guessing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Scalability — Strong Scaling &amp; Thread Efficiency</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Actual Option 8 output · n = 2,000,000 elements · thread sweep 1 → 12</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5303520" cy="3840480"/>
          </a:xfrm>
          <a:prstGeom prst="rect">
            <a:avLst/>
          </a:prstGeom>
          <a:solidFill>
            <a:srgbClr val="0C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33271"/>
            <a:ext cx="5303520" cy="256032"/>
          </a:xfrm>
          <a:prstGeom prst="rect">
            <a:avLst/>
          </a:prstGeom>
          <a:noFill/>
        </p:spPr>
        <p:txBody>
          <a:bodyPr wrap="square">
            <a:spAutoFit/>
          </a:bodyPr>
          <a:lstStyle/>
          <a:p>
            <a:pPr algn="l"/>
            <a:r>
              <a:rPr sz="1200" b="1" i="0">
                <a:solidFill>
                  <a:srgbClr val="FFFFFF"/>
                </a:solidFill>
              </a:rPr>
              <a:t>Speedup vs threads (n=2M)</a:t>
            </a:r>
          </a:p>
        </p:txBody>
      </p:sp>
      <p:sp>
        <p:nvSpPr>
          <p:cNvPr id="8" name="Rectangle 7"/>
          <p:cNvSpPr/>
          <p:nvPr/>
        </p:nvSpPr>
        <p:spPr>
          <a:xfrm>
            <a:off x="548640" y="4206240"/>
            <a:ext cx="1074377" cy="27432"/>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0778" y="3246120"/>
            <a:ext cx="1074377" cy="27432"/>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12916" y="2286000"/>
            <a:ext cx="1074377" cy="27432"/>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95054" y="1325880"/>
            <a:ext cx="964276" cy="27432"/>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9330" y="1325880"/>
            <a:ext cx="964276" cy="27432"/>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23607" y="1325880"/>
            <a:ext cx="964276" cy="27432"/>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87883" y="1325880"/>
            <a:ext cx="964276" cy="27432"/>
          </a:xfrm>
          <a:prstGeom prst="rect">
            <a:avLst/>
          </a:prstGeom>
          <a:solidFill>
            <a:srgbClr val="3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16636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0" y="5056632"/>
            <a:ext cx="502920" cy="237744"/>
          </a:xfrm>
          <a:prstGeom prst="rect">
            <a:avLst/>
          </a:prstGeom>
          <a:noFill/>
        </p:spPr>
        <p:txBody>
          <a:bodyPr wrap="square">
            <a:spAutoFit/>
          </a:bodyPr>
          <a:lstStyle/>
          <a:p>
            <a:pPr algn="r"/>
            <a:r>
              <a:rPr sz="900" b="0" i="0">
                <a:solidFill>
                  <a:srgbClr val="8888AA"/>
                </a:solidFill>
              </a:rPr>
              <a:t>0.0×</a:t>
            </a:r>
          </a:p>
        </p:txBody>
      </p:sp>
      <p:sp>
        <p:nvSpPr>
          <p:cNvPr id="17" name="Rectangle 16"/>
          <p:cNvSpPr/>
          <p:nvPr/>
        </p:nvSpPr>
        <p:spPr>
          <a:xfrm>
            <a:off x="548640" y="420624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0" y="4096512"/>
            <a:ext cx="502920" cy="237744"/>
          </a:xfrm>
          <a:prstGeom prst="rect">
            <a:avLst/>
          </a:prstGeom>
          <a:noFill/>
        </p:spPr>
        <p:txBody>
          <a:bodyPr wrap="square">
            <a:spAutoFit/>
          </a:bodyPr>
          <a:lstStyle/>
          <a:p>
            <a:pPr algn="r"/>
            <a:r>
              <a:rPr sz="900" b="0" i="0">
                <a:solidFill>
                  <a:srgbClr val="8888AA"/>
                </a:solidFill>
              </a:rPr>
              <a:t>1.0×</a:t>
            </a:r>
          </a:p>
        </p:txBody>
      </p:sp>
      <p:sp>
        <p:nvSpPr>
          <p:cNvPr id="19" name="Rectangle 18"/>
          <p:cNvSpPr/>
          <p:nvPr/>
        </p:nvSpPr>
        <p:spPr>
          <a:xfrm>
            <a:off x="548640" y="324612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0" y="3136392"/>
            <a:ext cx="502920" cy="237744"/>
          </a:xfrm>
          <a:prstGeom prst="rect">
            <a:avLst/>
          </a:prstGeom>
          <a:noFill/>
        </p:spPr>
        <p:txBody>
          <a:bodyPr wrap="square">
            <a:spAutoFit/>
          </a:bodyPr>
          <a:lstStyle/>
          <a:p>
            <a:pPr algn="r"/>
            <a:r>
              <a:rPr sz="900" b="0" i="0">
                <a:solidFill>
                  <a:srgbClr val="8888AA"/>
                </a:solidFill>
              </a:rPr>
              <a:t>2.0×</a:t>
            </a:r>
          </a:p>
        </p:txBody>
      </p:sp>
      <p:sp>
        <p:nvSpPr>
          <p:cNvPr id="21" name="Rectangle 20"/>
          <p:cNvSpPr/>
          <p:nvPr/>
        </p:nvSpPr>
        <p:spPr>
          <a:xfrm>
            <a:off x="548640" y="228600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0" y="2176272"/>
            <a:ext cx="502920" cy="237744"/>
          </a:xfrm>
          <a:prstGeom prst="rect">
            <a:avLst/>
          </a:prstGeom>
          <a:noFill/>
        </p:spPr>
        <p:txBody>
          <a:bodyPr wrap="square">
            <a:spAutoFit/>
          </a:bodyPr>
          <a:lstStyle/>
          <a:p>
            <a:pPr algn="r"/>
            <a:r>
              <a:rPr sz="900" b="0" i="0">
                <a:solidFill>
                  <a:srgbClr val="8888AA"/>
                </a:solidFill>
              </a:rPr>
              <a:t>3.0×</a:t>
            </a:r>
          </a:p>
        </p:txBody>
      </p:sp>
      <p:sp>
        <p:nvSpPr>
          <p:cNvPr id="23" name="Rectangle 22"/>
          <p:cNvSpPr/>
          <p:nvPr/>
        </p:nvSpPr>
        <p:spPr>
          <a:xfrm>
            <a:off x="548640" y="1325880"/>
            <a:ext cx="5303520"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0" y="1216152"/>
            <a:ext cx="502920" cy="237744"/>
          </a:xfrm>
          <a:prstGeom prst="rect">
            <a:avLst/>
          </a:prstGeom>
          <a:noFill/>
        </p:spPr>
        <p:txBody>
          <a:bodyPr wrap="square">
            <a:spAutoFit/>
          </a:bodyPr>
          <a:lstStyle/>
          <a:p>
            <a:pPr algn="r"/>
            <a:r>
              <a:rPr sz="900" b="0" i="0">
                <a:solidFill>
                  <a:srgbClr val="8888AA"/>
                </a:solidFill>
              </a:rPr>
              <a:t>4.0×</a:t>
            </a:r>
          </a:p>
        </p:txBody>
      </p:sp>
      <p:sp>
        <p:nvSpPr>
          <p:cNvPr id="25" name="Rectangle 24"/>
          <p:cNvSpPr/>
          <p:nvPr/>
        </p:nvSpPr>
        <p:spPr>
          <a:xfrm>
            <a:off x="548640" y="4129430"/>
            <a:ext cx="842813"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0778" y="3438144"/>
            <a:ext cx="495713"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12916" y="3322929"/>
            <a:ext cx="858633"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95054" y="2612440"/>
            <a:ext cx="966615"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59330" y="2545232"/>
            <a:ext cx="974971"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923607" y="2401214"/>
            <a:ext cx="998514"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87883" y="2141982"/>
            <a:ext cx="969044"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84632" y="4065422"/>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6770" y="3374136"/>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448908" y="3258921"/>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31046" y="2548432"/>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895322" y="2481224"/>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859599" y="2337206"/>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823875" y="2077974"/>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788151" y="1981962"/>
            <a:ext cx="128016" cy="128016"/>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59" y="5221224"/>
            <a:ext cx="365760" cy="201168"/>
          </a:xfrm>
          <a:prstGeom prst="rect">
            <a:avLst/>
          </a:prstGeom>
          <a:noFill/>
        </p:spPr>
        <p:txBody>
          <a:bodyPr wrap="square">
            <a:spAutoFit/>
          </a:bodyPr>
          <a:lstStyle/>
          <a:p>
            <a:pPr algn="ctr"/>
            <a:r>
              <a:rPr sz="1000" b="0" i="0">
                <a:solidFill>
                  <a:srgbClr val="8888AA"/>
                </a:solidFill>
              </a:rPr>
              <a:t>1</a:t>
            </a:r>
          </a:p>
        </p:txBody>
      </p:sp>
      <p:sp>
        <p:nvSpPr>
          <p:cNvPr id="41" name="TextBox 40"/>
          <p:cNvSpPr txBox="1"/>
          <p:nvPr/>
        </p:nvSpPr>
        <p:spPr>
          <a:xfrm>
            <a:off x="847898" y="5221224"/>
            <a:ext cx="365760" cy="201168"/>
          </a:xfrm>
          <a:prstGeom prst="rect">
            <a:avLst/>
          </a:prstGeom>
          <a:noFill/>
        </p:spPr>
        <p:txBody>
          <a:bodyPr wrap="square">
            <a:spAutoFit/>
          </a:bodyPr>
          <a:lstStyle/>
          <a:p>
            <a:pPr algn="ctr"/>
            <a:r>
              <a:rPr sz="1000" b="0" i="0">
                <a:solidFill>
                  <a:srgbClr val="8888AA"/>
                </a:solidFill>
              </a:rPr>
              <a:t>2</a:t>
            </a:r>
          </a:p>
        </p:txBody>
      </p:sp>
      <p:sp>
        <p:nvSpPr>
          <p:cNvPr id="42" name="TextBox 41"/>
          <p:cNvSpPr txBox="1"/>
          <p:nvPr/>
        </p:nvSpPr>
        <p:spPr>
          <a:xfrm>
            <a:off x="1330036" y="5221224"/>
            <a:ext cx="365760" cy="201168"/>
          </a:xfrm>
          <a:prstGeom prst="rect">
            <a:avLst/>
          </a:prstGeom>
          <a:noFill/>
        </p:spPr>
        <p:txBody>
          <a:bodyPr wrap="square">
            <a:spAutoFit/>
          </a:bodyPr>
          <a:lstStyle/>
          <a:p>
            <a:pPr algn="ctr"/>
            <a:r>
              <a:rPr sz="1000" b="0" i="0">
                <a:solidFill>
                  <a:srgbClr val="8888AA"/>
                </a:solidFill>
              </a:rPr>
              <a:t>3</a:t>
            </a:r>
          </a:p>
        </p:txBody>
      </p:sp>
      <p:sp>
        <p:nvSpPr>
          <p:cNvPr id="43" name="TextBox 42"/>
          <p:cNvSpPr txBox="1"/>
          <p:nvPr/>
        </p:nvSpPr>
        <p:spPr>
          <a:xfrm>
            <a:off x="1812174" y="5221224"/>
            <a:ext cx="365760" cy="201168"/>
          </a:xfrm>
          <a:prstGeom prst="rect">
            <a:avLst/>
          </a:prstGeom>
          <a:noFill/>
        </p:spPr>
        <p:txBody>
          <a:bodyPr wrap="square">
            <a:spAutoFit/>
          </a:bodyPr>
          <a:lstStyle/>
          <a:p>
            <a:pPr algn="ctr"/>
            <a:r>
              <a:rPr sz="1000" b="0" i="0">
                <a:solidFill>
                  <a:srgbClr val="8888AA"/>
                </a:solidFill>
              </a:rPr>
              <a:t>4</a:t>
            </a:r>
          </a:p>
        </p:txBody>
      </p:sp>
      <p:sp>
        <p:nvSpPr>
          <p:cNvPr id="44" name="TextBox 43"/>
          <p:cNvSpPr txBox="1"/>
          <p:nvPr/>
        </p:nvSpPr>
        <p:spPr>
          <a:xfrm>
            <a:off x="2776450" y="5221224"/>
            <a:ext cx="365760" cy="201168"/>
          </a:xfrm>
          <a:prstGeom prst="rect">
            <a:avLst/>
          </a:prstGeom>
          <a:noFill/>
        </p:spPr>
        <p:txBody>
          <a:bodyPr wrap="square">
            <a:spAutoFit/>
          </a:bodyPr>
          <a:lstStyle/>
          <a:p>
            <a:pPr algn="ctr"/>
            <a:r>
              <a:rPr sz="1000" b="0" i="0">
                <a:solidFill>
                  <a:srgbClr val="8888AA"/>
                </a:solidFill>
              </a:rPr>
              <a:t>6</a:t>
            </a:r>
          </a:p>
        </p:txBody>
      </p:sp>
      <p:sp>
        <p:nvSpPr>
          <p:cNvPr id="45" name="TextBox 44"/>
          <p:cNvSpPr txBox="1"/>
          <p:nvPr/>
        </p:nvSpPr>
        <p:spPr>
          <a:xfrm>
            <a:off x="3740727" y="5221224"/>
            <a:ext cx="365760" cy="201168"/>
          </a:xfrm>
          <a:prstGeom prst="rect">
            <a:avLst/>
          </a:prstGeom>
          <a:noFill/>
        </p:spPr>
        <p:txBody>
          <a:bodyPr wrap="square">
            <a:spAutoFit/>
          </a:bodyPr>
          <a:lstStyle/>
          <a:p>
            <a:pPr algn="ctr"/>
            <a:r>
              <a:rPr sz="1000" b="0" i="0">
                <a:solidFill>
                  <a:srgbClr val="8888AA"/>
                </a:solidFill>
              </a:rPr>
              <a:t>8</a:t>
            </a:r>
          </a:p>
        </p:txBody>
      </p:sp>
      <p:sp>
        <p:nvSpPr>
          <p:cNvPr id="46" name="TextBox 45"/>
          <p:cNvSpPr txBox="1"/>
          <p:nvPr/>
        </p:nvSpPr>
        <p:spPr>
          <a:xfrm>
            <a:off x="4705003" y="5221224"/>
            <a:ext cx="365760" cy="201168"/>
          </a:xfrm>
          <a:prstGeom prst="rect">
            <a:avLst/>
          </a:prstGeom>
          <a:noFill/>
        </p:spPr>
        <p:txBody>
          <a:bodyPr wrap="square">
            <a:spAutoFit/>
          </a:bodyPr>
          <a:lstStyle/>
          <a:p>
            <a:pPr algn="ctr"/>
            <a:r>
              <a:rPr sz="1000" b="0" i="0">
                <a:solidFill>
                  <a:srgbClr val="8888AA"/>
                </a:solidFill>
              </a:rPr>
              <a:t>10</a:t>
            </a:r>
          </a:p>
        </p:txBody>
      </p:sp>
      <p:sp>
        <p:nvSpPr>
          <p:cNvPr id="47" name="TextBox 46"/>
          <p:cNvSpPr txBox="1"/>
          <p:nvPr/>
        </p:nvSpPr>
        <p:spPr>
          <a:xfrm>
            <a:off x="5669279" y="5221224"/>
            <a:ext cx="365760" cy="201168"/>
          </a:xfrm>
          <a:prstGeom prst="rect">
            <a:avLst/>
          </a:prstGeom>
          <a:noFill/>
        </p:spPr>
        <p:txBody>
          <a:bodyPr wrap="square">
            <a:spAutoFit/>
          </a:bodyPr>
          <a:lstStyle/>
          <a:p>
            <a:pPr algn="ctr"/>
            <a:r>
              <a:rPr sz="1000" b="0" i="0">
                <a:solidFill>
                  <a:srgbClr val="8888AA"/>
                </a:solidFill>
              </a:rPr>
              <a:t>12</a:t>
            </a:r>
          </a:p>
        </p:txBody>
      </p:sp>
      <p:sp>
        <p:nvSpPr>
          <p:cNvPr id="48" name="TextBox 47"/>
          <p:cNvSpPr txBox="1"/>
          <p:nvPr/>
        </p:nvSpPr>
        <p:spPr>
          <a:xfrm>
            <a:off x="2286000" y="5440680"/>
            <a:ext cx="1828800" cy="228600"/>
          </a:xfrm>
          <a:prstGeom prst="rect">
            <a:avLst/>
          </a:prstGeom>
          <a:noFill/>
        </p:spPr>
        <p:txBody>
          <a:bodyPr wrap="square">
            <a:spAutoFit/>
          </a:bodyPr>
          <a:lstStyle/>
          <a:p>
            <a:pPr algn="ctr"/>
            <a:r>
              <a:rPr sz="1100" b="0" i="0">
                <a:solidFill>
                  <a:srgbClr val="8888AA"/>
                </a:solidFill>
              </a:rPr>
              <a:t>Threads</a:t>
            </a:r>
          </a:p>
        </p:txBody>
      </p:sp>
      <p:sp>
        <p:nvSpPr>
          <p:cNvPr id="49" name="TextBox 48"/>
          <p:cNvSpPr txBox="1"/>
          <p:nvPr/>
        </p:nvSpPr>
        <p:spPr>
          <a:xfrm>
            <a:off x="640080" y="1417320"/>
            <a:ext cx="1371600" cy="228600"/>
          </a:xfrm>
          <a:prstGeom prst="rect">
            <a:avLst/>
          </a:prstGeom>
          <a:noFill/>
        </p:spPr>
        <p:txBody>
          <a:bodyPr wrap="square">
            <a:spAutoFit/>
          </a:bodyPr>
          <a:lstStyle/>
          <a:p>
            <a:pPr algn="l"/>
            <a:r>
              <a:rPr sz="900" b="0" i="1">
                <a:solidFill>
                  <a:srgbClr val="444460"/>
                </a:solidFill>
              </a:rPr>
              <a:t>Ideal (linear)</a:t>
            </a:r>
          </a:p>
        </p:txBody>
      </p:sp>
      <p:sp>
        <p:nvSpPr>
          <p:cNvPr id="50" name="TextBox 49"/>
          <p:cNvSpPr txBox="1"/>
          <p:nvPr/>
        </p:nvSpPr>
        <p:spPr>
          <a:xfrm>
            <a:off x="640080" y="1691640"/>
            <a:ext cx="1371600" cy="228600"/>
          </a:xfrm>
          <a:prstGeom prst="rect">
            <a:avLst/>
          </a:prstGeom>
          <a:noFill/>
        </p:spPr>
        <p:txBody>
          <a:bodyPr wrap="square">
            <a:spAutoFit/>
          </a:bodyPr>
          <a:lstStyle/>
          <a:p>
            <a:pPr algn="l"/>
            <a:r>
              <a:rPr sz="900" b="1" i="0">
                <a:solidFill>
                  <a:srgbClr val="00D4FF"/>
                </a:solidFill>
              </a:rPr>
              <a:t>Actual</a:t>
            </a:r>
          </a:p>
        </p:txBody>
      </p:sp>
      <p:sp>
        <p:nvSpPr>
          <p:cNvPr id="51" name="Rectangle 50"/>
          <p:cNvSpPr/>
          <p:nvPr/>
        </p:nvSpPr>
        <p:spPr>
          <a:xfrm>
            <a:off x="6217920" y="1325880"/>
            <a:ext cx="5577840" cy="384048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0" y="1389888"/>
            <a:ext cx="5212080" cy="320040"/>
          </a:xfrm>
          <a:prstGeom prst="rect">
            <a:avLst/>
          </a:prstGeom>
          <a:noFill/>
        </p:spPr>
        <p:txBody>
          <a:bodyPr wrap="square">
            <a:spAutoFit/>
          </a:bodyPr>
          <a:lstStyle/>
          <a:p>
            <a:pPr algn="l"/>
            <a:r>
              <a:rPr sz="1200" b="1" i="0">
                <a:solidFill>
                  <a:srgbClr val="FFFFFF"/>
                </a:solidFill>
              </a:rPr>
              <a:t>Actual measured values — n = 2,000,000</a:t>
            </a:r>
          </a:p>
        </p:txBody>
      </p:sp>
      <p:sp>
        <p:nvSpPr>
          <p:cNvPr id="53" name="Rectangle 52"/>
          <p:cNvSpPr/>
          <p:nvPr/>
        </p:nvSpPr>
        <p:spPr>
          <a:xfrm>
            <a:off x="6400800" y="1737360"/>
            <a:ext cx="5212080" cy="10972"/>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0" y="1783080"/>
            <a:ext cx="1143000" cy="274320"/>
          </a:xfrm>
          <a:prstGeom prst="rect">
            <a:avLst/>
          </a:prstGeom>
          <a:noFill/>
        </p:spPr>
        <p:txBody>
          <a:bodyPr wrap="square">
            <a:spAutoFit/>
          </a:bodyPr>
          <a:lstStyle/>
          <a:p>
            <a:pPr algn="ctr"/>
            <a:r>
              <a:rPr sz="1100" b="1" i="0">
                <a:solidFill>
                  <a:srgbClr val="8888AA"/>
                </a:solidFill>
              </a:rPr>
              <a:t>Threads</a:t>
            </a:r>
          </a:p>
        </p:txBody>
      </p:sp>
      <p:sp>
        <p:nvSpPr>
          <p:cNvPr id="55" name="TextBox 54"/>
          <p:cNvSpPr txBox="1"/>
          <p:nvPr/>
        </p:nvSpPr>
        <p:spPr>
          <a:xfrm>
            <a:off x="7589520" y="1783080"/>
            <a:ext cx="1143000" cy="274320"/>
          </a:xfrm>
          <a:prstGeom prst="rect">
            <a:avLst/>
          </a:prstGeom>
          <a:noFill/>
        </p:spPr>
        <p:txBody>
          <a:bodyPr wrap="square">
            <a:spAutoFit/>
          </a:bodyPr>
          <a:lstStyle/>
          <a:p>
            <a:pPr algn="ctr"/>
            <a:r>
              <a:rPr sz="1100" b="1" i="0">
                <a:solidFill>
                  <a:srgbClr val="8888AA"/>
                </a:solidFill>
              </a:rPr>
              <a:t>Time (ms)</a:t>
            </a:r>
          </a:p>
        </p:txBody>
      </p:sp>
      <p:sp>
        <p:nvSpPr>
          <p:cNvPr id="56" name="TextBox 55"/>
          <p:cNvSpPr txBox="1"/>
          <p:nvPr/>
        </p:nvSpPr>
        <p:spPr>
          <a:xfrm>
            <a:off x="8869680" y="1783080"/>
            <a:ext cx="1143000" cy="274320"/>
          </a:xfrm>
          <a:prstGeom prst="rect">
            <a:avLst/>
          </a:prstGeom>
          <a:noFill/>
        </p:spPr>
        <p:txBody>
          <a:bodyPr wrap="square">
            <a:spAutoFit/>
          </a:bodyPr>
          <a:lstStyle/>
          <a:p>
            <a:pPr algn="ctr"/>
            <a:r>
              <a:rPr sz="1100" b="1" i="0">
                <a:solidFill>
                  <a:srgbClr val="8888AA"/>
                </a:solidFill>
              </a:rPr>
              <a:t>Speedup</a:t>
            </a:r>
          </a:p>
        </p:txBody>
      </p:sp>
      <p:sp>
        <p:nvSpPr>
          <p:cNvPr id="57" name="TextBox 56"/>
          <p:cNvSpPr txBox="1"/>
          <p:nvPr/>
        </p:nvSpPr>
        <p:spPr>
          <a:xfrm>
            <a:off x="10149840" y="1783080"/>
            <a:ext cx="1143000" cy="274320"/>
          </a:xfrm>
          <a:prstGeom prst="rect">
            <a:avLst/>
          </a:prstGeom>
          <a:noFill/>
        </p:spPr>
        <p:txBody>
          <a:bodyPr wrap="square">
            <a:spAutoFit/>
          </a:bodyPr>
          <a:lstStyle/>
          <a:p>
            <a:pPr algn="ctr"/>
            <a:r>
              <a:rPr sz="1100" b="1" i="0">
                <a:solidFill>
                  <a:srgbClr val="8888AA"/>
                </a:solidFill>
              </a:rPr>
              <a:t>Efficiency</a:t>
            </a:r>
          </a:p>
        </p:txBody>
      </p:sp>
      <p:sp>
        <p:nvSpPr>
          <p:cNvPr id="58" name="Rectangle 57"/>
          <p:cNvSpPr/>
          <p:nvPr/>
        </p:nvSpPr>
        <p:spPr>
          <a:xfrm>
            <a:off x="6400800" y="2084831"/>
            <a:ext cx="5212080" cy="9144"/>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400800" y="2148840"/>
            <a:ext cx="5212080" cy="320040"/>
          </a:xfrm>
          <a:prstGeom prst="rect">
            <a:avLst/>
          </a:prstGeom>
          <a:solidFill>
            <a:srgbClr val="12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00800" y="2185416"/>
            <a:ext cx="1143000" cy="256032"/>
          </a:xfrm>
          <a:prstGeom prst="rect">
            <a:avLst/>
          </a:prstGeom>
          <a:noFill/>
        </p:spPr>
        <p:txBody>
          <a:bodyPr wrap="square">
            <a:spAutoFit/>
          </a:bodyPr>
          <a:lstStyle/>
          <a:p>
            <a:pPr algn="ctr"/>
            <a:r>
              <a:rPr sz="1200" b="0" i="0">
                <a:solidFill>
                  <a:srgbClr val="FFFFFF"/>
                </a:solidFill>
              </a:rPr>
              <a:t>1</a:t>
            </a:r>
          </a:p>
        </p:txBody>
      </p:sp>
      <p:sp>
        <p:nvSpPr>
          <p:cNvPr id="61" name="TextBox 60"/>
          <p:cNvSpPr txBox="1"/>
          <p:nvPr/>
        </p:nvSpPr>
        <p:spPr>
          <a:xfrm>
            <a:off x="7589520" y="2185416"/>
            <a:ext cx="1143000" cy="256032"/>
          </a:xfrm>
          <a:prstGeom prst="rect">
            <a:avLst/>
          </a:prstGeom>
          <a:noFill/>
        </p:spPr>
        <p:txBody>
          <a:bodyPr wrap="square">
            <a:spAutoFit/>
          </a:bodyPr>
          <a:lstStyle/>
          <a:p>
            <a:pPr algn="ctr"/>
            <a:r>
              <a:rPr sz="1200" b="0" i="0">
                <a:solidFill>
                  <a:srgbClr val="FFFFFF"/>
                </a:solidFill>
              </a:rPr>
              <a:t>53.3</a:t>
            </a:r>
          </a:p>
        </p:txBody>
      </p:sp>
      <p:sp>
        <p:nvSpPr>
          <p:cNvPr id="62" name="TextBox 61"/>
          <p:cNvSpPr txBox="1"/>
          <p:nvPr/>
        </p:nvSpPr>
        <p:spPr>
          <a:xfrm>
            <a:off x="8869680" y="2185416"/>
            <a:ext cx="1143000" cy="256032"/>
          </a:xfrm>
          <a:prstGeom prst="rect">
            <a:avLst/>
          </a:prstGeom>
          <a:noFill/>
        </p:spPr>
        <p:txBody>
          <a:bodyPr wrap="square">
            <a:spAutoFit/>
          </a:bodyPr>
          <a:lstStyle/>
          <a:p>
            <a:pPr algn="ctr"/>
            <a:r>
              <a:rPr sz="1200" b="1" i="0">
                <a:solidFill>
                  <a:srgbClr val="00D4FF"/>
                </a:solidFill>
              </a:rPr>
              <a:t>1.08×</a:t>
            </a:r>
          </a:p>
        </p:txBody>
      </p:sp>
      <p:sp>
        <p:nvSpPr>
          <p:cNvPr id="63" name="TextBox 62"/>
          <p:cNvSpPr txBox="1"/>
          <p:nvPr/>
        </p:nvSpPr>
        <p:spPr>
          <a:xfrm>
            <a:off x="10149840" y="2185416"/>
            <a:ext cx="1143000" cy="256032"/>
          </a:xfrm>
          <a:prstGeom prst="rect">
            <a:avLst/>
          </a:prstGeom>
          <a:noFill/>
        </p:spPr>
        <p:txBody>
          <a:bodyPr wrap="square">
            <a:spAutoFit/>
          </a:bodyPr>
          <a:lstStyle/>
          <a:p>
            <a:pPr algn="ctr"/>
            <a:r>
              <a:rPr sz="1200" b="0" i="0">
                <a:solidFill>
                  <a:srgbClr val="00E596"/>
                </a:solidFill>
              </a:rPr>
              <a:t>108.0%</a:t>
            </a:r>
          </a:p>
        </p:txBody>
      </p:sp>
      <p:sp>
        <p:nvSpPr>
          <p:cNvPr id="64" name="Rectangle 63"/>
          <p:cNvSpPr/>
          <p:nvPr/>
        </p:nvSpPr>
        <p:spPr>
          <a:xfrm>
            <a:off x="6400800" y="2487168"/>
            <a:ext cx="5212080" cy="32004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0" y="2523744"/>
            <a:ext cx="1143000" cy="256032"/>
          </a:xfrm>
          <a:prstGeom prst="rect">
            <a:avLst/>
          </a:prstGeom>
          <a:noFill/>
        </p:spPr>
        <p:txBody>
          <a:bodyPr wrap="square">
            <a:spAutoFit/>
          </a:bodyPr>
          <a:lstStyle/>
          <a:p>
            <a:pPr algn="ctr"/>
            <a:r>
              <a:rPr sz="1200" b="0" i="0">
                <a:solidFill>
                  <a:srgbClr val="FFFFFF"/>
                </a:solidFill>
              </a:rPr>
              <a:t>2</a:t>
            </a:r>
          </a:p>
        </p:txBody>
      </p:sp>
      <p:sp>
        <p:nvSpPr>
          <p:cNvPr id="66" name="TextBox 65"/>
          <p:cNvSpPr txBox="1"/>
          <p:nvPr/>
        </p:nvSpPr>
        <p:spPr>
          <a:xfrm>
            <a:off x="7589520" y="2523744"/>
            <a:ext cx="1143000" cy="256032"/>
          </a:xfrm>
          <a:prstGeom prst="rect">
            <a:avLst/>
          </a:prstGeom>
          <a:noFill/>
        </p:spPr>
        <p:txBody>
          <a:bodyPr wrap="square">
            <a:spAutoFit/>
          </a:bodyPr>
          <a:lstStyle/>
          <a:p>
            <a:pPr algn="ctr"/>
            <a:r>
              <a:rPr sz="1200" b="0" i="0">
                <a:solidFill>
                  <a:srgbClr val="FFFFFF"/>
                </a:solidFill>
              </a:rPr>
              <a:t>32.0</a:t>
            </a:r>
          </a:p>
        </p:txBody>
      </p:sp>
      <p:sp>
        <p:nvSpPr>
          <p:cNvPr id="67" name="TextBox 66"/>
          <p:cNvSpPr txBox="1"/>
          <p:nvPr/>
        </p:nvSpPr>
        <p:spPr>
          <a:xfrm>
            <a:off x="8869680" y="2523744"/>
            <a:ext cx="1143000" cy="256032"/>
          </a:xfrm>
          <a:prstGeom prst="rect">
            <a:avLst/>
          </a:prstGeom>
          <a:noFill/>
        </p:spPr>
        <p:txBody>
          <a:bodyPr wrap="square">
            <a:spAutoFit/>
          </a:bodyPr>
          <a:lstStyle/>
          <a:p>
            <a:pPr algn="ctr"/>
            <a:r>
              <a:rPr sz="1200" b="1" i="0">
                <a:solidFill>
                  <a:srgbClr val="00D4FF"/>
                </a:solidFill>
              </a:rPr>
              <a:t>1.80×</a:t>
            </a:r>
          </a:p>
        </p:txBody>
      </p:sp>
      <p:sp>
        <p:nvSpPr>
          <p:cNvPr id="68" name="TextBox 67"/>
          <p:cNvSpPr txBox="1"/>
          <p:nvPr/>
        </p:nvSpPr>
        <p:spPr>
          <a:xfrm>
            <a:off x="10149840" y="2523744"/>
            <a:ext cx="1143000" cy="256032"/>
          </a:xfrm>
          <a:prstGeom prst="rect">
            <a:avLst/>
          </a:prstGeom>
          <a:noFill/>
        </p:spPr>
        <p:txBody>
          <a:bodyPr wrap="square">
            <a:spAutoFit/>
          </a:bodyPr>
          <a:lstStyle/>
          <a:p>
            <a:pPr algn="ctr"/>
            <a:r>
              <a:rPr sz="1200" b="0" i="0">
                <a:solidFill>
                  <a:srgbClr val="00E596"/>
                </a:solidFill>
              </a:rPr>
              <a:t>89.8%</a:t>
            </a:r>
          </a:p>
        </p:txBody>
      </p:sp>
      <p:sp>
        <p:nvSpPr>
          <p:cNvPr id="69" name="Rectangle 68"/>
          <p:cNvSpPr/>
          <p:nvPr/>
        </p:nvSpPr>
        <p:spPr>
          <a:xfrm>
            <a:off x="6400800" y="2825496"/>
            <a:ext cx="5212080" cy="320040"/>
          </a:xfrm>
          <a:prstGeom prst="rect">
            <a:avLst/>
          </a:prstGeom>
          <a:solidFill>
            <a:srgbClr val="12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0800" y="2862072"/>
            <a:ext cx="1143000" cy="256032"/>
          </a:xfrm>
          <a:prstGeom prst="rect">
            <a:avLst/>
          </a:prstGeom>
          <a:noFill/>
        </p:spPr>
        <p:txBody>
          <a:bodyPr wrap="square">
            <a:spAutoFit/>
          </a:bodyPr>
          <a:lstStyle/>
          <a:p>
            <a:pPr algn="ctr"/>
            <a:r>
              <a:rPr sz="1200" b="0" i="0">
                <a:solidFill>
                  <a:srgbClr val="FFFFFF"/>
                </a:solidFill>
              </a:rPr>
              <a:t>3</a:t>
            </a:r>
          </a:p>
        </p:txBody>
      </p:sp>
      <p:sp>
        <p:nvSpPr>
          <p:cNvPr id="71" name="TextBox 70"/>
          <p:cNvSpPr txBox="1"/>
          <p:nvPr/>
        </p:nvSpPr>
        <p:spPr>
          <a:xfrm>
            <a:off x="7589520" y="2862072"/>
            <a:ext cx="1143000" cy="256032"/>
          </a:xfrm>
          <a:prstGeom prst="rect">
            <a:avLst/>
          </a:prstGeom>
          <a:noFill/>
        </p:spPr>
        <p:txBody>
          <a:bodyPr wrap="square">
            <a:spAutoFit/>
          </a:bodyPr>
          <a:lstStyle/>
          <a:p>
            <a:pPr algn="ctr"/>
            <a:r>
              <a:rPr sz="1200" b="0" i="0">
                <a:solidFill>
                  <a:srgbClr val="FFFFFF"/>
                </a:solidFill>
              </a:rPr>
              <a:t>29.9</a:t>
            </a:r>
          </a:p>
        </p:txBody>
      </p:sp>
      <p:sp>
        <p:nvSpPr>
          <p:cNvPr id="72" name="TextBox 71"/>
          <p:cNvSpPr txBox="1"/>
          <p:nvPr/>
        </p:nvSpPr>
        <p:spPr>
          <a:xfrm>
            <a:off x="8869680" y="2862072"/>
            <a:ext cx="1143000" cy="256032"/>
          </a:xfrm>
          <a:prstGeom prst="rect">
            <a:avLst/>
          </a:prstGeom>
          <a:noFill/>
        </p:spPr>
        <p:txBody>
          <a:bodyPr wrap="square">
            <a:spAutoFit/>
          </a:bodyPr>
          <a:lstStyle/>
          <a:p>
            <a:pPr algn="ctr"/>
            <a:r>
              <a:rPr sz="1200" b="1" i="0">
                <a:solidFill>
                  <a:srgbClr val="00D4FF"/>
                </a:solidFill>
              </a:rPr>
              <a:t>1.92×</a:t>
            </a:r>
          </a:p>
        </p:txBody>
      </p:sp>
      <p:sp>
        <p:nvSpPr>
          <p:cNvPr id="73" name="TextBox 72"/>
          <p:cNvSpPr txBox="1"/>
          <p:nvPr/>
        </p:nvSpPr>
        <p:spPr>
          <a:xfrm>
            <a:off x="10149840" y="2862072"/>
            <a:ext cx="1143000" cy="256032"/>
          </a:xfrm>
          <a:prstGeom prst="rect">
            <a:avLst/>
          </a:prstGeom>
          <a:noFill/>
        </p:spPr>
        <p:txBody>
          <a:bodyPr wrap="square">
            <a:spAutoFit/>
          </a:bodyPr>
          <a:lstStyle/>
          <a:p>
            <a:pPr algn="ctr"/>
            <a:r>
              <a:rPr sz="1200" b="0" i="0">
                <a:solidFill>
                  <a:srgbClr val="00E596"/>
                </a:solidFill>
              </a:rPr>
              <a:t>64.2%</a:t>
            </a:r>
          </a:p>
        </p:txBody>
      </p:sp>
      <p:sp>
        <p:nvSpPr>
          <p:cNvPr id="74" name="Rectangle 73"/>
          <p:cNvSpPr/>
          <p:nvPr/>
        </p:nvSpPr>
        <p:spPr>
          <a:xfrm>
            <a:off x="6400800" y="3163824"/>
            <a:ext cx="5212080" cy="32004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00800" y="3200400"/>
            <a:ext cx="1143000" cy="256032"/>
          </a:xfrm>
          <a:prstGeom prst="rect">
            <a:avLst/>
          </a:prstGeom>
          <a:noFill/>
        </p:spPr>
        <p:txBody>
          <a:bodyPr wrap="square">
            <a:spAutoFit/>
          </a:bodyPr>
          <a:lstStyle/>
          <a:p>
            <a:pPr algn="ctr"/>
            <a:r>
              <a:rPr sz="1200" b="0" i="0">
                <a:solidFill>
                  <a:srgbClr val="FFFFFF"/>
                </a:solidFill>
              </a:rPr>
              <a:t>4</a:t>
            </a:r>
          </a:p>
        </p:txBody>
      </p:sp>
      <p:sp>
        <p:nvSpPr>
          <p:cNvPr id="76" name="TextBox 75"/>
          <p:cNvSpPr txBox="1"/>
          <p:nvPr/>
        </p:nvSpPr>
        <p:spPr>
          <a:xfrm>
            <a:off x="7589520" y="3200400"/>
            <a:ext cx="1143000" cy="256032"/>
          </a:xfrm>
          <a:prstGeom prst="rect">
            <a:avLst/>
          </a:prstGeom>
          <a:noFill/>
        </p:spPr>
        <p:txBody>
          <a:bodyPr wrap="square">
            <a:spAutoFit/>
          </a:bodyPr>
          <a:lstStyle/>
          <a:p>
            <a:pPr algn="ctr"/>
            <a:r>
              <a:rPr sz="1200" b="0" i="0">
                <a:solidFill>
                  <a:srgbClr val="FFFFFF"/>
                </a:solidFill>
              </a:rPr>
              <a:t>21.6</a:t>
            </a:r>
          </a:p>
        </p:txBody>
      </p:sp>
      <p:sp>
        <p:nvSpPr>
          <p:cNvPr id="77" name="TextBox 76"/>
          <p:cNvSpPr txBox="1"/>
          <p:nvPr/>
        </p:nvSpPr>
        <p:spPr>
          <a:xfrm>
            <a:off x="8869680" y="3200400"/>
            <a:ext cx="1143000" cy="256032"/>
          </a:xfrm>
          <a:prstGeom prst="rect">
            <a:avLst/>
          </a:prstGeom>
          <a:noFill/>
        </p:spPr>
        <p:txBody>
          <a:bodyPr wrap="square">
            <a:spAutoFit/>
          </a:bodyPr>
          <a:lstStyle/>
          <a:p>
            <a:pPr algn="ctr"/>
            <a:r>
              <a:rPr sz="1200" b="1" i="0">
                <a:solidFill>
                  <a:srgbClr val="00D4FF"/>
                </a:solidFill>
              </a:rPr>
              <a:t>2.66×</a:t>
            </a:r>
          </a:p>
        </p:txBody>
      </p:sp>
      <p:sp>
        <p:nvSpPr>
          <p:cNvPr id="78" name="TextBox 77"/>
          <p:cNvSpPr txBox="1"/>
          <p:nvPr/>
        </p:nvSpPr>
        <p:spPr>
          <a:xfrm>
            <a:off x="10149840" y="3200400"/>
            <a:ext cx="1143000" cy="256032"/>
          </a:xfrm>
          <a:prstGeom prst="rect">
            <a:avLst/>
          </a:prstGeom>
          <a:noFill/>
        </p:spPr>
        <p:txBody>
          <a:bodyPr wrap="square">
            <a:spAutoFit/>
          </a:bodyPr>
          <a:lstStyle/>
          <a:p>
            <a:pPr algn="ctr"/>
            <a:r>
              <a:rPr sz="1200" b="0" i="0">
                <a:solidFill>
                  <a:srgbClr val="00E596"/>
                </a:solidFill>
              </a:rPr>
              <a:t>66.6%</a:t>
            </a:r>
          </a:p>
        </p:txBody>
      </p:sp>
      <p:sp>
        <p:nvSpPr>
          <p:cNvPr id="79" name="Rectangle 78"/>
          <p:cNvSpPr/>
          <p:nvPr/>
        </p:nvSpPr>
        <p:spPr>
          <a:xfrm>
            <a:off x="6400800" y="3502152"/>
            <a:ext cx="5212080" cy="320040"/>
          </a:xfrm>
          <a:prstGeom prst="rect">
            <a:avLst/>
          </a:prstGeom>
          <a:solidFill>
            <a:srgbClr val="12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400800" y="3538728"/>
            <a:ext cx="1143000" cy="256032"/>
          </a:xfrm>
          <a:prstGeom prst="rect">
            <a:avLst/>
          </a:prstGeom>
          <a:noFill/>
        </p:spPr>
        <p:txBody>
          <a:bodyPr wrap="square">
            <a:spAutoFit/>
          </a:bodyPr>
          <a:lstStyle/>
          <a:p>
            <a:pPr algn="ctr"/>
            <a:r>
              <a:rPr sz="1200" b="0" i="0">
                <a:solidFill>
                  <a:srgbClr val="FFFFFF"/>
                </a:solidFill>
              </a:rPr>
              <a:t>6</a:t>
            </a:r>
          </a:p>
        </p:txBody>
      </p:sp>
      <p:sp>
        <p:nvSpPr>
          <p:cNvPr id="81" name="TextBox 80"/>
          <p:cNvSpPr txBox="1"/>
          <p:nvPr/>
        </p:nvSpPr>
        <p:spPr>
          <a:xfrm>
            <a:off x="7589520" y="3538728"/>
            <a:ext cx="1143000" cy="256032"/>
          </a:xfrm>
          <a:prstGeom prst="rect">
            <a:avLst/>
          </a:prstGeom>
          <a:noFill/>
        </p:spPr>
        <p:txBody>
          <a:bodyPr wrap="square">
            <a:spAutoFit/>
          </a:bodyPr>
          <a:lstStyle/>
          <a:p>
            <a:pPr algn="ctr"/>
            <a:r>
              <a:rPr sz="1200" b="0" i="0">
                <a:solidFill>
                  <a:srgbClr val="FFFFFF"/>
                </a:solidFill>
              </a:rPr>
              <a:t>21.1</a:t>
            </a:r>
          </a:p>
        </p:txBody>
      </p:sp>
      <p:sp>
        <p:nvSpPr>
          <p:cNvPr id="82" name="TextBox 81"/>
          <p:cNvSpPr txBox="1"/>
          <p:nvPr/>
        </p:nvSpPr>
        <p:spPr>
          <a:xfrm>
            <a:off x="8869680" y="3538728"/>
            <a:ext cx="1143000" cy="256032"/>
          </a:xfrm>
          <a:prstGeom prst="rect">
            <a:avLst/>
          </a:prstGeom>
          <a:noFill/>
        </p:spPr>
        <p:txBody>
          <a:bodyPr wrap="square">
            <a:spAutoFit/>
          </a:bodyPr>
          <a:lstStyle/>
          <a:p>
            <a:pPr algn="ctr"/>
            <a:r>
              <a:rPr sz="1200" b="1" i="0">
                <a:solidFill>
                  <a:srgbClr val="00D4FF"/>
                </a:solidFill>
              </a:rPr>
              <a:t>2.73×</a:t>
            </a:r>
          </a:p>
        </p:txBody>
      </p:sp>
      <p:sp>
        <p:nvSpPr>
          <p:cNvPr id="83" name="TextBox 82"/>
          <p:cNvSpPr txBox="1"/>
          <p:nvPr/>
        </p:nvSpPr>
        <p:spPr>
          <a:xfrm>
            <a:off x="10149840" y="3538728"/>
            <a:ext cx="1143000" cy="256032"/>
          </a:xfrm>
          <a:prstGeom prst="rect">
            <a:avLst/>
          </a:prstGeom>
          <a:noFill/>
        </p:spPr>
        <p:txBody>
          <a:bodyPr wrap="square">
            <a:spAutoFit/>
          </a:bodyPr>
          <a:lstStyle/>
          <a:p>
            <a:pPr algn="ctr"/>
            <a:r>
              <a:rPr sz="1200" b="0" i="0">
                <a:solidFill>
                  <a:srgbClr val="FFC844"/>
                </a:solidFill>
              </a:rPr>
              <a:t>45.5%</a:t>
            </a:r>
          </a:p>
        </p:txBody>
      </p:sp>
      <p:sp>
        <p:nvSpPr>
          <p:cNvPr id="84" name="Rectangle 83"/>
          <p:cNvSpPr/>
          <p:nvPr/>
        </p:nvSpPr>
        <p:spPr>
          <a:xfrm>
            <a:off x="6400800" y="3840480"/>
            <a:ext cx="5212080" cy="32004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00800" y="3877056"/>
            <a:ext cx="1143000" cy="256032"/>
          </a:xfrm>
          <a:prstGeom prst="rect">
            <a:avLst/>
          </a:prstGeom>
          <a:noFill/>
        </p:spPr>
        <p:txBody>
          <a:bodyPr wrap="square">
            <a:spAutoFit/>
          </a:bodyPr>
          <a:lstStyle/>
          <a:p>
            <a:pPr algn="ctr"/>
            <a:r>
              <a:rPr sz="1200" b="0" i="0">
                <a:solidFill>
                  <a:srgbClr val="FFFFFF"/>
                </a:solidFill>
              </a:rPr>
              <a:t>8</a:t>
            </a:r>
          </a:p>
        </p:txBody>
      </p:sp>
      <p:sp>
        <p:nvSpPr>
          <p:cNvPr id="86" name="TextBox 85"/>
          <p:cNvSpPr txBox="1"/>
          <p:nvPr/>
        </p:nvSpPr>
        <p:spPr>
          <a:xfrm>
            <a:off x="7589520" y="3877056"/>
            <a:ext cx="1143000" cy="256032"/>
          </a:xfrm>
          <a:prstGeom prst="rect">
            <a:avLst/>
          </a:prstGeom>
          <a:noFill/>
        </p:spPr>
        <p:txBody>
          <a:bodyPr wrap="square">
            <a:spAutoFit/>
          </a:bodyPr>
          <a:lstStyle/>
          <a:p>
            <a:pPr algn="ctr"/>
            <a:r>
              <a:rPr sz="1200" b="0" i="0">
                <a:solidFill>
                  <a:srgbClr val="FFFFFF"/>
                </a:solidFill>
              </a:rPr>
              <a:t>20.0</a:t>
            </a:r>
          </a:p>
        </p:txBody>
      </p:sp>
      <p:sp>
        <p:nvSpPr>
          <p:cNvPr id="87" name="TextBox 86"/>
          <p:cNvSpPr txBox="1"/>
          <p:nvPr/>
        </p:nvSpPr>
        <p:spPr>
          <a:xfrm>
            <a:off x="8869680" y="3877056"/>
            <a:ext cx="1143000" cy="256032"/>
          </a:xfrm>
          <a:prstGeom prst="rect">
            <a:avLst/>
          </a:prstGeom>
          <a:noFill/>
        </p:spPr>
        <p:txBody>
          <a:bodyPr wrap="square">
            <a:spAutoFit/>
          </a:bodyPr>
          <a:lstStyle/>
          <a:p>
            <a:pPr algn="ctr"/>
            <a:r>
              <a:rPr sz="1200" b="1" i="0">
                <a:solidFill>
                  <a:srgbClr val="00D4FF"/>
                </a:solidFill>
              </a:rPr>
              <a:t>2.88×</a:t>
            </a:r>
          </a:p>
        </p:txBody>
      </p:sp>
      <p:sp>
        <p:nvSpPr>
          <p:cNvPr id="88" name="TextBox 87"/>
          <p:cNvSpPr txBox="1"/>
          <p:nvPr/>
        </p:nvSpPr>
        <p:spPr>
          <a:xfrm>
            <a:off x="10149840" y="3877056"/>
            <a:ext cx="1143000" cy="256032"/>
          </a:xfrm>
          <a:prstGeom prst="rect">
            <a:avLst/>
          </a:prstGeom>
          <a:noFill/>
        </p:spPr>
        <p:txBody>
          <a:bodyPr wrap="square">
            <a:spAutoFit/>
          </a:bodyPr>
          <a:lstStyle/>
          <a:p>
            <a:pPr algn="ctr"/>
            <a:r>
              <a:rPr sz="1200" b="0" i="0">
                <a:solidFill>
                  <a:srgbClr val="FFC844"/>
                </a:solidFill>
              </a:rPr>
              <a:t>36.0%</a:t>
            </a:r>
          </a:p>
        </p:txBody>
      </p:sp>
      <p:sp>
        <p:nvSpPr>
          <p:cNvPr id="89" name="Rectangle 88"/>
          <p:cNvSpPr/>
          <p:nvPr/>
        </p:nvSpPr>
        <p:spPr>
          <a:xfrm>
            <a:off x="6400800" y="4178808"/>
            <a:ext cx="5212080" cy="320040"/>
          </a:xfrm>
          <a:prstGeom prst="rect">
            <a:avLst/>
          </a:prstGeom>
          <a:solidFill>
            <a:srgbClr val="12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400800" y="4215384"/>
            <a:ext cx="1143000" cy="256032"/>
          </a:xfrm>
          <a:prstGeom prst="rect">
            <a:avLst/>
          </a:prstGeom>
          <a:noFill/>
        </p:spPr>
        <p:txBody>
          <a:bodyPr wrap="square">
            <a:spAutoFit/>
          </a:bodyPr>
          <a:lstStyle/>
          <a:p>
            <a:pPr algn="ctr"/>
            <a:r>
              <a:rPr sz="1200" b="0" i="0">
                <a:solidFill>
                  <a:srgbClr val="FFFFFF"/>
                </a:solidFill>
              </a:rPr>
              <a:t>10</a:t>
            </a:r>
          </a:p>
        </p:txBody>
      </p:sp>
      <p:sp>
        <p:nvSpPr>
          <p:cNvPr id="91" name="TextBox 90"/>
          <p:cNvSpPr txBox="1"/>
          <p:nvPr/>
        </p:nvSpPr>
        <p:spPr>
          <a:xfrm>
            <a:off x="7589520" y="4215384"/>
            <a:ext cx="1143000" cy="256032"/>
          </a:xfrm>
          <a:prstGeom prst="rect">
            <a:avLst/>
          </a:prstGeom>
          <a:noFill/>
        </p:spPr>
        <p:txBody>
          <a:bodyPr wrap="square">
            <a:spAutoFit/>
          </a:bodyPr>
          <a:lstStyle/>
          <a:p>
            <a:pPr algn="ctr"/>
            <a:r>
              <a:rPr sz="1200" b="0" i="0">
                <a:solidFill>
                  <a:srgbClr val="FFFFFF"/>
                </a:solidFill>
              </a:rPr>
              <a:t>18.3</a:t>
            </a:r>
          </a:p>
        </p:txBody>
      </p:sp>
      <p:sp>
        <p:nvSpPr>
          <p:cNvPr id="92" name="TextBox 91"/>
          <p:cNvSpPr txBox="1"/>
          <p:nvPr/>
        </p:nvSpPr>
        <p:spPr>
          <a:xfrm>
            <a:off x="8869680" y="4215384"/>
            <a:ext cx="1143000" cy="256032"/>
          </a:xfrm>
          <a:prstGeom prst="rect">
            <a:avLst/>
          </a:prstGeom>
          <a:noFill/>
        </p:spPr>
        <p:txBody>
          <a:bodyPr wrap="square">
            <a:spAutoFit/>
          </a:bodyPr>
          <a:lstStyle/>
          <a:p>
            <a:pPr algn="ctr"/>
            <a:r>
              <a:rPr sz="1200" b="1" i="0">
                <a:solidFill>
                  <a:srgbClr val="00D4FF"/>
                </a:solidFill>
              </a:rPr>
              <a:t>3.15×</a:t>
            </a:r>
          </a:p>
        </p:txBody>
      </p:sp>
      <p:sp>
        <p:nvSpPr>
          <p:cNvPr id="93" name="TextBox 92"/>
          <p:cNvSpPr txBox="1"/>
          <p:nvPr/>
        </p:nvSpPr>
        <p:spPr>
          <a:xfrm>
            <a:off x="10149840" y="4215384"/>
            <a:ext cx="1143000" cy="256032"/>
          </a:xfrm>
          <a:prstGeom prst="rect">
            <a:avLst/>
          </a:prstGeom>
          <a:noFill/>
        </p:spPr>
        <p:txBody>
          <a:bodyPr wrap="square">
            <a:spAutoFit/>
          </a:bodyPr>
          <a:lstStyle/>
          <a:p>
            <a:pPr algn="ctr"/>
            <a:r>
              <a:rPr sz="1200" b="0" i="0">
                <a:solidFill>
                  <a:srgbClr val="FF4D6D"/>
                </a:solidFill>
              </a:rPr>
              <a:t>31.5%</a:t>
            </a:r>
          </a:p>
        </p:txBody>
      </p:sp>
      <p:sp>
        <p:nvSpPr>
          <p:cNvPr id="94" name="Rectangle 93"/>
          <p:cNvSpPr/>
          <p:nvPr/>
        </p:nvSpPr>
        <p:spPr>
          <a:xfrm>
            <a:off x="6400800" y="4517136"/>
            <a:ext cx="5212080" cy="32004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400800" y="4553712"/>
            <a:ext cx="1143000" cy="256032"/>
          </a:xfrm>
          <a:prstGeom prst="rect">
            <a:avLst/>
          </a:prstGeom>
          <a:noFill/>
        </p:spPr>
        <p:txBody>
          <a:bodyPr wrap="square">
            <a:spAutoFit/>
          </a:bodyPr>
          <a:lstStyle/>
          <a:p>
            <a:pPr algn="ctr"/>
            <a:r>
              <a:rPr sz="1200" b="0" i="0">
                <a:solidFill>
                  <a:srgbClr val="FFFFFF"/>
                </a:solidFill>
              </a:rPr>
              <a:t>12</a:t>
            </a:r>
          </a:p>
        </p:txBody>
      </p:sp>
      <p:sp>
        <p:nvSpPr>
          <p:cNvPr id="96" name="TextBox 95"/>
          <p:cNvSpPr txBox="1"/>
          <p:nvPr/>
        </p:nvSpPr>
        <p:spPr>
          <a:xfrm>
            <a:off x="7589520" y="4553712"/>
            <a:ext cx="1143000" cy="256032"/>
          </a:xfrm>
          <a:prstGeom prst="rect">
            <a:avLst/>
          </a:prstGeom>
          <a:noFill/>
        </p:spPr>
        <p:txBody>
          <a:bodyPr wrap="square">
            <a:spAutoFit/>
          </a:bodyPr>
          <a:lstStyle/>
          <a:p>
            <a:pPr algn="ctr"/>
            <a:r>
              <a:rPr sz="1200" b="0" i="0">
                <a:solidFill>
                  <a:srgbClr val="FFFFFF"/>
                </a:solidFill>
              </a:rPr>
              <a:t>17.7</a:t>
            </a:r>
          </a:p>
        </p:txBody>
      </p:sp>
      <p:sp>
        <p:nvSpPr>
          <p:cNvPr id="97" name="TextBox 96"/>
          <p:cNvSpPr txBox="1"/>
          <p:nvPr/>
        </p:nvSpPr>
        <p:spPr>
          <a:xfrm>
            <a:off x="8869680" y="4553712"/>
            <a:ext cx="1143000" cy="256032"/>
          </a:xfrm>
          <a:prstGeom prst="rect">
            <a:avLst/>
          </a:prstGeom>
          <a:noFill/>
        </p:spPr>
        <p:txBody>
          <a:bodyPr wrap="square">
            <a:spAutoFit/>
          </a:bodyPr>
          <a:lstStyle/>
          <a:p>
            <a:pPr algn="ctr"/>
            <a:r>
              <a:rPr sz="1200" b="1" i="0">
                <a:solidFill>
                  <a:srgbClr val="00D4FF"/>
                </a:solidFill>
              </a:rPr>
              <a:t>3.25×</a:t>
            </a:r>
          </a:p>
        </p:txBody>
      </p:sp>
      <p:sp>
        <p:nvSpPr>
          <p:cNvPr id="98" name="TextBox 97"/>
          <p:cNvSpPr txBox="1"/>
          <p:nvPr/>
        </p:nvSpPr>
        <p:spPr>
          <a:xfrm>
            <a:off x="10149840" y="4553712"/>
            <a:ext cx="1143000" cy="256032"/>
          </a:xfrm>
          <a:prstGeom prst="rect">
            <a:avLst/>
          </a:prstGeom>
          <a:noFill/>
        </p:spPr>
        <p:txBody>
          <a:bodyPr wrap="square">
            <a:spAutoFit/>
          </a:bodyPr>
          <a:lstStyle/>
          <a:p>
            <a:pPr algn="ctr"/>
            <a:r>
              <a:rPr sz="1200" b="0" i="0">
                <a:solidFill>
                  <a:srgbClr val="FF4D6D"/>
                </a:solidFill>
              </a:rPr>
              <a:t>27.1%</a:t>
            </a:r>
          </a:p>
        </p:txBody>
      </p:sp>
      <p:sp>
        <p:nvSpPr>
          <p:cNvPr id="99" name="Rectangle 98"/>
          <p:cNvSpPr/>
          <p:nvPr/>
        </p:nvSpPr>
        <p:spPr>
          <a:xfrm>
            <a:off x="548640" y="5394960"/>
            <a:ext cx="11338560" cy="118872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31520" y="5449824"/>
            <a:ext cx="5303520" cy="320040"/>
          </a:xfrm>
          <a:prstGeom prst="rect">
            <a:avLst/>
          </a:prstGeom>
          <a:noFill/>
        </p:spPr>
        <p:txBody>
          <a:bodyPr wrap="square">
            <a:spAutoFit/>
          </a:bodyPr>
          <a:lstStyle/>
          <a:p>
            <a:pPr algn="l"/>
            <a:r>
              <a:rPr sz="1200" b="1" i="0">
                <a:solidFill>
                  <a:srgbClr val="FFFFFF"/>
                </a:solidFill>
              </a:rPr>
              <a:t>Phase breakdown (n = 2,000,000)</a:t>
            </a:r>
          </a:p>
        </p:txBody>
      </p:sp>
      <p:sp>
        <p:nvSpPr>
          <p:cNvPr id="101" name="Rectangle 100"/>
          <p:cNvSpPr/>
          <p:nvPr/>
        </p:nvSpPr>
        <p:spPr>
          <a:xfrm>
            <a:off x="731520" y="5833872"/>
            <a:ext cx="95097" cy="411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77240" y="5870448"/>
            <a:ext cx="3657" cy="347472"/>
          </a:xfrm>
          <a:prstGeom prst="rect">
            <a:avLst/>
          </a:prstGeom>
          <a:noFill/>
        </p:spPr>
        <p:txBody>
          <a:bodyPr wrap="square">
            <a:spAutoFit/>
          </a:bodyPr>
          <a:lstStyle/>
          <a:p>
            <a:pPr algn="l"/>
            <a:r>
              <a:rPr sz="1200" b="1" i="0">
                <a:solidFill>
                  <a:srgbClr val="050510"/>
                </a:solidFill>
              </a:rPr>
              <a:t>Tile-sort (parallel)  2.0%</a:t>
            </a:r>
          </a:p>
        </p:txBody>
      </p:sp>
      <p:sp>
        <p:nvSpPr>
          <p:cNvPr id="103" name="Rectangle 102"/>
          <p:cNvSpPr/>
          <p:nvPr/>
        </p:nvSpPr>
        <p:spPr>
          <a:xfrm>
            <a:off x="826617" y="5833872"/>
            <a:ext cx="4659782" cy="41148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72337" y="5870448"/>
            <a:ext cx="4568342" cy="347472"/>
          </a:xfrm>
          <a:prstGeom prst="rect">
            <a:avLst/>
          </a:prstGeom>
          <a:noFill/>
        </p:spPr>
        <p:txBody>
          <a:bodyPr wrap="square">
            <a:spAutoFit/>
          </a:bodyPr>
          <a:lstStyle/>
          <a:p>
            <a:pPr algn="l"/>
            <a:r>
              <a:rPr sz="1200" b="1" i="0">
                <a:solidFill>
                  <a:srgbClr val="050510"/>
                </a:solidFill>
              </a:rPr>
              <a:t>Merge (serial)  98.0%</a:t>
            </a:r>
          </a:p>
        </p:txBody>
      </p:sp>
      <p:sp>
        <p:nvSpPr>
          <p:cNvPr id="105" name="TextBox 104"/>
          <p:cNvSpPr txBox="1"/>
          <p:nvPr/>
        </p:nvSpPr>
        <p:spPr>
          <a:xfrm>
            <a:off x="731520" y="6309360"/>
            <a:ext cx="5303520" cy="256032"/>
          </a:xfrm>
          <a:prstGeom prst="rect">
            <a:avLst/>
          </a:prstGeom>
          <a:noFill/>
        </p:spPr>
        <p:txBody>
          <a:bodyPr wrap="square">
            <a:spAutoFit/>
          </a:bodyPr>
          <a:lstStyle/>
          <a:p>
            <a:pPr algn="l"/>
            <a:r>
              <a:rPr sz="1100" b="0" i="1">
                <a:solidFill>
                  <a:srgbClr val="FF4D6D"/>
                </a:solidFill>
              </a:rPr>
              <a:t>Merge = 98% serial → Amdahl ceiling ≈ 1.0× from parallelism alone</a:t>
            </a:r>
          </a:p>
        </p:txBody>
      </p:sp>
      <p:sp>
        <p:nvSpPr>
          <p:cNvPr id="106" name="Rectangle 105"/>
          <p:cNvSpPr/>
          <p:nvPr/>
        </p:nvSpPr>
        <p:spPr>
          <a:xfrm>
            <a:off x="6217920" y="5394960"/>
            <a:ext cx="5577840" cy="1188720"/>
          </a:xfrm>
          <a:prstGeom prst="rect">
            <a:avLst/>
          </a:prstGeom>
          <a:solidFill>
            <a:srgbClr val="0A0A18"/>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400800" y="5449824"/>
            <a:ext cx="5212080" cy="320040"/>
          </a:xfrm>
          <a:prstGeom prst="rect">
            <a:avLst/>
          </a:prstGeom>
          <a:noFill/>
        </p:spPr>
        <p:txBody>
          <a:bodyPr wrap="square">
            <a:spAutoFit/>
          </a:bodyPr>
          <a:lstStyle/>
          <a:p>
            <a:pPr algn="l"/>
            <a:r>
              <a:rPr sz="1200" b="1" i="0">
                <a:solidFill>
                  <a:srgbClr val="FFFFFF"/>
                </a:solidFill>
              </a:rPr>
              <a:t>Why not 12× faster with 12 threads?</a:t>
            </a:r>
          </a:p>
        </p:txBody>
      </p:sp>
      <p:sp>
        <p:nvSpPr>
          <p:cNvPr id="108" name="TextBox 107"/>
          <p:cNvSpPr txBox="1"/>
          <p:nvPr/>
        </p:nvSpPr>
        <p:spPr>
          <a:xfrm>
            <a:off x="6400800" y="5806440"/>
            <a:ext cx="5212080" cy="685800"/>
          </a:xfrm>
          <a:prstGeom prst="rect">
            <a:avLst/>
          </a:prstGeom>
          <a:noFill/>
        </p:spPr>
        <p:txBody>
          <a:bodyPr wrap="square">
            <a:spAutoFit/>
          </a:bodyPr>
          <a:lstStyle/>
          <a:p>
            <a:pPr algn="l"/>
            <a:r>
              <a:rPr sz="1200" b="0" i="0">
                <a:solidFill>
                  <a:srgbClr val="8888AA"/>
                </a:solidFill>
              </a:rPr>
              <a:t>The merge step cannot be parallelised — it must run in order. This serial portion limits the maximum possible speedup (Amdahl's Law). We achieve 3.25× by parallelising everything else.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Correctness &amp; Full Comparison Table</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Actual Option 7 output · 35/35 correctness tests passed · all 7 variants</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88720"/>
            <a:ext cx="11365992" cy="347472"/>
          </a:xfrm>
          <a:prstGeom prst="rect">
            <a:avLst/>
          </a:prstGeom>
          <a:noFill/>
        </p:spPr>
        <p:txBody>
          <a:bodyPr wrap="square">
            <a:spAutoFit/>
          </a:bodyPr>
          <a:lstStyle/>
          <a:p>
            <a:pPr algn="l"/>
            <a:r>
              <a:rPr sz="1300" b="1" i="0">
                <a:solidFill>
                  <a:srgbClr val="FFFFFF"/>
                </a:solidFill>
              </a:rPr>
              <a:t>Correctness verification — each variant sorted against std::sort reference</a:t>
            </a:r>
          </a:p>
        </p:txBody>
      </p:sp>
      <p:sp>
        <p:nvSpPr>
          <p:cNvPr id="7" name="Rectangle 6"/>
          <p:cNvSpPr/>
          <p:nvPr/>
        </p:nvSpPr>
        <p:spPr>
          <a:xfrm>
            <a:off x="411480"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572768"/>
            <a:ext cx="2176272" cy="475488"/>
          </a:xfrm>
          <a:prstGeom prst="rect">
            <a:avLst/>
          </a:prstGeom>
          <a:noFill/>
        </p:spPr>
        <p:txBody>
          <a:bodyPr wrap="square">
            <a:spAutoFit/>
          </a:bodyPr>
          <a:lstStyle/>
          <a:p>
            <a:pPr algn="ctr"/>
            <a:r>
              <a:rPr sz="1300" b="1" i="0">
                <a:solidFill>
                  <a:srgbClr val="00E596"/>
                </a:solidFill>
              </a:rPr>
              <a:t>n = 10K   7 / 7  ✓</a:t>
            </a:r>
          </a:p>
        </p:txBody>
      </p:sp>
      <p:sp>
        <p:nvSpPr>
          <p:cNvPr id="9" name="Rectangle 8"/>
          <p:cNvSpPr/>
          <p:nvPr/>
        </p:nvSpPr>
        <p:spPr>
          <a:xfrm>
            <a:off x="2715768"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5768" y="1572768"/>
            <a:ext cx="2176272" cy="475488"/>
          </a:xfrm>
          <a:prstGeom prst="rect">
            <a:avLst/>
          </a:prstGeom>
          <a:noFill/>
        </p:spPr>
        <p:txBody>
          <a:bodyPr wrap="square">
            <a:spAutoFit/>
          </a:bodyPr>
          <a:lstStyle/>
          <a:p>
            <a:pPr algn="ctr"/>
            <a:r>
              <a:rPr sz="1300" b="1" i="0">
                <a:solidFill>
                  <a:srgbClr val="00E596"/>
                </a:solidFill>
              </a:rPr>
              <a:t>n = 100K   7 / 7  ✓</a:t>
            </a:r>
          </a:p>
        </p:txBody>
      </p:sp>
      <p:sp>
        <p:nvSpPr>
          <p:cNvPr id="11" name="Rectangle 10"/>
          <p:cNvSpPr/>
          <p:nvPr/>
        </p:nvSpPr>
        <p:spPr>
          <a:xfrm>
            <a:off x="5020056"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0056" y="1572768"/>
            <a:ext cx="2176272" cy="475488"/>
          </a:xfrm>
          <a:prstGeom prst="rect">
            <a:avLst/>
          </a:prstGeom>
          <a:noFill/>
        </p:spPr>
        <p:txBody>
          <a:bodyPr wrap="square">
            <a:spAutoFit/>
          </a:bodyPr>
          <a:lstStyle/>
          <a:p>
            <a:pPr algn="ctr"/>
            <a:r>
              <a:rPr sz="1300" b="1" i="0">
                <a:solidFill>
                  <a:srgbClr val="00E596"/>
                </a:solidFill>
              </a:rPr>
              <a:t>n = 500K   7 / 7  ✓</a:t>
            </a:r>
          </a:p>
        </p:txBody>
      </p:sp>
      <p:sp>
        <p:nvSpPr>
          <p:cNvPr id="13" name="Rectangle 12"/>
          <p:cNvSpPr/>
          <p:nvPr/>
        </p:nvSpPr>
        <p:spPr>
          <a:xfrm>
            <a:off x="7324344"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24344" y="1572768"/>
            <a:ext cx="2176272" cy="475488"/>
          </a:xfrm>
          <a:prstGeom prst="rect">
            <a:avLst/>
          </a:prstGeom>
          <a:noFill/>
        </p:spPr>
        <p:txBody>
          <a:bodyPr wrap="square">
            <a:spAutoFit/>
          </a:bodyPr>
          <a:lstStyle/>
          <a:p>
            <a:pPr algn="ctr"/>
            <a:r>
              <a:rPr sz="1300" b="1" i="0">
                <a:solidFill>
                  <a:srgbClr val="00E596"/>
                </a:solidFill>
              </a:rPr>
              <a:t>n = 1M   7 / 7  ✓</a:t>
            </a:r>
          </a:p>
        </p:txBody>
      </p:sp>
      <p:sp>
        <p:nvSpPr>
          <p:cNvPr id="15" name="Rectangle 14"/>
          <p:cNvSpPr/>
          <p:nvPr/>
        </p:nvSpPr>
        <p:spPr>
          <a:xfrm>
            <a:off x="9628632" y="1572768"/>
            <a:ext cx="2176272" cy="475488"/>
          </a:xfrm>
          <a:prstGeom prst="rect">
            <a:avLst/>
          </a:prstGeom>
          <a:solidFill>
            <a:srgbClr val="051A08"/>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28632" y="1572768"/>
            <a:ext cx="2176272" cy="475488"/>
          </a:xfrm>
          <a:prstGeom prst="rect">
            <a:avLst/>
          </a:prstGeom>
          <a:noFill/>
        </p:spPr>
        <p:txBody>
          <a:bodyPr wrap="square">
            <a:spAutoFit/>
          </a:bodyPr>
          <a:lstStyle/>
          <a:p>
            <a:pPr algn="ctr"/>
            <a:r>
              <a:rPr sz="1300" b="1" i="0">
                <a:solidFill>
                  <a:srgbClr val="00E596"/>
                </a:solidFill>
              </a:rPr>
              <a:t>n = 2M   7 / 7  ✓</a:t>
            </a:r>
          </a:p>
        </p:txBody>
      </p:sp>
      <p:sp>
        <p:nvSpPr>
          <p:cNvPr id="17" name="TextBox 16"/>
          <p:cNvSpPr txBox="1"/>
          <p:nvPr/>
        </p:nvSpPr>
        <p:spPr>
          <a:xfrm>
            <a:off x="411480" y="2212848"/>
            <a:ext cx="11365992" cy="292608"/>
          </a:xfrm>
          <a:prstGeom prst="rect">
            <a:avLst/>
          </a:prstGeom>
          <a:noFill/>
        </p:spPr>
        <p:txBody>
          <a:bodyPr wrap="square">
            <a:spAutoFit/>
          </a:bodyPr>
          <a:lstStyle/>
          <a:p>
            <a:pPr algn="l"/>
            <a:r>
              <a:rPr sz="1200" b="0" i="1">
                <a:solidFill>
                  <a:srgbClr val="8888AA"/>
                </a:solidFill>
              </a:rPr>
              <a:t>Performance table (ms) — 100 runs each · n from 10K to 2M</a:t>
            </a:r>
          </a:p>
        </p:txBody>
      </p:sp>
      <p:sp>
        <p:nvSpPr>
          <p:cNvPr id="18" name="Rectangle 17"/>
          <p:cNvSpPr/>
          <p:nvPr/>
        </p:nvSpPr>
        <p:spPr>
          <a:xfrm>
            <a:off x="320040" y="2560320"/>
            <a:ext cx="11365992" cy="320040"/>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2578608"/>
            <a:ext cx="914400" cy="274320"/>
          </a:xfrm>
          <a:prstGeom prst="rect">
            <a:avLst/>
          </a:prstGeom>
          <a:noFill/>
        </p:spPr>
        <p:txBody>
          <a:bodyPr wrap="square">
            <a:spAutoFit/>
          </a:bodyPr>
          <a:lstStyle/>
          <a:p>
            <a:pPr algn="ctr"/>
            <a:r>
              <a:rPr sz="1000" b="1" i="0">
                <a:solidFill>
                  <a:srgbClr val="8888AA"/>
                </a:solidFill>
              </a:rPr>
              <a:t>Size</a:t>
            </a:r>
          </a:p>
        </p:txBody>
      </p:sp>
      <p:sp>
        <p:nvSpPr>
          <p:cNvPr id="20" name="TextBox 19"/>
          <p:cNvSpPr txBox="1"/>
          <p:nvPr/>
        </p:nvSpPr>
        <p:spPr>
          <a:xfrm>
            <a:off x="1325880" y="2578608"/>
            <a:ext cx="1143000" cy="274320"/>
          </a:xfrm>
          <a:prstGeom prst="rect">
            <a:avLst/>
          </a:prstGeom>
          <a:noFill/>
        </p:spPr>
        <p:txBody>
          <a:bodyPr wrap="square">
            <a:spAutoFit/>
          </a:bodyPr>
          <a:lstStyle/>
          <a:p>
            <a:pPr algn="ctr"/>
            <a:r>
              <a:rPr sz="1000" b="1" i="0">
                <a:solidFill>
                  <a:srgbClr val="8888AA"/>
                </a:solidFill>
              </a:rPr>
              <a:t>Baseline</a:t>
            </a:r>
          </a:p>
        </p:txBody>
      </p:sp>
      <p:sp>
        <p:nvSpPr>
          <p:cNvPr id="21" name="TextBox 20"/>
          <p:cNvSpPr txBox="1"/>
          <p:nvPr/>
        </p:nvSpPr>
        <p:spPr>
          <a:xfrm>
            <a:off x="2514600" y="2578608"/>
            <a:ext cx="1143000" cy="274320"/>
          </a:xfrm>
          <a:prstGeom prst="rect">
            <a:avLst/>
          </a:prstGeom>
          <a:noFill/>
        </p:spPr>
        <p:txBody>
          <a:bodyPr wrap="square">
            <a:spAutoFit/>
          </a:bodyPr>
          <a:lstStyle/>
          <a:p>
            <a:pPr algn="ctr"/>
            <a:r>
              <a:rPr sz="1000" b="1" i="0">
                <a:solidFill>
                  <a:srgbClr val="8888AA"/>
                </a:solidFill>
              </a:rPr>
              <a:t>OpenMP</a:t>
            </a:r>
          </a:p>
        </p:txBody>
      </p:sp>
      <p:sp>
        <p:nvSpPr>
          <p:cNvPr id="22" name="TextBox 21"/>
          <p:cNvSpPr txBox="1"/>
          <p:nvPr/>
        </p:nvSpPr>
        <p:spPr>
          <a:xfrm>
            <a:off x="3703320" y="2578608"/>
            <a:ext cx="1143000" cy="274320"/>
          </a:xfrm>
          <a:prstGeom prst="rect">
            <a:avLst/>
          </a:prstGeom>
          <a:noFill/>
        </p:spPr>
        <p:txBody>
          <a:bodyPr wrap="square">
            <a:spAutoFit/>
          </a:bodyPr>
          <a:lstStyle/>
          <a:p>
            <a:pPr algn="ctr"/>
            <a:r>
              <a:rPr sz="1000" b="1" i="0">
                <a:solidFill>
                  <a:srgbClr val="8888AA"/>
                </a:solidFill>
              </a:rPr>
              <a:t>Branchless</a:t>
            </a:r>
          </a:p>
        </p:txBody>
      </p:sp>
      <p:sp>
        <p:nvSpPr>
          <p:cNvPr id="23" name="TextBox 22"/>
          <p:cNvSpPr txBox="1"/>
          <p:nvPr/>
        </p:nvSpPr>
        <p:spPr>
          <a:xfrm>
            <a:off x="4892040" y="2578608"/>
            <a:ext cx="1143000" cy="274320"/>
          </a:xfrm>
          <a:prstGeom prst="rect">
            <a:avLst/>
          </a:prstGeom>
          <a:noFill/>
        </p:spPr>
        <p:txBody>
          <a:bodyPr wrap="square">
            <a:spAutoFit/>
          </a:bodyPr>
          <a:lstStyle/>
          <a:p>
            <a:pPr algn="ctr"/>
            <a:r>
              <a:rPr sz="1000" b="1" i="0">
                <a:solidFill>
                  <a:srgbClr val="8888AA"/>
                </a:solidFill>
              </a:rPr>
              <a:t>Prefetch</a:t>
            </a:r>
          </a:p>
        </p:txBody>
      </p:sp>
      <p:sp>
        <p:nvSpPr>
          <p:cNvPr id="24" name="TextBox 23"/>
          <p:cNvSpPr txBox="1"/>
          <p:nvPr/>
        </p:nvSpPr>
        <p:spPr>
          <a:xfrm>
            <a:off x="6080760" y="2578608"/>
            <a:ext cx="1143000" cy="274320"/>
          </a:xfrm>
          <a:prstGeom prst="rect">
            <a:avLst/>
          </a:prstGeom>
          <a:noFill/>
        </p:spPr>
        <p:txBody>
          <a:bodyPr wrap="square">
            <a:spAutoFit/>
          </a:bodyPr>
          <a:lstStyle/>
          <a:p>
            <a:pPr algn="ctr"/>
            <a:r>
              <a:rPr sz="1000" b="1" i="0">
                <a:solidFill>
                  <a:srgbClr val="8888AA"/>
                </a:solidFill>
              </a:rPr>
              <a:t>DynTile</a:t>
            </a:r>
          </a:p>
        </p:txBody>
      </p:sp>
      <p:sp>
        <p:nvSpPr>
          <p:cNvPr id="25" name="TextBox 24"/>
          <p:cNvSpPr txBox="1"/>
          <p:nvPr/>
        </p:nvSpPr>
        <p:spPr>
          <a:xfrm>
            <a:off x="7269480" y="2578608"/>
            <a:ext cx="1143000" cy="274320"/>
          </a:xfrm>
          <a:prstGeom prst="rect">
            <a:avLst/>
          </a:prstGeom>
          <a:noFill/>
        </p:spPr>
        <p:txBody>
          <a:bodyPr wrap="square">
            <a:spAutoFit/>
          </a:bodyPr>
          <a:lstStyle/>
          <a:p>
            <a:pPr algn="ctr"/>
            <a:r>
              <a:rPr sz="1000" b="1" i="0">
                <a:solidFill>
                  <a:srgbClr val="8888AA"/>
                </a:solidFill>
              </a:rPr>
              <a:t>All</a:t>
            </a:r>
          </a:p>
        </p:txBody>
      </p:sp>
      <p:sp>
        <p:nvSpPr>
          <p:cNvPr id="26" name="TextBox 25"/>
          <p:cNvSpPr txBox="1"/>
          <p:nvPr/>
        </p:nvSpPr>
        <p:spPr>
          <a:xfrm>
            <a:off x="8732520" y="2578608"/>
            <a:ext cx="1463040" cy="274320"/>
          </a:xfrm>
          <a:prstGeom prst="rect">
            <a:avLst/>
          </a:prstGeom>
          <a:noFill/>
        </p:spPr>
        <p:txBody>
          <a:bodyPr wrap="square">
            <a:spAutoFit/>
          </a:bodyPr>
          <a:lstStyle/>
          <a:p>
            <a:pPr algn="ctr"/>
            <a:r>
              <a:rPr sz="1000" b="1" i="0">
                <a:solidFill>
                  <a:srgbClr val="8888AA"/>
                </a:solidFill>
              </a:rPr>
              <a:t>AVX512Sim</a:t>
            </a:r>
          </a:p>
        </p:txBody>
      </p:sp>
      <p:sp>
        <p:nvSpPr>
          <p:cNvPr id="27" name="Rectangle 26"/>
          <p:cNvSpPr/>
          <p:nvPr/>
        </p:nvSpPr>
        <p:spPr>
          <a:xfrm>
            <a:off x="320040" y="2898648"/>
            <a:ext cx="11365992" cy="9144"/>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0040" y="2962656"/>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2999232"/>
            <a:ext cx="914400" cy="256032"/>
          </a:xfrm>
          <a:prstGeom prst="rect">
            <a:avLst/>
          </a:prstGeom>
          <a:noFill/>
        </p:spPr>
        <p:txBody>
          <a:bodyPr wrap="square">
            <a:spAutoFit/>
          </a:bodyPr>
          <a:lstStyle/>
          <a:p>
            <a:pPr algn="ctr"/>
            <a:r>
              <a:rPr sz="1000" b="1" i="0">
                <a:solidFill>
                  <a:srgbClr val="FFFFFF"/>
                </a:solidFill>
              </a:rPr>
              <a:t>10K</a:t>
            </a:r>
          </a:p>
        </p:txBody>
      </p:sp>
      <p:sp>
        <p:nvSpPr>
          <p:cNvPr id="30" name="TextBox 29"/>
          <p:cNvSpPr txBox="1"/>
          <p:nvPr/>
        </p:nvSpPr>
        <p:spPr>
          <a:xfrm>
            <a:off x="1325880" y="2999232"/>
            <a:ext cx="1143000" cy="256032"/>
          </a:xfrm>
          <a:prstGeom prst="rect">
            <a:avLst/>
          </a:prstGeom>
          <a:noFill/>
        </p:spPr>
        <p:txBody>
          <a:bodyPr wrap="square">
            <a:spAutoFit/>
          </a:bodyPr>
          <a:lstStyle/>
          <a:p>
            <a:pPr algn="ctr"/>
            <a:r>
              <a:rPr sz="1000" b="0" i="0">
                <a:solidFill>
                  <a:srgbClr val="FFFFFF"/>
                </a:solidFill>
              </a:rPr>
              <a:t>11</a:t>
            </a:r>
          </a:p>
        </p:txBody>
      </p:sp>
      <p:sp>
        <p:nvSpPr>
          <p:cNvPr id="31" name="TextBox 30"/>
          <p:cNvSpPr txBox="1"/>
          <p:nvPr/>
        </p:nvSpPr>
        <p:spPr>
          <a:xfrm>
            <a:off x="2514600" y="2999232"/>
            <a:ext cx="1143000" cy="256032"/>
          </a:xfrm>
          <a:prstGeom prst="rect">
            <a:avLst/>
          </a:prstGeom>
          <a:noFill/>
        </p:spPr>
        <p:txBody>
          <a:bodyPr wrap="square">
            <a:spAutoFit/>
          </a:bodyPr>
          <a:lstStyle/>
          <a:p>
            <a:pPr algn="ctr"/>
            <a:r>
              <a:rPr sz="1000" b="0" i="0">
                <a:solidFill>
                  <a:srgbClr val="FF4D6D"/>
                </a:solidFill>
              </a:rPr>
              <a:t>26</a:t>
            </a:r>
          </a:p>
        </p:txBody>
      </p:sp>
      <p:sp>
        <p:nvSpPr>
          <p:cNvPr id="32" name="TextBox 31"/>
          <p:cNvSpPr txBox="1"/>
          <p:nvPr/>
        </p:nvSpPr>
        <p:spPr>
          <a:xfrm>
            <a:off x="3703320" y="2999232"/>
            <a:ext cx="1143000" cy="256032"/>
          </a:xfrm>
          <a:prstGeom prst="rect">
            <a:avLst/>
          </a:prstGeom>
          <a:noFill/>
        </p:spPr>
        <p:txBody>
          <a:bodyPr wrap="square">
            <a:spAutoFit/>
          </a:bodyPr>
          <a:lstStyle/>
          <a:p>
            <a:pPr algn="ctr"/>
            <a:r>
              <a:rPr sz="1000" b="0" i="0">
                <a:solidFill>
                  <a:srgbClr val="FF4D6D"/>
                </a:solidFill>
              </a:rPr>
              <a:t>12</a:t>
            </a:r>
          </a:p>
        </p:txBody>
      </p:sp>
      <p:sp>
        <p:nvSpPr>
          <p:cNvPr id="33" name="TextBox 32"/>
          <p:cNvSpPr txBox="1"/>
          <p:nvPr/>
        </p:nvSpPr>
        <p:spPr>
          <a:xfrm>
            <a:off x="4892040" y="2999232"/>
            <a:ext cx="1143000" cy="256032"/>
          </a:xfrm>
          <a:prstGeom prst="rect">
            <a:avLst/>
          </a:prstGeom>
          <a:noFill/>
        </p:spPr>
        <p:txBody>
          <a:bodyPr wrap="square">
            <a:spAutoFit/>
          </a:bodyPr>
          <a:lstStyle/>
          <a:p>
            <a:pPr algn="ctr"/>
            <a:r>
              <a:rPr sz="1000" b="0" i="0">
                <a:solidFill>
                  <a:srgbClr val="FF4D6D"/>
                </a:solidFill>
              </a:rPr>
              <a:t>12</a:t>
            </a:r>
          </a:p>
        </p:txBody>
      </p:sp>
      <p:sp>
        <p:nvSpPr>
          <p:cNvPr id="34" name="TextBox 33"/>
          <p:cNvSpPr txBox="1"/>
          <p:nvPr/>
        </p:nvSpPr>
        <p:spPr>
          <a:xfrm>
            <a:off x="6080760" y="2999232"/>
            <a:ext cx="1143000" cy="256032"/>
          </a:xfrm>
          <a:prstGeom prst="rect">
            <a:avLst/>
          </a:prstGeom>
          <a:noFill/>
        </p:spPr>
        <p:txBody>
          <a:bodyPr wrap="square">
            <a:spAutoFit/>
          </a:bodyPr>
          <a:lstStyle/>
          <a:p>
            <a:pPr algn="ctr"/>
            <a:r>
              <a:rPr sz="1000" b="1" i="0">
                <a:solidFill>
                  <a:srgbClr val="00E596"/>
                </a:solidFill>
              </a:rPr>
              <a:t>10</a:t>
            </a:r>
          </a:p>
        </p:txBody>
      </p:sp>
      <p:sp>
        <p:nvSpPr>
          <p:cNvPr id="35" name="TextBox 34"/>
          <p:cNvSpPr txBox="1"/>
          <p:nvPr/>
        </p:nvSpPr>
        <p:spPr>
          <a:xfrm>
            <a:off x="7269480" y="2999232"/>
            <a:ext cx="1143000" cy="256032"/>
          </a:xfrm>
          <a:prstGeom prst="rect">
            <a:avLst/>
          </a:prstGeom>
          <a:noFill/>
        </p:spPr>
        <p:txBody>
          <a:bodyPr wrap="square">
            <a:spAutoFit/>
          </a:bodyPr>
          <a:lstStyle/>
          <a:p>
            <a:pPr algn="ctr"/>
            <a:r>
              <a:rPr sz="1000" b="0" i="0">
                <a:solidFill>
                  <a:srgbClr val="FF4D6D"/>
                </a:solidFill>
              </a:rPr>
              <a:t>26</a:t>
            </a:r>
          </a:p>
        </p:txBody>
      </p:sp>
      <p:sp>
        <p:nvSpPr>
          <p:cNvPr id="36" name="TextBox 35"/>
          <p:cNvSpPr txBox="1"/>
          <p:nvPr/>
        </p:nvSpPr>
        <p:spPr>
          <a:xfrm>
            <a:off x="8732520" y="2999232"/>
            <a:ext cx="1463040" cy="256032"/>
          </a:xfrm>
          <a:prstGeom prst="rect">
            <a:avLst/>
          </a:prstGeom>
          <a:noFill/>
        </p:spPr>
        <p:txBody>
          <a:bodyPr wrap="square">
            <a:spAutoFit/>
          </a:bodyPr>
          <a:lstStyle/>
          <a:p>
            <a:pPr algn="ctr"/>
            <a:r>
              <a:rPr sz="1000" b="0" i="0">
                <a:solidFill>
                  <a:srgbClr val="FFFFFF"/>
                </a:solidFill>
              </a:rPr>
              <a:t>11</a:t>
            </a:r>
          </a:p>
        </p:txBody>
      </p:sp>
      <p:sp>
        <p:nvSpPr>
          <p:cNvPr id="37" name="Rectangle 36"/>
          <p:cNvSpPr/>
          <p:nvPr/>
        </p:nvSpPr>
        <p:spPr>
          <a:xfrm>
            <a:off x="320040" y="3310128"/>
            <a:ext cx="11365992" cy="329184"/>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3346704"/>
            <a:ext cx="914400" cy="256032"/>
          </a:xfrm>
          <a:prstGeom prst="rect">
            <a:avLst/>
          </a:prstGeom>
          <a:noFill/>
        </p:spPr>
        <p:txBody>
          <a:bodyPr wrap="square">
            <a:spAutoFit/>
          </a:bodyPr>
          <a:lstStyle/>
          <a:p>
            <a:pPr algn="ctr"/>
            <a:r>
              <a:rPr sz="1000" b="1" i="0">
                <a:solidFill>
                  <a:srgbClr val="FFFFFF"/>
                </a:solidFill>
              </a:rPr>
              <a:t>50K</a:t>
            </a:r>
          </a:p>
        </p:txBody>
      </p:sp>
      <p:sp>
        <p:nvSpPr>
          <p:cNvPr id="39" name="TextBox 38"/>
          <p:cNvSpPr txBox="1"/>
          <p:nvPr/>
        </p:nvSpPr>
        <p:spPr>
          <a:xfrm>
            <a:off x="1325880" y="3346704"/>
            <a:ext cx="1143000" cy="256032"/>
          </a:xfrm>
          <a:prstGeom prst="rect">
            <a:avLst/>
          </a:prstGeom>
          <a:noFill/>
        </p:spPr>
        <p:txBody>
          <a:bodyPr wrap="square">
            <a:spAutoFit/>
          </a:bodyPr>
          <a:lstStyle/>
          <a:p>
            <a:pPr algn="ctr"/>
            <a:r>
              <a:rPr sz="1000" b="0" i="0">
                <a:solidFill>
                  <a:srgbClr val="FFFFFF"/>
                </a:solidFill>
              </a:rPr>
              <a:t>78</a:t>
            </a:r>
          </a:p>
        </p:txBody>
      </p:sp>
      <p:sp>
        <p:nvSpPr>
          <p:cNvPr id="40" name="TextBox 39"/>
          <p:cNvSpPr txBox="1"/>
          <p:nvPr/>
        </p:nvSpPr>
        <p:spPr>
          <a:xfrm>
            <a:off x="2514600" y="3346704"/>
            <a:ext cx="1143000" cy="256032"/>
          </a:xfrm>
          <a:prstGeom prst="rect">
            <a:avLst/>
          </a:prstGeom>
          <a:noFill/>
        </p:spPr>
        <p:txBody>
          <a:bodyPr wrap="square">
            <a:spAutoFit/>
          </a:bodyPr>
          <a:lstStyle/>
          <a:p>
            <a:pPr algn="ctr"/>
            <a:r>
              <a:rPr sz="1000" b="0" i="0">
                <a:solidFill>
                  <a:srgbClr val="FFFFFF"/>
                </a:solidFill>
              </a:rPr>
              <a:t>37</a:t>
            </a:r>
          </a:p>
        </p:txBody>
      </p:sp>
      <p:sp>
        <p:nvSpPr>
          <p:cNvPr id="41" name="TextBox 40"/>
          <p:cNvSpPr txBox="1"/>
          <p:nvPr/>
        </p:nvSpPr>
        <p:spPr>
          <a:xfrm>
            <a:off x="3703320" y="3346704"/>
            <a:ext cx="1143000" cy="256032"/>
          </a:xfrm>
          <a:prstGeom prst="rect">
            <a:avLst/>
          </a:prstGeom>
          <a:noFill/>
        </p:spPr>
        <p:txBody>
          <a:bodyPr wrap="square">
            <a:spAutoFit/>
          </a:bodyPr>
          <a:lstStyle/>
          <a:p>
            <a:pPr algn="ctr"/>
            <a:r>
              <a:rPr sz="1000" b="0" i="0">
                <a:solidFill>
                  <a:srgbClr val="FF4D6D"/>
                </a:solidFill>
              </a:rPr>
              <a:t>82</a:t>
            </a:r>
          </a:p>
        </p:txBody>
      </p:sp>
      <p:sp>
        <p:nvSpPr>
          <p:cNvPr id="42" name="TextBox 41"/>
          <p:cNvSpPr txBox="1"/>
          <p:nvPr/>
        </p:nvSpPr>
        <p:spPr>
          <a:xfrm>
            <a:off x="4892040" y="3346704"/>
            <a:ext cx="1143000" cy="256032"/>
          </a:xfrm>
          <a:prstGeom prst="rect">
            <a:avLst/>
          </a:prstGeom>
          <a:noFill/>
        </p:spPr>
        <p:txBody>
          <a:bodyPr wrap="square">
            <a:spAutoFit/>
          </a:bodyPr>
          <a:lstStyle/>
          <a:p>
            <a:pPr algn="ctr"/>
            <a:r>
              <a:rPr sz="1000" b="0" i="0">
                <a:solidFill>
                  <a:srgbClr val="FFFFFF"/>
                </a:solidFill>
              </a:rPr>
              <a:t>78</a:t>
            </a:r>
          </a:p>
        </p:txBody>
      </p:sp>
      <p:sp>
        <p:nvSpPr>
          <p:cNvPr id="43" name="TextBox 42"/>
          <p:cNvSpPr txBox="1"/>
          <p:nvPr/>
        </p:nvSpPr>
        <p:spPr>
          <a:xfrm>
            <a:off x="6080760" y="3346704"/>
            <a:ext cx="1143000" cy="256032"/>
          </a:xfrm>
          <a:prstGeom prst="rect">
            <a:avLst/>
          </a:prstGeom>
          <a:noFill/>
        </p:spPr>
        <p:txBody>
          <a:bodyPr wrap="square">
            <a:spAutoFit/>
          </a:bodyPr>
          <a:lstStyle/>
          <a:p>
            <a:pPr algn="ctr"/>
            <a:r>
              <a:rPr sz="1000" b="0" i="0">
                <a:solidFill>
                  <a:srgbClr val="FFFFFF"/>
                </a:solidFill>
              </a:rPr>
              <a:t>70</a:t>
            </a:r>
          </a:p>
        </p:txBody>
      </p:sp>
      <p:sp>
        <p:nvSpPr>
          <p:cNvPr id="44" name="TextBox 43"/>
          <p:cNvSpPr txBox="1"/>
          <p:nvPr/>
        </p:nvSpPr>
        <p:spPr>
          <a:xfrm>
            <a:off x="7269480" y="3346704"/>
            <a:ext cx="1143000" cy="256032"/>
          </a:xfrm>
          <a:prstGeom prst="rect">
            <a:avLst/>
          </a:prstGeom>
          <a:noFill/>
        </p:spPr>
        <p:txBody>
          <a:bodyPr wrap="square">
            <a:spAutoFit/>
          </a:bodyPr>
          <a:lstStyle/>
          <a:p>
            <a:pPr algn="ctr"/>
            <a:r>
              <a:rPr sz="1000" b="1" i="0">
                <a:solidFill>
                  <a:srgbClr val="00E596"/>
                </a:solidFill>
              </a:rPr>
              <a:t>37</a:t>
            </a:r>
          </a:p>
        </p:txBody>
      </p:sp>
      <p:sp>
        <p:nvSpPr>
          <p:cNvPr id="45" name="TextBox 44"/>
          <p:cNvSpPr txBox="1"/>
          <p:nvPr/>
        </p:nvSpPr>
        <p:spPr>
          <a:xfrm>
            <a:off x="8732520" y="3346704"/>
            <a:ext cx="1463040" cy="256032"/>
          </a:xfrm>
          <a:prstGeom prst="rect">
            <a:avLst/>
          </a:prstGeom>
          <a:noFill/>
        </p:spPr>
        <p:txBody>
          <a:bodyPr wrap="square">
            <a:spAutoFit/>
          </a:bodyPr>
          <a:lstStyle/>
          <a:p>
            <a:pPr algn="ctr"/>
            <a:r>
              <a:rPr sz="1000" b="0" i="0">
                <a:solidFill>
                  <a:srgbClr val="FFFFFF"/>
                </a:solidFill>
              </a:rPr>
              <a:t>70</a:t>
            </a:r>
          </a:p>
        </p:txBody>
      </p:sp>
      <p:sp>
        <p:nvSpPr>
          <p:cNvPr id="46" name="Rectangle 45"/>
          <p:cNvSpPr/>
          <p:nvPr/>
        </p:nvSpPr>
        <p:spPr>
          <a:xfrm>
            <a:off x="320040" y="3657600"/>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3694176"/>
            <a:ext cx="914400" cy="256032"/>
          </a:xfrm>
          <a:prstGeom prst="rect">
            <a:avLst/>
          </a:prstGeom>
          <a:noFill/>
        </p:spPr>
        <p:txBody>
          <a:bodyPr wrap="square">
            <a:spAutoFit/>
          </a:bodyPr>
          <a:lstStyle/>
          <a:p>
            <a:pPr algn="ctr"/>
            <a:r>
              <a:rPr sz="1000" b="1" i="0">
                <a:solidFill>
                  <a:srgbClr val="FFFFFF"/>
                </a:solidFill>
              </a:rPr>
              <a:t>100K</a:t>
            </a:r>
          </a:p>
        </p:txBody>
      </p:sp>
      <p:sp>
        <p:nvSpPr>
          <p:cNvPr id="48" name="TextBox 47"/>
          <p:cNvSpPr txBox="1"/>
          <p:nvPr/>
        </p:nvSpPr>
        <p:spPr>
          <a:xfrm>
            <a:off x="1325880" y="3694176"/>
            <a:ext cx="1143000" cy="256032"/>
          </a:xfrm>
          <a:prstGeom prst="rect">
            <a:avLst/>
          </a:prstGeom>
          <a:noFill/>
        </p:spPr>
        <p:txBody>
          <a:bodyPr wrap="square">
            <a:spAutoFit/>
          </a:bodyPr>
          <a:lstStyle/>
          <a:p>
            <a:pPr algn="ctr"/>
            <a:r>
              <a:rPr sz="1000" b="0" i="0">
                <a:solidFill>
                  <a:srgbClr val="FFFFFF"/>
                </a:solidFill>
              </a:rPr>
              <a:t>171</a:t>
            </a:r>
          </a:p>
        </p:txBody>
      </p:sp>
      <p:sp>
        <p:nvSpPr>
          <p:cNvPr id="49" name="TextBox 48"/>
          <p:cNvSpPr txBox="1"/>
          <p:nvPr/>
        </p:nvSpPr>
        <p:spPr>
          <a:xfrm>
            <a:off x="2514600" y="3694176"/>
            <a:ext cx="1143000" cy="256032"/>
          </a:xfrm>
          <a:prstGeom prst="rect">
            <a:avLst/>
          </a:prstGeom>
          <a:noFill/>
        </p:spPr>
        <p:txBody>
          <a:bodyPr wrap="square">
            <a:spAutoFit/>
          </a:bodyPr>
          <a:lstStyle/>
          <a:p>
            <a:pPr algn="ctr"/>
            <a:r>
              <a:rPr sz="1000" b="0" i="0">
                <a:solidFill>
                  <a:srgbClr val="FFFFFF"/>
                </a:solidFill>
              </a:rPr>
              <a:t>68</a:t>
            </a:r>
          </a:p>
        </p:txBody>
      </p:sp>
      <p:sp>
        <p:nvSpPr>
          <p:cNvPr id="50" name="TextBox 49"/>
          <p:cNvSpPr txBox="1"/>
          <p:nvPr/>
        </p:nvSpPr>
        <p:spPr>
          <a:xfrm>
            <a:off x="3703320" y="3694176"/>
            <a:ext cx="1143000" cy="256032"/>
          </a:xfrm>
          <a:prstGeom prst="rect">
            <a:avLst/>
          </a:prstGeom>
          <a:noFill/>
        </p:spPr>
        <p:txBody>
          <a:bodyPr wrap="square">
            <a:spAutoFit/>
          </a:bodyPr>
          <a:lstStyle/>
          <a:p>
            <a:pPr algn="ctr"/>
            <a:r>
              <a:rPr sz="1000" b="0" i="0">
                <a:solidFill>
                  <a:srgbClr val="FFFFFF"/>
                </a:solidFill>
              </a:rPr>
              <a:t>170</a:t>
            </a:r>
          </a:p>
        </p:txBody>
      </p:sp>
      <p:sp>
        <p:nvSpPr>
          <p:cNvPr id="51" name="TextBox 50"/>
          <p:cNvSpPr txBox="1"/>
          <p:nvPr/>
        </p:nvSpPr>
        <p:spPr>
          <a:xfrm>
            <a:off x="4892040" y="3694176"/>
            <a:ext cx="1143000" cy="256032"/>
          </a:xfrm>
          <a:prstGeom prst="rect">
            <a:avLst/>
          </a:prstGeom>
          <a:noFill/>
        </p:spPr>
        <p:txBody>
          <a:bodyPr wrap="square">
            <a:spAutoFit/>
          </a:bodyPr>
          <a:lstStyle/>
          <a:p>
            <a:pPr algn="ctr"/>
            <a:r>
              <a:rPr sz="1000" b="0" i="0">
                <a:solidFill>
                  <a:srgbClr val="FF4D6D"/>
                </a:solidFill>
              </a:rPr>
              <a:t>185</a:t>
            </a:r>
          </a:p>
        </p:txBody>
      </p:sp>
      <p:sp>
        <p:nvSpPr>
          <p:cNvPr id="52" name="TextBox 51"/>
          <p:cNvSpPr txBox="1"/>
          <p:nvPr/>
        </p:nvSpPr>
        <p:spPr>
          <a:xfrm>
            <a:off x="6080760" y="3694176"/>
            <a:ext cx="1143000" cy="256032"/>
          </a:xfrm>
          <a:prstGeom prst="rect">
            <a:avLst/>
          </a:prstGeom>
          <a:noFill/>
        </p:spPr>
        <p:txBody>
          <a:bodyPr wrap="square">
            <a:spAutoFit/>
          </a:bodyPr>
          <a:lstStyle/>
          <a:p>
            <a:pPr algn="ctr"/>
            <a:r>
              <a:rPr sz="1000" b="0" i="0">
                <a:solidFill>
                  <a:srgbClr val="FFFFFF"/>
                </a:solidFill>
              </a:rPr>
              <a:t>157</a:t>
            </a:r>
          </a:p>
        </p:txBody>
      </p:sp>
      <p:sp>
        <p:nvSpPr>
          <p:cNvPr id="53" name="TextBox 52"/>
          <p:cNvSpPr txBox="1"/>
          <p:nvPr/>
        </p:nvSpPr>
        <p:spPr>
          <a:xfrm>
            <a:off x="7269480" y="3694176"/>
            <a:ext cx="1143000" cy="256032"/>
          </a:xfrm>
          <a:prstGeom prst="rect">
            <a:avLst/>
          </a:prstGeom>
          <a:noFill/>
        </p:spPr>
        <p:txBody>
          <a:bodyPr wrap="square">
            <a:spAutoFit/>
          </a:bodyPr>
          <a:lstStyle/>
          <a:p>
            <a:pPr algn="ctr"/>
            <a:r>
              <a:rPr sz="1000" b="1" i="0">
                <a:solidFill>
                  <a:srgbClr val="00E596"/>
                </a:solidFill>
              </a:rPr>
              <a:t>65</a:t>
            </a:r>
          </a:p>
        </p:txBody>
      </p:sp>
      <p:sp>
        <p:nvSpPr>
          <p:cNvPr id="54" name="TextBox 53"/>
          <p:cNvSpPr txBox="1"/>
          <p:nvPr/>
        </p:nvSpPr>
        <p:spPr>
          <a:xfrm>
            <a:off x="8732520" y="3694176"/>
            <a:ext cx="1463040" cy="256032"/>
          </a:xfrm>
          <a:prstGeom prst="rect">
            <a:avLst/>
          </a:prstGeom>
          <a:noFill/>
        </p:spPr>
        <p:txBody>
          <a:bodyPr wrap="square">
            <a:spAutoFit/>
          </a:bodyPr>
          <a:lstStyle/>
          <a:p>
            <a:pPr algn="ctr"/>
            <a:r>
              <a:rPr sz="1000" b="0" i="0">
                <a:solidFill>
                  <a:srgbClr val="FFFFFF"/>
                </a:solidFill>
              </a:rPr>
              <a:t>154</a:t>
            </a:r>
          </a:p>
        </p:txBody>
      </p:sp>
      <p:sp>
        <p:nvSpPr>
          <p:cNvPr id="55" name="Rectangle 54"/>
          <p:cNvSpPr/>
          <p:nvPr/>
        </p:nvSpPr>
        <p:spPr>
          <a:xfrm>
            <a:off x="320040" y="4005072"/>
            <a:ext cx="11365992" cy="329184"/>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0040" y="4041648"/>
            <a:ext cx="914400" cy="256032"/>
          </a:xfrm>
          <a:prstGeom prst="rect">
            <a:avLst/>
          </a:prstGeom>
          <a:noFill/>
        </p:spPr>
        <p:txBody>
          <a:bodyPr wrap="square">
            <a:spAutoFit/>
          </a:bodyPr>
          <a:lstStyle/>
          <a:p>
            <a:pPr algn="ctr"/>
            <a:r>
              <a:rPr sz="1000" b="1" i="0">
                <a:solidFill>
                  <a:srgbClr val="FFFFFF"/>
                </a:solidFill>
              </a:rPr>
              <a:t>250K</a:t>
            </a:r>
          </a:p>
        </p:txBody>
      </p:sp>
      <p:sp>
        <p:nvSpPr>
          <p:cNvPr id="57" name="TextBox 56"/>
          <p:cNvSpPr txBox="1"/>
          <p:nvPr/>
        </p:nvSpPr>
        <p:spPr>
          <a:xfrm>
            <a:off x="1325880" y="4041648"/>
            <a:ext cx="1143000" cy="256032"/>
          </a:xfrm>
          <a:prstGeom prst="rect">
            <a:avLst/>
          </a:prstGeom>
          <a:noFill/>
        </p:spPr>
        <p:txBody>
          <a:bodyPr wrap="square">
            <a:spAutoFit/>
          </a:bodyPr>
          <a:lstStyle/>
          <a:p>
            <a:pPr algn="ctr"/>
            <a:r>
              <a:rPr sz="1000" b="0" i="0">
                <a:solidFill>
                  <a:srgbClr val="FFFFFF"/>
                </a:solidFill>
              </a:rPr>
              <a:t>480</a:t>
            </a:r>
          </a:p>
        </p:txBody>
      </p:sp>
      <p:sp>
        <p:nvSpPr>
          <p:cNvPr id="58" name="TextBox 57"/>
          <p:cNvSpPr txBox="1"/>
          <p:nvPr/>
        </p:nvSpPr>
        <p:spPr>
          <a:xfrm>
            <a:off x="2514600" y="4041648"/>
            <a:ext cx="1143000" cy="256032"/>
          </a:xfrm>
          <a:prstGeom prst="rect">
            <a:avLst/>
          </a:prstGeom>
          <a:noFill/>
        </p:spPr>
        <p:txBody>
          <a:bodyPr wrap="square">
            <a:spAutoFit/>
          </a:bodyPr>
          <a:lstStyle/>
          <a:p>
            <a:pPr algn="ctr"/>
            <a:r>
              <a:rPr sz="1000" b="1" i="0">
                <a:solidFill>
                  <a:srgbClr val="00E596"/>
                </a:solidFill>
              </a:rPr>
              <a:t>194</a:t>
            </a:r>
          </a:p>
        </p:txBody>
      </p:sp>
      <p:sp>
        <p:nvSpPr>
          <p:cNvPr id="59" name="TextBox 58"/>
          <p:cNvSpPr txBox="1"/>
          <p:nvPr/>
        </p:nvSpPr>
        <p:spPr>
          <a:xfrm>
            <a:off x="3703320" y="4041648"/>
            <a:ext cx="1143000" cy="256032"/>
          </a:xfrm>
          <a:prstGeom prst="rect">
            <a:avLst/>
          </a:prstGeom>
          <a:noFill/>
        </p:spPr>
        <p:txBody>
          <a:bodyPr wrap="square">
            <a:spAutoFit/>
          </a:bodyPr>
          <a:lstStyle/>
          <a:p>
            <a:pPr algn="ctr"/>
            <a:r>
              <a:rPr sz="1000" b="0" i="0">
                <a:solidFill>
                  <a:srgbClr val="FFFFFF"/>
                </a:solidFill>
              </a:rPr>
              <a:t>474</a:t>
            </a:r>
          </a:p>
        </p:txBody>
      </p:sp>
      <p:sp>
        <p:nvSpPr>
          <p:cNvPr id="60" name="TextBox 59"/>
          <p:cNvSpPr txBox="1"/>
          <p:nvPr/>
        </p:nvSpPr>
        <p:spPr>
          <a:xfrm>
            <a:off x="4892040" y="4041648"/>
            <a:ext cx="1143000" cy="256032"/>
          </a:xfrm>
          <a:prstGeom prst="rect">
            <a:avLst/>
          </a:prstGeom>
          <a:noFill/>
        </p:spPr>
        <p:txBody>
          <a:bodyPr wrap="square">
            <a:spAutoFit/>
          </a:bodyPr>
          <a:lstStyle/>
          <a:p>
            <a:pPr algn="ctr"/>
            <a:r>
              <a:rPr sz="1000" b="0" i="0">
                <a:solidFill>
                  <a:srgbClr val="FFFFFF"/>
                </a:solidFill>
              </a:rPr>
              <a:t>457</a:t>
            </a:r>
          </a:p>
        </p:txBody>
      </p:sp>
      <p:sp>
        <p:nvSpPr>
          <p:cNvPr id="61" name="TextBox 60"/>
          <p:cNvSpPr txBox="1"/>
          <p:nvPr/>
        </p:nvSpPr>
        <p:spPr>
          <a:xfrm>
            <a:off x="6080760" y="4041648"/>
            <a:ext cx="1143000" cy="256032"/>
          </a:xfrm>
          <a:prstGeom prst="rect">
            <a:avLst/>
          </a:prstGeom>
          <a:noFill/>
        </p:spPr>
        <p:txBody>
          <a:bodyPr wrap="square">
            <a:spAutoFit/>
          </a:bodyPr>
          <a:lstStyle/>
          <a:p>
            <a:pPr algn="ctr"/>
            <a:r>
              <a:rPr sz="1000" b="0" i="0">
                <a:solidFill>
                  <a:srgbClr val="FF4D6D"/>
                </a:solidFill>
              </a:rPr>
              <a:t>492</a:t>
            </a:r>
          </a:p>
        </p:txBody>
      </p:sp>
      <p:sp>
        <p:nvSpPr>
          <p:cNvPr id="62" name="TextBox 61"/>
          <p:cNvSpPr txBox="1"/>
          <p:nvPr/>
        </p:nvSpPr>
        <p:spPr>
          <a:xfrm>
            <a:off x="7269480" y="4041648"/>
            <a:ext cx="1143000" cy="256032"/>
          </a:xfrm>
          <a:prstGeom prst="rect">
            <a:avLst/>
          </a:prstGeom>
          <a:noFill/>
        </p:spPr>
        <p:txBody>
          <a:bodyPr wrap="square">
            <a:spAutoFit/>
          </a:bodyPr>
          <a:lstStyle/>
          <a:p>
            <a:pPr algn="ctr"/>
            <a:r>
              <a:rPr sz="1000" b="0" i="0">
                <a:solidFill>
                  <a:srgbClr val="FFFFFF"/>
                </a:solidFill>
              </a:rPr>
              <a:t>203</a:t>
            </a:r>
          </a:p>
        </p:txBody>
      </p:sp>
      <p:sp>
        <p:nvSpPr>
          <p:cNvPr id="63" name="TextBox 62"/>
          <p:cNvSpPr txBox="1"/>
          <p:nvPr/>
        </p:nvSpPr>
        <p:spPr>
          <a:xfrm>
            <a:off x="8732520" y="4041648"/>
            <a:ext cx="1463040" cy="256032"/>
          </a:xfrm>
          <a:prstGeom prst="rect">
            <a:avLst/>
          </a:prstGeom>
          <a:noFill/>
        </p:spPr>
        <p:txBody>
          <a:bodyPr wrap="square">
            <a:spAutoFit/>
          </a:bodyPr>
          <a:lstStyle/>
          <a:p>
            <a:pPr algn="ctr"/>
            <a:r>
              <a:rPr sz="1000" b="0" i="0">
                <a:solidFill>
                  <a:srgbClr val="FFFFFF"/>
                </a:solidFill>
              </a:rPr>
              <a:t>456</a:t>
            </a:r>
          </a:p>
        </p:txBody>
      </p:sp>
      <p:sp>
        <p:nvSpPr>
          <p:cNvPr id="64" name="Rectangle 63"/>
          <p:cNvSpPr/>
          <p:nvPr/>
        </p:nvSpPr>
        <p:spPr>
          <a:xfrm>
            <a:off x="320040" y="4352544"/>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0040" y="4389120"/>
            <a:ext cx="914400" cy="256032"/>
          </a:xfrm>
          <a:prstGeom prst="rect">
            <a:avLst/>
          </a:prstGeom>
          <a:noFill/>
        </p:spPr>
        <p:txBody>
          <a:bodyPr wrap="square">
            <a:spAutoFit/>
          </a:bodyPr>
          <a:lstStyle/>
          <a:p>
            <a:pPr algn="ctr"/>
            <a:r>
              <a:rPr sz="1000" b="1" i="0">
                <a:solidFill>
                  <a:srgbClr val="FFFFFF"/>
                </a:solidFill>
              </a:rPr>
              <a:t>500K</a:t>
            </a:r>
          </a:p>
        </p:txBody>
      </p:sp>
      <p:sp>
        <p:nvSpPr>
          <p:cNvPr id="66" name="TextBox 65"/>
          <p:cNvSpPr txBox="1"/>
          <p:nvPr/>
        </p:nvSpPr>
        <p:spPr>
          <a:xfrm>
            <a:off x="1325880" y="4389120"/>
            <a:ext cx="1143000" cy="256032"/>
          </a:xfrm>
          <a:prstGeom prst="rect">
            <a:avLst/>
          </a:prstGeom>
          <a:noFill/>
        </p:spPr>
        <p:txBody>
          <a:bodyPr wrap="square">
            <a:spAutoFit/>
          </a:bodyPr>
          <a:lstStyle/>
          <a:p>
            <a:pPr algn="ctr"/>
            <a:r>
              <a:rPr sz="1000" b="0" i="0">
                <a:solidFill>
                  <a:srgbClr val="FFFFFF"/>
                </a:solidFill>
              </a:rPr>
              <a:t>1178</a:t>
            </a:r>
          </a:p>
        </p:txBody>
      </p:sp>
      <p:sp>
        <p:nvSpPr>
          <p:cNvPr id="67" name="TextBox 66"/>
          <p:cNvSpPr txBox="1"/>
          <p:nvPr/>
        </p:nvSpPr>
        <p:spPr>
          <a:xfrm>
            <a:off x="2514600" y="4389120"/>
            <a:ext cx="1143000" cy="256032"/>
          </a:xfrm>
          <a:prstGeom prst="rect">
            <a:avLst/>
          </a:prstGeom>
          <a:noFill/>
        </p:spPr>
        <p:txBody>
          <a:bodyPr wrap="square">
            <a:spAutoFit/>
          </a:bodyPr>
          <a:lstStyle/>
          <a:p>
            <a:pPr algn="ctr"/>
            <a:r>
              <a:rPr sz="1000" b="0" i="0">
                <a:solidFill>
                  <a:srgbClr val="FFFFFF"/>
                </a:solidFill>
              </a:rPr>
              <a:t>443</a:t>
            </a:r>
          </a:p>
        </p:txBody>
      </p:sp>
      <p:sp>
        <p:nvSpPr>
          <p:cNvPr id="68" name="TextBox 67"/>
          <p:cNvSpPr txBox="1"/>
          <p:nvPr/>
        </p:nvSpPr>
        <p:spPr>
          <a:xfrm>
            <a:off x="3703320" y="4389120"/>
            <a:ext cx="1143000" cy="256032"/>
          </a:xfrm>
          <a:prstGeom prst="rect">
            <a:avLst/>
          </a:prstGeom>
          <a:noFill/>
        </p:spPr>
        <p:txBody>
          <a:bodyPr wrap="square">
            <a:spAutoFit/>
          </a:bodyPr>
          <a:lstStyle/>
          <a:p>
            <a:pPr algn="ctr"/>
            <a:r>
              <a:rPr sz="1000" b="0" i="0">
                <a:solidFill>
                  <a:srgbClr val="FFFFFF"/>
                </a:solidFill>
              </a:rPr>
              <a:t>1074</a:t>
            </a:r>
          </a:p>
        </p:txBody>
      </p:sp>
      <p:sp>
        <p:nvSpPr>
          <p:cNvPr id="69" name="TextBox 68"/>
          <p:cNvSpPr txBox="1"/>
          <p:nvPr/>
        </p:nvSpPr>
        <p:spPr>
          <a:xfrm>
            <a:off x="4892040" y="4389120"/>
            <a:ext cx="1143000" cy="256032"/>
          </a:xfrm>
          <a:prstGeom prst="rect">
            <a:avLst/>
          </a:prstGeom>
          <a:noFill/>
        </p:spPr>
        <p:txBody>
          <a:bodyPr wrap="square">
            <a:spAutoFit/>
          </a:bodyPr>
          <a:lstStyle/>
          <a:p>
            <a:pPr algn="ctr"/>
            <a:r>
              <a:rPr sz="1000" b="0" i="0">
                <a:solidFill>
                  <a:srgbClr val="FFFFFF"/>
                </a:solidFill>
              </a:rPr>
              <a:t>1020</a:t>
            </a:r>
          </a:p>
        </p:txBody>
      </p:sp>
      <p:sp>
        <p:nvSpPr>
          <p:cNvPr id="70" name="TextBox 69"/>
          <p:cNvSpPr txBox="1"/>
          <p:nvPr/>
        </p:nvSpPr>
        <p:spPr>
          <a:xfrm>
            <a:off x="6080760" y="4389120"/>
            <a:ext cx="1143000" cy="256032"/>
          </a:xfrm>
          <a:prstGeom prst="rect">
            <a:avLst/>
          </a:prstGeom>
          <a:noFill/>
        </p:spPr>
        <p:txBody>
          <a:bodyPr wrap="square">
            <a:spAutoFit/>
          </a:bodyPr>
          <a:lstStyle/>
          <a:p>
            <a:pPr algn="ctr"/>
            <a:r>
              <a:rPr sz="1000" b="0" i="0">
                <a:solidFill>
                  <a:srgbClr val="FFFFFF"/>
                </a:solidFill>
              </a:rPr>
              <a:t>919</a:t>
            </a:r>
          </a:p>
        </p:txBody>
      </p:sp>
      <p:sp>
        <p:nvSpPr>
          <p:cNvPr id="71" name="TextBox 70"/>
          <p:cNvSpPr txBox="1"/>
          <p:nvPr/>
        </p:nvSpPr>
        <p:spPr>
          <a:xfrm>
            <a:off x="7269480" y="4389120"/>
            <a:ext cx="1143000" cy="256032"/>
          </a:xfrm>
          <a:prstGeom prst="rect">
            <a:avLst/>
          </a:prstGeom>
          <a:noFill/>
        </p:spPr>
        <p:txBody>
          <a:bodyPr wrap="square">
            <a:spAutoFit/>
          </a:bodyPr>
          <a:lstStyle/>
          <a:p>
            <a:pPr algn="ctr"/>
            <a:r>
              <a:rPr sz="1000" b="1" i="0">
                <a:solidFill>
                  <a:srgbClr val="00E596"/>
                </a:solidFill>
              </a:rPr>
              <a:t>387</a:t>
            </a:r>
          </a:p>
        </p:txBody>
      </p:sp>
      <p:sp>
        <p:nvSpPr>
          <p:cNvPr id="72" name="TextBox 71"/>
          <p:cNvSpPr txBox="1"/>
          <p:nvPr/>
        </p:nvSpPr>
        <p:spPr>
          <a:xfrm>
            <a:off x="8732520" y="4389120"/>
            <a:ext cx="1463040" cy="256032"/>
          </a:xfrm>
          <a:prstGeom prst="rect">
            <a:avLst/>
          </a:prstGeom>
          <a:noFill/>
        </p:spPr>
        <p:txBody>
          <a:bodyPr wrap="square">
            <a:spAutoFit/>
          </a:bodyPr>
          <a:lstStyle/>
          <a:p>
            <a:pPr algn="ctr"/>
            <a:r>
              <a:rPr sz="1000" b="0" i="0">
                <a:solidFill>
                  <a:srgbClr val="FFFFFF"/>
                </a:solidFill>
              </a:rPr>
              <a:t>948</a:t>
            </a:r>
          </a:p>
        </p:txBody>
      </p:sp>
      <p:sp>
        <p:nvSpPr>
          <p:cNvPr id="73" name="Rectangle 72"/>
          <p:cNvSpPr/>
          <p:nvPr/>
        </p:nvSpPr>
        <p:spPr>
          <a:xfrm>
            <a:off x="320040" y="4700016"/>
            <a:ext cx="11365992" cy="329184"/>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0040" y="4736592"/>
            <a:ext cx="914400" cy="256032"/>
          </a:xfrm>
          <a:prstGeom prst="rect">
            <a:avLst/>
          </a:prstGeom>
          <a:noFill/>
        </p:spPr>
        <p:txBody>
          <a:bodyPr wrap="square">
            <a:spAutoFit/>
          </a:bodyPr>
          <a:lstStyle/>
          <a:p>
            <a:pPr algn="ctr"/>
            <a:r>
              <a:rPr sz="1000" b="1" i="0">
                <a:solidFill>
                  <a:srgbClr val="FFFFFF"/>
                </a:solidFill>
              </a:rPr>
              <a:t>750K</a:t>
            </a:r>
          </a:p>
        </p:txBody>
      </p:sp>
      <p:sp>
        <p:nvSpPr>
          <p:cNvPr id="75" name="TextBox 74"/>
          <p:cNvSpPr txBox="1"/>
          <p:nvPr/>
        </p:nvSpPr>
        <p:spPr>
          <a:xfrm>
            <a:off x="1325880" y="4736592"/>
            <a:ext cx="1143000" cy="256032"/>
          </a:xfrm>
          <a:prstGeom prst="rect">
            <a:avLst/>
          </a:prstGeom>
          <a:noFill/>
        </p:spPr>
        <p:txBody>
          <a:bodyPr wrap="square">
            <a:spAutoFit/>
          </a:bodyPr>
          <a:lstStyle/>
          <a:p>
            <a:pPr algn="ctr"/>
            <a:r>
              <a:rPr sz="1000" b="0" i="0">
                <a:solidFill>
                  <a:srgbClr val="FFFFFF"/>
                </a:solidFill>
              </a:rPr>
              <a:t>1656</a:t>
            </a:r>
          </a:p>
        </p:txBody>
      </p:sp>
      <p:sp>
        <p:nvSpPr>
          <p:cNvPr id="76" name="TextBox 75"/>
          <p:cNvSpPr txBox="1"/>
          <p:nvPr/>
        </p:nvSpPr>
        <p:spPr>
          <a:xfrm>
            <a:off x="2514600" y="4736592"/>
            <a:ext cx="1143000" cy="256032"/>
          </a:xfrm>
          <a:prstGeom prst="rect">
            <a:avLst/>
          </a:prstGeom>
          <a:noFill/>
        </p:spPr>
        <p:txBody>
          <a:bodyPr wrap="square">
            <a:spAutoFit/>
          </a:bodyPr>
          <a:lstStyle/>
          <a:p>
            <a:pPr algn="ctr"/>
            <a:r>
              <a:rPr sz="1000" b="0" i="0">
                <a:solidFill>
                  <a:srgbClr val="FFFFFF"/>
                </a:solidFill>
              </a:rPr>
              <a:t>656</a:t>
            </a:r>
          </a:p>
        </p:txBody>
      </p:sp>
      <p:sp>
        <p:nvSpPr>
          <p:cNvPr id="77" name="TextBox 76"/>
          <p:cNvSpPr txBox="1"/>
          <p:nvPr/>
        </p:nvSpPr>
        <p:spPr>
          <a:xfrm>
            <a:off x="3703320" y="4736592"/>
            <a:ext cx="1143000" cy="256032"/>
          </a:xfrm>
          <a:prstGeom prst="rect">
            <a:avLst/>
          </a:prstGeom>
          <a:noFill/>
        </p:spPr>
        <p:txBody>
          <a:bodyPr wrap="square">
            <a:spAutoFit/>
          </a:bodyPr>
          <a:lstStyle/>
          <a:p>
            <a:pPr algn="ctr"/>
            <a:r>
              <a:rPr sz="1000" b="0" i="0">
                <a:solidFill>
                  <a:srgbClr val="FF4D6D"/>
                </a:solidFill>
              </a:rPr>
              <a:t>1707</a:t>
            </a:r>
          </a:p>
        </p:txBody>
      </p:sp>
      <p:sp>
        <p:nvSpPr>
          <p:cNvPr id="78" name="TextBox 77"/>
          <p:cNvSpPr txBox="1"/>
          <p:nvPr/>
        </p:nvSpPr>
        <p:spPr>
          <a:xfrm>
            <a:off x="4892040" y="4736592"/>
            <a:ext cx="1143000" cy="256032"/>
          </a:xfrm>
          <a:prstGeom prst="rect">
            <a:avLst/>
          </a:prstGeom>
          <a:noFill/>
        </p:spPr>
        <p:txBody>
          <a:bodyPr wrap="square">
            <a:spAutoFit/>
          </a:bodyPr>
          <a:lstStyle/>
          <a:p>
            <a:pPr algn="ctr"/>
            <a:r>
              <a:rPr sz="1000" b="0" i="0">
                <a:solidFill>
                  <a:srgbClr val="FF4D6D"/>
                </a:solidFill>
              </a:rPr>
              <a:t>1753</a:t>
            </a:r>
          </a:p>
        </p:txBody>
      </p:sp>
      <p:sp>
        <p:nvSpPr>
          <p:cNvPr id="79" name="TextBox 78"/>
          <p:cNvSpPr txBox="1"/>
          <p:nvPr/>
        </p:nvSpPr>
        <p:spPr>
          <a:xfrm>
            <a:off x="6080760" y="4736592"/>
            <a:ext cx="1143000" cy="256032"/>
          </a:xfrm>
          <a:prstGeom prst="rect">
            <a:avLst/>
          </a:prstGeom>
          <a:noFill/>
        </p:spPr>
        <p:txBody>
          <a:bodyPr wrap="square">
            <a:spAutoFit/>
          </a:bodyPr>
          <a:lstStyle/>
          <a:p>
            <a:pPr algn="ctr"/>
            <a:r>
              <a:rPr sz="1000" b="0" i="0">
                <a:solidFill>
                  <a:srgbClr val="FFFFFF"/>
                </a:solidFill>
              </a:rPr>
              <a:t>1458</a:t>
            </a:r>
          </a:p>
        </p:txBody>
      </p:sp>
      <p:sp>
        <p:nvSpPr>
          <p:cNvPr id="80" name="TextBox 79"/>
          <p:cNvSpPr txBox="1"/>
          <p:nvPr/>
        </p:nvSpPr>
        <p:spPr>
          <a:xfrm>
            <a:off x="7269480" y="4736592"/>
            <a:ext cx="1143000" cy="256032"/>
          </a:xfrm>
          <a:prstGeom prst="rect">
            <a:avLst/>
          </a:prstGeom>
          <a:noFill/>
        </p:spPr>
        <p:txBody>
          <a:bodyPr wrap="square">
            <a:spAutoFit/>
          </a:bodyPr>
          <a:lstStyle/>
          <a:p>
            <a:pPr algn="ctr"/>
            <a:r>
              <a:rPr sz="1000" b="1" i="0">
                <a:solidFill>
                  <a:srgbClr val="00E596"/>
                </a:solidFill>
              </a:rPr>
              <a:t>611</a:t>
            </a:r>
          </a:p>
        </p:txBody>
      </p:sp>
      <p:sp>
        <p:nvSpPr>
          <p:cNvPr id="81" name="TextBox 80"/>
          <p:cNvSpPr txBox="1"/>
          <p:nvPr/>
        </p:nvSpPr>
        <p:spPr>
          <a:xfrm>
            <a:off x="8732520" y="4736592"/>
            <a:ext cx="1463040" cy="256032"/>
          </a:xfrm>
          <a:prstGeom prst="rect">
            <a:avLst/>
          </a:prstGeom>
          <a:noFill/>
        </p:spPr>
        <p:txBody>
          <a:bodyPr wrap="square">
            <a:spAutoFit/>
          </a:bodyPr>
          <a:lstStyle/>
          <a:p>
            <a:pPr algn="ctr"/>
            <a:r>
              <a:rPr sz="1000" b="0" i="0">
                <a:solidFill>
                  <a:srgbClr val="FFFFFF"/>
                </a:solidFill>
              </a:rPr>
              <a:t>1449</a:t>
            </a:r>
          </a:p>
        </p:txBody>
      </p:sp>
      <p:sp>
        <p:nvSpPr>
          <p:cNvPr id="82" name="Rectangle 81"/>
          <p:cNvSpPr/>
          <p:nvPr/>
        </p:nvSpPr>
        <p:spPr>
          <a:xfrm>
            <a:off x="320040" y="5047488"/>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20040" y="5084064"/>
            <a:ext cx="914400" cy="256032"/>
          </a:xfrm>
          <a:prstGeom prst="rect">
            <a:avLst/>
          </a:prstGeom>
          <a:noFill/>
        </p:spPr>
        <p:txBody>
          <a:bodyPr wrap="square">
            <a:spAutoFit/>
          </a:bodyPr>
          <a:lstStyle/>
          <a:p>
            <a:pPr algn="ctr"/>
            <a:r>
              <a:rPr sz="1000" b="1" i="0">
                <a:solidFill>
                  <a:srgbClr val="FFFFFF"/>
                </a:solidFill>
              </a:rPr>
              <a:t>1M</a:t>
            </a:r>
          </a:p>
        </p:txBody>
      </p:sp>
      <p:sp>
        <p:nvSpPr>
          <p:cNvPr id="84" name="TextBox 83"/>
          <p:cNvSpPr txBox="1"/>
          <p:nvPr/>
        </p:nvSpPr>
        <p:spPr>
          <a:xfrm>
            <a:off x="1325880" y="5084064"/>
            <a:ext cx="1143000" cy="256032"/>
          </a:xfrm>
          <a:prstGeom prst="rect">
            <a:avLst/>
          </a:prstGeom>
          <a:noFill/>
        </p:spPr>
        <p:txBody>
          <a:bodyPr wrap="square">
            <a:spAutoFit/>
          </a:bodyPr>
          <a:lstStyle/>
          <a:p>
            <a:pPr algn="ctr"/>
            <a:r>
              <a:rPr sz="1000" b="0" i="0">
                <a:solidFill>
                  <a:srgbClr val="FFFFFF"/>
                </a:solidFill>
              </a:rPr>
              <a:t>2433</a:t>
            </a:r>
          </a:p>
        </p:txBody>
      </p:sp>
      <p:sp>
        <p:nvSpPr>
          <p:cNvPr id="85" name="TextBox 84"/>
          <p:cNvSpPr txBox="1"/>
          <p:nvPr/>
        </p:nvSpPr>
        <p:spPr>
          <a:xfrm>
            <a:off x="2514600" y="5084064"/>
            <a:ext cx="1143000" cy="256032"/>
          </a:xfrm>
          <a:prstGeom prst="rect">
            <a:avLst/>
          </a:prstGeom>
          <a:noFill/>
        </p:spPr>
        <p:txBody>
          <a:bodyPr wrap="square">
            <a:spAutoFit/>
          </a:bodyPr>
          <a:lstStyle/>
          <a:p>
            <a:pPr algn="ctr"/>
            <a:r>
              <a:rPr sz="1000" b="0" i="0">
                <a:solidFill>
                  <a:srgbClr val="FFFFFF"/>
                </a:solidFill>
              </a:rPr>
              <a:t>871</a:t>
            </a:r>
          </a:p>
        </p:txBody>
      </p:sp>
      <p:sp>
        <p:nvSpPr>
          <p:cNvPr id="86" name="TextBox 85"/>
          <p:cNvSpPr txBox="1"/>
          <p:nvPr/>
        </p:nvSpPr>
        <p:spPr>
          <a:xfrm>
            <a:off x="3703320" y="5084064"/>
            <a:ext cx="1143000" cy="256032"/>
          </a:xfrm>
          <a:prstGeom prst="rect">
            <a:avLst/>
          </a:prstGeom>
          <a:noFill/>
        </p:spPr>
        <p:txBody>
          <a:bodyPr wrap="square">
            <a:spAutoFit/>
          </a:bodyPr>
          <a:lstStyle/>
          <a:p>
            <a:pPr algn="ctr"/>
            <a:r>
              <a:rPr sz="1000" b="0" i="0">
                <a:solidFill>
                  <a:srgbClr val="FFFFFF"/>
                </a:solidFill>
              </a:rPr>
              <a:t>2359</a:t>
            </a:r>
          </a:p>
        </p:txBody>
      </p:sp>
      <p:sp>
        <p:nvSpPr>
          <p:cNvPr id="87" name="TextBox 86"/>
          <p:cNvSpPr txBox="1"/>
          <p:nvPr/>
        </p:nvSpPr>
        <p:spPr>
          <a:xfrm>
            <a:off x="4892040" y="5084064"/>
            <a:ext cx="1143000" cy="256032"/>
          </a:xfrm>
          <a:prstGeom prst="rect">
            <a:avLst/>
          </a:prstGeom>
          <a:noFill/>
        </p:spPr>
        <p:txBody>
          <a:bodyPr wrap="square">
            <a:spAutoFit/>
          </a:bodyPr>
          <a:lstStyle/>
          <a:p>
            <a:pPr algn="ctr"/>
            <a:r>
              <a:rPr sz="1000" b="0" i="0">
                <a:solidFill>
                  <a:srgbClr val="FFFFFF"/>
                </a:solidFill>
              </a:rPr>
              <a:t>2348</a:t>
            </a:r>
          </a:p>
        </p:txBody>
      </p:sp>
      <p:sp>
        <p:nvSpPr>
          <p:cNvPr id="88" name="TextBox 87"/>
          <p:cNvSpPr txBox="1"/>
          <p:nvPr/>
        </p:nvSpPr>
        <p:spPr>
          <a:xfrm>
            <a:off x="6080760" y="5084064"/>
            <a:ext cx="1143000" cy="256032"/>
          </a:xfrm>
          <a:prstGeom prst="rect">
            <a:avLst/>
          </a:prstGeom>
          <a:noFill/>
        </p:spPr>
        <p:txBody>
          <a:bodyPr wrap="square">
            <a:spAutoFit/>
          </a:bodyPr>
          <a:lstStyle/>
          <a:p>
            <a:pPr algn="ctr"/>
            <a:r>
              <a:rPr sz="1000" b="0" i="0">
                <a:solidFill>
                  <a:srgbClr val="FFFFFF"/>
                </a:solidFill>
              </a:rPr>
              <a:t>2026</a:t>
            </a:r>
          </a:p>
        </p:txBody>
      </p:sp>
      <p:sp>
        <p:nvSpPr>
          <p:cNvPr id="89" name="TextBox 88"/>
          <p:cNvSpPr txBox="1"/>
          <p:nvPr/>
        </p:nvSpPr>
        <p:spPr>
          <a:xfrm>
            <a:off x="7269480" y="5084064"/>
            <a:ext cx="1143000" cy="256032"/>
          </a:xfrm>
          <a:prstGeom prst="rect">
            <a:avLst/>
          </a:prstGeom>
          <a:noFill/>
        </p:spPr>
        <p:txBody>
          <a:bodyPr wrap="square">
            <a:spAutoFit/>
          </a:bodyPr>
          <a:lstStyle/>
          <a:p>
            <a:pPr algn="ctr"/>
            <a:r>
              <a:rPr sz="1000" b="1" i="0">
                <a:solidFill>
                  <a:srgbClr val="00E596"/>
                </a:solidFill>
              </a:rPr>
              <a:t>861</a:t>
            </a:r>
          </a:p>
        </p:txBody>
      </p:sp>
      <p:sp>
        <p:nvSpPr>
          <p:cNvPr id="90" name="TextBox 89"/>
          <p:cNvSpPr txBox="1"/>
          <p:nvPr/>
        </p:nvSpPr>
        <p:spPr>
          <a:xfrm>
            <a:off x="8732520" y="5084064"/>
            <a:ext cx="1463040" cy="256032"/>
          </a:xfrm>
          <a:prstGeom prst="rect">
            <a:avLst/>
          </a:prstGeom>
          <a:noFill/>
        </p:spPr>
        <p:txBody>
          <a:bodyPr wrap="square">
            <a:spAutoFit/>
          </a:bodyPr>
          <a:lstStyle/>
          <a:p>
            <a:pPr algn="ctr"/>
            <a:r>
              <a:rPr sz="1000" b="0" i="0">
                <a:solidFill>
                  <a:srgbClr val="FFFFFF"/>
                </a:solidFill>
              </a:rPr>
              <a:t>2127</a:t>
            </a:r>
          </a:p>
        </p:txBody>
      </p:sp>
      <p:sp>
        <p:nvSpPr>
          <p:cNvPr id="91" name="Rectangle 90"/>
          <p:cNvSpPr/>
          <p:nvPr/>
        </p:nvSpPr>
        <p:spPr>
          <a:xfrm>
            <a:off x="320040" y="5394960"/>
            <a:ext cx="11365992" cy="329184"/>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20040" y="5431536"/>
            <a:ext cx="914400" cy="256032"/>
          </a:xfrm>
          <a:prstGeom prst="rect">
            <a:avLst/>
          </a:prstGeom>
          <a:noFill/>
        </p:spPr>
        <p:txBody>
          <a:bodyPr wrap="square">
            <a:spAutoFit/>
          </a:bodyPr>
          <a:lstStyle/>
          <a:p>
            <a:pPr algn="ctr"/>
            <a:r>
              <a:rPr sz="1000" b="1" i="0">
                <a:solidFill>
                  <a:srgbClr val="FFFFFF"/>
                </a:solidFill>
              </a:rPr>
              <a:t>1.5M</a:t>
            </a:r>
          </a:p>
        </p:txBody>
      </p:sp>
      <p:sp>
        <p:nvSpPr>
          <p:cNvPr id="93" name="TextBox 92"/>
          <p:cNvSpPr txBox="1"/>
          <p:nvPr/>
        </p:nvSpPr>
        <p:spPr>
          <a:xfrm>
            <a:off x="1325880" y="5431536"/>
            <a:ext cx="1143000" cy="256032"/>
          </a:xfrm>
          <a:prstGeom prst="rect">
            <a:avLst/>
          </a:prstGeom>
          <a:noFill/>
        </p:spPr>
        <p:txBody>
          <a:bodyPr wrap="square">
            <a:spAutoFit/>
          </a:bodyPr>
          <a:lstStyle/>
          <a:p>
            <a:pPr algn="ctr"/>
            <a:r>
              <a:rPr sz="1000" b="0" i="0">
                <a:solidFill>
                  <a:srgbClr val="FFFFFF"/>
                </a:solidFill>
              </a:rPr>
              <a:t>3671</a:t>
            </a:r>
          </a:p>
        </p:txBody>
      </p:sp>
      <p:sp>
        <p:nvSpPr>
          <p:cNvPr id="94" name="TextBox 93"/>
          <p:cNvSpPr txBox="1"/>
          <p:nvPr/>
        </p:nvSpPr>
        <p:spPr>
          <a:xfrm>
            <a:off x="2514600" y="5431536"/>
            <a:ext cx="1143000" cy="256032"/>
          </a:xfrm>
          <a:prstGeom prst="rect">
            <a:avLst/>
          </a:prstGeom>
          <a:noFill/>
        </p:spPr>
        <p:txBody>
          <a:bodyPr wrap="square">
            <a:spAutoFit/>
          </a:bodyPr>
          <a:lstStyle/>
          <a:p>
            <a:pPr algn="ctr"/>
            <a:r>
              <a:rPr sz="1000" b="0" i="0">
                <a:solidFill>
                  <a:srgbClr val="FFFFFF"/>
                </a:solidFill>
              </a:rPr>
              <a:t>1363</a:t>
            </a:r>
          </a:p>
        </p:txBody>
      </p:sp>
      <p:sp>
        <p:nvSpPr>
          <p:cNvPr id="95" name="TextBox 94"/>
          <p:cNvSpPr txBox="1"/>
          <p:nvPr/>
        </p:nvSpPr>
        <p:spPr>
          <a:xfrm>
            <a:off x="3703320" y="5431536"/>
            <a:ext cx="1143000" cy="256032"/>
          </a:xfrm>
          <a:prstGeom prst="rect">
            <a:avLst/>
          </a:prstGeom>
          <a:noFill/>
        </p:spPr>
        <p:txBody>
          <a:bodyPr wrap="square">
            <a:spAutoFit/>
          </a:bodyPr>
          <a:lstStyle/>
          <a:p>
            <a:pPr algn="ctr"/>
            <a:r>
              <a:rPr sz="1000" b="0" i="0">
                <a:solidFill>
                  <a:srgbClr val="FFFFFF"/>
                </a:solidFill>
              </a:rPr>
              <a:t>3663</a:t>
            </a:r>
          </a:p>
        </p:txBody>
      </p:sp>
      <p:sp>
        <p:nvSpPr>
          <p:cNvPr id="96" name="TextBox 95"/>
          <p:cNvSpPr txBox="1"/>
          <p:nvPr/>
        </p:nvSpPr>
        <p:spPr>
          <a:xfrm>
            <a:off x="4892040" y="5431536"/>
            <a:ext cx="1143000" cy="256032"/>
          </a:xfrm>
          <a:prstGeom prst="rect">
            <a:avLst/>
          </a:prstGeom>
          <a:noFill/>
        </p:spPr>
        <p:txBody>
          <a:bodyPr wrap="square">
            <a:spAutoFit/>
          </a:bodyPr>
          <a:lstStyle/>
          <a:p>
            <a:pPr algn="ctr"/>
            <a:r>
              <a:rPr sz="1000" b="0" i="0">
                <a:solidFill>
                  <a:srgbClr val="FFFFFF"/>
                </a:solidFill>
              </a:rPr>
              <a:t>3618</a:t>
            </a:r>
          </a:p>
        </p:txBody>
      </p:sp>
      <p:sp>
        <p:nvSpPr>
          <p:cNvPr id="97" name="TextBox 96"/>
          <p:cNvSpPr txBox="1"/>
          <p:nvPr/>
        </p:nvSpPr>
        <p:spPr>
          <a:xfrm>
            <a:off x="6080760" y="5431536"/>
            <a:ext cx="1143000" cy="256032"/>
          </a:xfrm>
          <a:prstGeom prst="rect">
            <a:avLst/>
          </a:prstGeom>
          <a:noFill/>
        </p:spPr>
        <p:txBody>
          <a:bodyPr wrap="square">
            <a:spAutoFit/>
          </a:bodyPr>
          <a:lstStyle/>
          <a:p>
            <a:pPr algn="ctr"/>
            <a:r>
              <a:rPr sz="1000" b="0" i="0">
                <a:solidFill>
                  <a:srgbClr val="FFFFFF"/>
                </a:solidFill>
              </a:rPr>
              <a:t>3137</a:t>
            </a:r>
          </a:p>
        </p:txBody>
      </p:sp>
      <p:sp>
        <p:nvSpPr>
          <p:cNvPr id="98" name="TextBox 97"/>
          <p:cNvSpPr txBox="1"/>
          <p:nvPr/>
        </p:nvSpPr>
        <p:spPr>
          <a:xfrm>
            <a:off x="7269480" y="5431536"/>
            <a:ext cx="1143000" cy="256032"/>
          </a:xfrm>
          <a:prstGeom prst="rect">
            <a:avLst/>
          </a:prstGeom>
          <a:noFill/>
        </p:spPr>
        <p:txBody>
          <a:bodyPr wrap="square">
            <a:spAutoFit/>
          </a:bodyPr>
          <a:lstStyle/>
          <a:p>
            <a:pPr algn="ctr"/>
            <a:r>
              <a:rPr sz="1000" b="1" i="0">
                <a:solidFill>
                  <a:srgbClr val="00E596"/>
                </a:solidFill>
              </a:rPr>
              <a:t>1333</a:t>
            </a:r>
          </a:p>
        </p:txBody>
      </p:sp>
      <p:sp>
        <p:nvSpPr>
          <p:cNvPr id="99" name="TextBox 98"/>
          <p:cNvSpPr txBox="1"/>
          <p:nvPr/>
        </p:nvSpPr>
        <p:spPr>
          <a:xfrm>
            <a:off x="8732520" y="5431536"/>
            <a:ext cx="1463040" cy="256032"/>
          </a:xfrm>
          <a:prstGeom prst="rect">
            <a:avLst/>
          </a:prstGeom>
          <a:noFill/>
        </p:spPr>
        <p:txBody>
          <a:bodyPr wrap="square">
            <a:spAutoFit/>
          </a:bodyPr>
          <a:lstStyle/>
          <a:p>
            <a:pPr algn="ctr"/>
            <a:r>
              <a:rPr sz="1000" b="0" i="0">
                <a:solidFill>
                  <a:srgbClr val="FFFFFF"/>
                </a:solidFill>
              </a:rPr>
              <a:t>3262</a:t>
            </a:r>
          </a:p>
        </p:txBody>
      </p:sp>
      <p:sp>
        <p:nvSpPr>
          <p:cNvPr id="100" name="Rectangle 99"/>
          <p:cNvSpPr/>
          <p:nvPr/>
        </p:nvSpPr>
        <p:spPr>
          <a:xfrm>
            <a:off x="320040" y="5742432"/>
            <a:ext cx="11365992" cy="329184"/>
          </a:xfrm>
          <a:prstGeom prst="rect">
            <a:avLst/>
          </a:prstGeom>
          <a:solidFill>
            <a:srgbClr val="10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20040" y="5779008"/>
            <a:ext cx="914400" cy="256032"/>
          </a:xfrm>
          <a:prstGeom prst="rect">
            <a:avLst/>
          </a:prstGeom>
          <a:noFill/>
        </p:spPr>
        <p:txBody>
          <a:bodyPr wrap="square">
            <a:spAutoFit/>
          </a:bodyPr>
          <a:lstStyle/>
          <a:p>
            <a:pPr algn="ctr"/>
            <a:r>
              <a:rPr sz="1000" b="1" i="0">
                <a:solidFill>
                  <a:srgbClr val="FFFFFF"/>
                </a:solidFill>
              </a:rPr>
              <a:t>2M</a:t>
            </a:r>
          </a:p>
        </p:txBody>
      </p:sp>
      <p:sp>
        <p:nvSpPr>
          <p:cNvPr id="102" name="TextBox 101"/>
          <p:cNvSpPr txBox="1"/>
          <p:nvPr/>
        </p:nvSpPr>
        <p:spPr>
          <a:xfrm>
            <a:off x="1325880" y="5779008"/>
            <a:ext cx="1143000" cy="256032"/>
          </a:xfrm>
          <a:prstGeom prst="rect">
            <a:avLst/>
          </a:prstGeom>
          <a:noFill/>
        </p:spPr>
        <p:txBody>
          <a:bodyPr wrap="square">
            <a:spAutoFit/>
          </a:bodyPr>
          <a:lstStyle/>
          <a:p>
            <a:pPr algn="ctr"/>
            <a:r>
              <a:rPr sz="1000" b="0" i="0">
                <a:solidFill>
                  <a:srgbClr val="FFFFFF"/>
                </a:solidFill>
              </a:rPr>
              <a:t>5509</a:t>
            </a:r>
          </a:p>
        </p:txBody>
      </p:sp>
      <p:sp>
        <p:nvSpPr>
          <p:cNvPr id="103" name="TextBox 102"/>
          <p:cNvSpPr txBox="1"/>
          <p:nvPr/>
        </p:nvSpPr>
        <p:spPr>
          <a:xfrm>
            <a:off x="2514600" y="5779008"/>
            <a:ext cx="1143000" cy="256032"/>
          </a:xfrm>
          <a:prstGeom prst="rect">
            <a:avLst/>
          </a:prstGeom>
          <a:noFill/>
        </p:spPr>
        <p:txBody>
          <a:bodyPr wrap="square">
            <a:spAutoFit/>
          </a:bodyPr>
          <a:lstStyle/>
          <a:p>
            <a:pPr algn="ctr"/>
            <a:r>
              <a:rPr sz="1000" b="1" i="0">
                <a:solidFill>
                  <a:srgbClr val="00E596"/>
                </a:solidFill>
              </a:rPr>
              <a:t>1890</a:t>
            </a:r>
          </a:p>
        </p:txBody>
      </p:sp>
      <p:sp>
        <p:nvSpPr>
          <p:cNvPr id="104" name="TextBox 103"/>
          <p:cNvSpPr txBox="1"/>
          <p:nvPr/>
        </p:nvSpPr>
        <p:spPr>
          <a:xfrm>
            <a:off x="3703320" y="5779008"/>
            <a:ext cx="1143000" cy="256032"/>
          </a:xfrm>
          <a:prstGeom prst="rect">
            <a:avLst/>
          </a:prstGeom>
          <a:noFill/>
        </p:spPr>
        <p:txBody>
          <a:bodyPr wrap="square">
            <a:spAutoFit/>
          </a:bodyPr>
          <a:lstStyle/>
          <a:p>
            <a:pPr algn="ctr"/>
            <a:r>
              <a:rPr sz="1000" b="0" i="0">
                <a:solidFill>
                  <a:srgbClr val="FFFFFF"/>
                </a:solidFill>
              </a:rPr>
              <a:t>5339</a:t>
            </a:r>
          </a:p>
        </p:txBody>
      </p:sp>
      <p:sp>
        <p:nvSpPr>
          <p:cNvPr id="105" name="TextBox 104"/>
          <p:cNvSpPr txBox="1"/>
          <p:nvPr/>
        </p:nvSpPr>
        <p:spPr>
          <a:xfrm>
            <a:off x="4892040" y="5779008"/>
            <a:ext cx="1143000" cy="256032"/>
          </a:xfrm>
          <a:prstGeom prst="rect">
            <a:avLst/>
          </a:prstGeom>
          <a:noFill/>
        </p:spPr>
        <p:txBody>
          <a:bodyPr wrap="square">
            <a:spAutoFit/>
          </a:bodyPr>
          <a:lstStyle/>
          <a:p>
            <a:pPr algn="ctr"/>
            <a:r>
              <a:rPr sz="1000" b="0" i="0">
                <a:solidFill>
                  <a:srgbClr val="FFFFFF"/>
                </a:solidFill>
              </a:rPr>
              <a:t>5278</a:t>
            </a:r>
          </a:p>
        </p:txBody>
      </p:sp>
      <p:sp>
        <p:nvSpPr>
          <p:cNvPr id="106" name="TextBox 105"/>
          <p:cNvSpPr txBox="1"/>
          <p:nvPr/>
        </p:nvSpPr>
        <p:spPr>
          <a:xfrm>
            <a:off x="6080760" y="5779008"/>
            <a:ext cx="1143000" cy="256032"/>
          </a:xfrm>
          <a:prstGeom prst="rect">
            <a:avLst/>
          </a:prstGeom>
          <a:noFill/>
        </p:spPr>
        <p:txBody>
          <a:bodyPr wrap="square">
            <a:spAutoFit/>
          </a:bodyPr>
          <a:lstStyle/>
          <a:p>
            <a:pPr algn="ctr"/>
            <a:r>
              <a:rPr sz="1000" b="0" i="0">
                <a:solidFill>
                  <a:srgbClr val="FFFFFF"/>
                </a:solidFill>
              </a:rPr>
              <a:t>4728</a:t>
            </a:r>
          </a:p>
        </p:txBody>
      </p:sp>
      <p:sp>
        <p:nvSpPr>
          <p:cNvPr id="107" name="TextBox 106"/>
          <p:cNvSpPr txBox="1"/>
          <p:nvPr/>
        </p:nvSpPr>
        <p:spPr>
          <a:xfrm>
            <a:off x="7269480" y="5779008"/>
            <a:ext cx="1143000" cy="256032"/>
          </a:xfrm>
          <a:prstGeom prst="rect">
            <a:avLst/>
          </a:prstGeom>
          <a:noFill/>
        </p:spPr>
        <p:txBody>
          <a:bodyPr wrap="square">
            <a:spAutoFit/>
          </a:bodyPr>
          <a:lstStyle/>
          <a:p>
            <a:pPr algn="ctr"/>
            <a:r>
              <a:rPr sz="1000" b="0" i="0">
                <a:solidFill>
                  <a:srgbClr val="FFFFFF"/>
                </a:solidFill>
              </a:rPr>
              <a:t>1895</a:t>
            </a:r>
          </a:p>
        </p:txBody>
      </p:sp>
      <p:sp>
        <p:nvSpPr>
          <p:cNvPr id="108" name="TextBox 107"/>
          <p:cNvSpPr txBox="1"/>
          <p:nvPr/>
        </p:nvSpPr>
        <p:spPr>
          <a:xfrm>
            <a:off x="8732520" y="5779008"/>
            <a:ext cx="1463040" cy="256032"/>
          </a:xfrm>
          <a:prstGeom prst="rect">
            <a:avLst/>
          </a:prstGeom>
          <a:noFill/>
        </p:spPr>
        <p:txBody>
          <a:bodyPr wrap="square">
            <a:spAutoFit/>
          </a:bodyPr>
          <a:lstStyle/>
          <a:p>
            <a:pPr algn="ctr"/>
            <a:r>
              <a:rPr sz="1000" b="0" i="0">
                <a:solidFill>
                  <a:srgbClr val="FFFFFF"/>
                </a:solidFill>
              </a:rPr>
              <a:t>4634</a:t>
            </a:r>
          </a:p>
        </p:txBody>
      </p:sp>
      <p:sp>
        <p:nvSpPr>
          <p:cNvPr id="109" name="TextBox 108"/>
          <p:cNvSpPr txBox="1"/>
          <p:nvPr/>
        </p:nvSpPr>
        <p:spPr>
          <a:xfrm>
            <a:off x="320040" y="6108192"/>
            <a:ext cx="11365992" cy="292608"/>
          </a:xfrm>
          <a:prstGeom prst="rect">
            <a:avLst/>
          </a:prstGeom>
          <a:noFill/>
        </p:spPr>
        <p:txBody>
          <a:bodyPr wrap="square">
            <a:spAutoFit/>
          </a:bodyPr>
          <a:lstStyle/>
          <a:p>
            <a:pPr algn="ctr"/>
            <a:r>
              <a:rPr sz="1100" b="0" i="1">
                <a:solidFill>
                  <a:srgbClr val="8888AA"/>
                </a:solidFill>
              </a:rPr>
              <a:t>Green = best time for that row  ·  Red = slower than baseline  ·  Values in milliseconds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Critical Analysis — What the Results Tell Us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Performance trends, bottlenecks, and deviations from expectation</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234440"/>
            <a:ext cx="11365992" cy="128016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234440"/>
            <a:ext cx="54864" cy="12801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07592"/>
            <a:ext cx="10972800" cy="347472"/>
          </a:xfrm>
          <a:prstGeom prst="rect">
            <a:avLst/>
          </a:prstGeom>
          <a:noFill/>
        </p:spPr>
        <p:txBody>
          <a:bodyPr wrap="square">
            <a:spAutoFit/>
          </a:bodyPr>
          <a:lstStyle/>
          <a:p>
            <a:pPr algn="l"/>
            <a:r>
              <a:rPr sz="1400" b="1" i="0">
                <a:solidFill>
                  <a:srgbClr val="00D4FF"/>
                </a:solidFill>
              </a:rPr>
              <a:t>OpenMP gives 2.7–3× — but not 12×</a:t>
            </a:r>
          </a:p>
        </p:txBody>
      </p:sp>
      <p:sp>
        <p:nvSpPr>
          <p:cNvPr id="9" name="TextBox 8"/>
          <p:cNvSpPr txBox="1"/>
          <p:nvPr/>
        </p:nvSpPr>
        <p:spPr>
          <a:xfrm>
            <a:off x="594360" y="1691640"/>
            <a:ext cx="10972800" cy="749808"/>
          </a:xfrm>
          <a:prstGeom prst="rect">
            <a:avLst/>
          </a:prstGeom>
          <a:noFill/>
        </p:spPr>
        <p:txBody>
          <a:bodyPr wrap="square">
            <a:spAutoFit/>
          </a:bodyPr>
          <a:lstStyle/>
          <a:p>
            <a:pPr algn="l"/>
            <a:r>
              <a:rPr sz="1250" b="0" i="0">
                <a:solidFill>
                  <a:srgbClr val="8888AA"/>
                </a:solidFill>
              </a:rPr>
              <a:t>With 12 cores we expected closer to 12×. The merge step is 98% of runtime and cannot be parallelised — it must combine results in order. Amdahl's Law caps us at ~1.02× from parallelism alone at this phase split. OpenMP helps by parallelising the tile-sort phase and upper merge tree levels, giving us the observed 3×.</a:t>
            </a:r>
          </a:p>
        </p:txBody>
      </p:sp>
      <p:sp>
        <p:nvSpPr>
          <p:cNvPr id="10" name="Rectangle 9"/>
          <p:cNvSpPr/>
          <p:nvPr/>
        </p:nvSpPr>
        <p:spPr>
          <a:xfrm>
            <a:off x="411480" y="2624328"/>
            <a:ext cx="11365992" cy="128016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624328"/>
            <a:ext cx="54864" cy="128016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97480"/>
            <a:ext cx="10972800" cy="347472"/>
          </a:xfrm>
          <a:prstGeom prst="rect">
            <a:avLst/>
          </a:prstGeom>
          <a:noFill/>
        </p:spPr>
        <p:txBody>
          <a:bodyPr wrap="square">
            <a:spAutoFit/>
          </a:bodyPr>
          <a:lstStyle/>
          <a:p>
            <a:pPr algn="l"/>
            <a:r>
              <a:rPr sz="1400" b="1" i="0">
                <a:solidFill>
                  <a:srgbClr val="FFC844"/>
                </a:solidFill>
              </a:rPr>
              <a:t>DynTile and AVX-512 Sim are the best single-core improvements</a:t>
            </a:r>
          </a:p>
        </p:txBody>
      </p:sp>
      <p:sp>
        <p:nvSpPr>
          <p:cNvPr id="13" name="TextBox 12"/>
          <p:cNvSpPr txBox="1"/>
          <p:nvPr/>
        </p:nvSpPr>
        <p:spPr>
          <a:xfrm>
            <a:off x="594360" y="3081528"/>
            <a:ext cx="10972800" cy="749808"/>
          </a:xfrm>
          <a:prstGeom prst="rect">
            <a:avLst/>
          </a:prstGeom>
          <a:noFill/>
        </p:spPr>
        <p:txBody>
          <a:bodyPr wrap="square">
            <a:spAutoFit/>
          </a:bodyPr>
          <a:lstStyle/>
          <a:p>
            <a:pPr algn="l"/>
            <a:r>
              <a:rPr sz="1250" b="0" i="0">
                <a:solidFill>
                  <a:srgbClr val="8888AA"/>
                </a:solidFill>
              </a:rPr>
              <a:t>DynTile eliminates thousands of malloc/free calls (7–19% gain). AVX-512 Sim reduces merge passes from 14 to 13 at n=2M and also uses pooled memory (9–24% gain). Both outperform branchless and prefetch at all sizes — memory allocation overhead is a more significant bottleneck than branch misprediction.</a:t>
            </a:r>
          </a:p>
        </p:txBody>
      </p:sp>
      <p:sp>
        <p:nvSpPr>
          <p:cNvPr id="14" name="Rectangle 13"/>
          <p:cNvSpPr/>
          <p:nvPr/>
        </p:nvSpPr>
        <p:spPr>
          <a:xfrm>
            <a:off x="411480" y="4014216"/>
            <a:ext cx="11365992" cy="128016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4014216"/>
            <a:ext cx="54864" cy="128016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087368"/>
            <a:ext cx="10972800" cy="347472"/>
          </a:xfrm>
          <a:prstGeom prst="rect">
            <a:avLst/>
          </a:prstGeom>
          <a:noFill/>
        </p:spPr>
        <p:txBody>
          <a:bodyPr wrap="square">
            <a:spAutoFit/>
          </a:bodyPr>
          <a:lstStyle/>
          <a:p>
            <a:pPr algn="l"/>
            <a:r>
              <a:rPr sz="1400" b="1" i="0">
                <a:solidFill>
                  <a:srgbClr val="00E596"/>
                </a:solidFill>
              </a:rPr>
              <a:t>Branchless merge: our first attempt was actually slower</a:t>
            </a:r>
          </a:p>
        </p:txBody>
      </p:sp>
      <p:sp>
        <p:nvSpPr>
          <p:cNvPr id="17" name="TextBox 16"/>
          <p:cNvSpPr txBox="1"/>
          <p:nvPr/>
        </p:nvSpPr>
        <p:spPr>
          <a:xfrm>
            <a:off x="594360" y="4471416"/>
            <a:ext cx="10972800" cy="749808"/>
          </a:xfrm>
          <a:prstGeom prst="rect">
            <a:avLst/>
          </a:prstGeom>
          <a:noFill/>
        </p:spPr>
        <p:txBody>
          <a:bodyPr wrap="square">
            <a:spAutoFit/>
          </a:bodyPr>
          <a:lstStyle/>
          <a:p>
            <a:pPr algn="l"/>
            <a:r>
              <a:rPr sz="1250" b="0" i="0">
                <a:solidFill>
                  <a:srgbClr val="8888AA"/>
                </a:solidFill>
              </a:rPr>
              <a:t>The initial implementation loaded data from BOTH sides of the merge every iteration (2 loads vs 1). At large array sizes this doubled memory bandwidth usage — far more costly than the branch it replaced. We fixed it using arithmetic pointer selection (1 load per iteration, still branchless).</a:t>
            </a:r>
          </a:p>
        </p:txBody>
      </p:sp>
      <p:sp>
        <p:nvSpPr>
          <p:cNvPr id="18" name="Rectangle 17"/>
          <p:cNvSpPr/>
          <p:nvPr/>
        </p:nvSpPr>
        <p:spPr>
          <a:xfrm>
            <a:off x="411480" y="5404104"/>
            <a:ext cx="11365992" cy="128016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5404104"/>
            <a:ext cx="54864" cy="12801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477256"/>
            <a:ext cx="10972800" cy="347472"/>
          </a:xfrm>
          <a:prstGeom prst="rect">
            <a:avLst/>
          </a:prstGeom>
          <a:noFill/>
        </p:spPr>
        <p:txBody>
          <a:bodyPr wrap="square">
            <a:spAutoFit/>
          </a:bodyPr>
          <a:lstStyle/>
          <a:p>
            <a:pPr algn="l"/>
            <a:r>
              <a:rPr sz="1400" b="1" i="0">
                <a:solidFill>
                  <a:srgbClr val="6C63FF"/>
                </a:solidFill>
              </a:rPr>
              <a:t>Prefetch helps less than expected at large sizes</a:t>
            </a:r>
          </a:p>
        </p:txBody>
      </p:sp>
      <p:sp>
        <p:nvSpPr>
          <p:cNvPr id="21" name="TextBox 20"/>
          <p:cNvSpPr txBox="1"/>
          <p:nvPr/>
        </p:nvSpPr>
        <p:spPr>
          <a:xfrm>
            <a:off x="594360" y="5861304"/>
            <a:ext cx="10972800" cy="749808"/>
          </a:xfrm>
          <a:prstGeom prst="rect">
            <a:avLst/>
          </a:prstGeom>
          <a:noFill/>
        </p:spPr>
        <p:txBody>
          <a:bodyPr wrap="square">
            <a:spAutoFit/>
          </a:bodyPr>
          <a:lstStyle/>
          <a:p>
            <a:pPr algn="l"/>
            <a:r>
              <a:rPr sz="1250" b="0" i="0">
                <a:solidFill>
                  <a:srgbClr val="8888AA"/>
                </a:solidFill>
              </a:rPr>
              <a:t>The CPU's hardware prefetcher already detects the sequential access pattern and loads ahead automatically. Our software hints add only marginal benefit on top. The gain is visible at medium sizes (500K: 1.16×) but near-zero at 2M where the hardware prefetcher is fully warmed 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LLM Usage Disclosure &amp; Reflection</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07</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1463040"/>
            <a:ext cx="9445752" cy="4206240"/>
          </a:xfrm>
          <a:prstGeom prst="rect">
            <a:avLst/>
          </a:prstGeom>
          <a:solidFill>
            <a:srgbClr val="14100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74720" y="2194560"/>
            <a:ext cx="5239512" cy="594360"/>
          </a:xfrm>
          <a:prstGeom prst="rect">
            <a:avLst/>
          </a:prstGeom>
          <a:solidFill>
            <a:srgbClr val="302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2194560"/>
            <a:ext cx="5239512" cy="594360"/>
          </a:xfrm>
          <a:prstGeom prst="rect">
            <a:avLst/>
          </a:prstGeom>
          <a:noFill/>
        </p:spPr>
        <p:txBody>
          <a:bodyPr wrap="square">
            <a:spAutoFit/>
          </a:bodyPr>
          <a:lstStyle/>
          <a:p>
            <a:pPr algn="ctr"/>
            <a:r>
              <a:rPr sz="3000" b="1" i="0">
                <a:solidFill>
                  <a:srgbClr val="FFC844"/>
                </a:solidFill>
              </a:rPr>
              <a:t>⚠   PENDING</a:t>
            </a:r>
          </a:p>
        </p:txBody>
      </p:sp>
      <p:sp>
        <p:nvSpPr>
          <p:cNvPr id="9" name="TextBox 8"/>
          <p:cNvSpPr txBox="1"/>
          <p:nvPr/>
        </p:nvSpPr>
        <p:spPr>
          <a:xfrm>
            <a:off x="1554480" y="2971800"/>
            <a:ext cx="9079992" cy="2468880"/>
          </a:xfrm>
          <a:prstGeom prst="rect">
            <a:avLst/>
          </a:prstGeom>
          <a:noFill/>
        </p:spPr>
        <p:txBody>
          <a:bodyPr wrap="square">
            <a:spAutoFit/>
          </a:bodyPr>
          <a:lstStyle/>
          <a:p>
            <a:pPr algn="l"/>
            <a:r>
              <a:rPr sz="1500" b="0" i="0">
                <a:solidFill>
                  <a:srgbClr val="8888AA"/>
                </a:solidFill>
              </a:rPr>
              <a:t>This section will cover:
·  Where and how LLMs were used during the project
·  Representative prompts and responses
·  Benefits observed and limitations encountered
·  Reflection on correctness, over-reliance risks, and academic integrity</a:t>
            </a:r>
          </a:p>
        </p:txBody>
      </p:sp>
      <p:sp>
        <p:nvSpPr>
          <p:cNvPr id="10" name="TextBox 9"/>
          <p:cNvSpPr txBox="1"/>
          <p:nvPr/>
        </p:nvSpPr>
        <p:spPr>
          <a:xfrm>
            <a:off x="1371600" y="5852160"/>
            <a:ext cx="9445752" cy="384048"/>
          </a:xfrm>
          <a:prstGeom prst="rect">
            <a:avLst/>
          </a:prstGeom>
          <a:noFill/>
        </p:spPr>
        <p:txBody>
          <a:bodyPr wrap="square">
            <a:spAutoFit/>
          </a:bodyPr>
          <a:lstStyle/>
          <a:p>
            <a:pPr algn="ctr"/>
            <a:r>
              <a:rPr sz="1400" b="0" i="1">
                <a:solidFill>
                  <a:srgbClr val="FFC844"/>
                </a:solidFill>
              </a:rPr>
              <a:t>To be completed before final submission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Conclusions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09</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97280"/>
            <a:ext cx="2697480" cy="1417320"/>
          </a:xfrm>
          <a:prstGeom prst="rect">
            <a:avLst/>
          </a:prstGeom>
          <a:solidFill>
            <a:srgbClr val="1A1A24"/>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70432"/>
            <a:ext cx="2697480" cy="779526"/>
          </a:xfrm>
          <a:prstGeom prst="rect">
            <a:avLst/>
          </a:prstGeom>
          <a:noFill/>
        </p:spPr>
        <p:txBody>
          <a:bodyPr wrap="square">
            <a:spAutoFit/>
          </a:bodyPr>
          <a:lstStyle/>
          <a:p>
            <a:pPr algn="ctr"/>
            <a:r>
              <a:rPr sz="3400" b="1" i="0">
                <a:solidFill>
                  <a:srgbClr val="00E596"/>
                </a:solidFill>
              </a:rPr>
              <a:t>3.25×</a:t>
            </a:r>
          </a:p>
        </p:txBody>
      </p:sp>
      <p:sp>
        <p:nvSpPr>
          <p:cNvPr id="8" name="TextBox 7"/>
          <p:cNvSpPr txBox="1"/>
          <p:nvPr/>
        </p:nvSpPr>
        <p:spPr>
          <a:xfrm>
            <a:off x="411480" y="1976018"/>
            <a:ext cx="2697480" cy="496062"/>
          </a:xfrm>
          <a:prstGeom prst="rect">
            <a:avLst/>
          </a:prstGeom>
          <a:noFill/>
        </p:spPr>
        <p:txBody>
          <a:bodyPr wrap="square">
            <a:spAutoFit/>
          </a:bodyPr>
          <a:lstStyle/>
          <a:p>
            <a:pPr algn="ctr"/>
            <a:r>
              <a:rPr sz="1200" b="0" i="0">
                <a:solidFill>
                  <a:srgbClr val="8888AA"/>
                </a:solidFill>
              </a:rPr>
              <a:t>Peak speedup
(12 threads, n=2M)</a:t>
            </a:r>
          </a:p>
        </p:txBody>
      </p:sp>
      <p:sp>
        <p:nvSpPr>
          <p:cNvPr id="9" name="Rectangle 8"/>
          <p:cNvSpPr/>
          <p:nvPr/>
        </p:nvSpPr>
        <p:spPr>
          <a:xfrm>
            <a:off x="3337560" y="1097280"/>
            <a:ext cx="2697480" cy="1417320"/>
          </a:xfrm>
          <a:prstGeom prst="rect">
            <a:avLst/>
          </a:prstGeom>
          <a:solidFill>
            <a:srgbClr val="1A1A24"/>
          </a:solidFill>
          <a:ln w="12700">
            <a:solidFill>
              <a:srgbClr val="FFC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1170432"/>
            <a:ext cx="2697480" cy="779526"/>
          </a:xfrm>
          <a:prstGeom prst="rect">
            <a:avLst/>
          </a:prstGeom>
          <a:noFill/>
        </p:spPr>
        <p:txBody>
          <a:bodyPr wrap="square">
            <a:spAutoFit/>
          </a:bodyPr>
          <a:lstStyle/>
          <a:p>
            <a:pPr algn="ctr"/>
            <a:r>
              <a:rPr sz="3400" b="1" i="0">
                <a:solidFill>
                  <a:srgbClr val="FFC844"/>
                </a:solidFill>
              </a:rPr>
              <a:t>1.30×</a:t>
            </a:r>
          </a:p>
        </p:txBody>
      </p:sp>
      <p:sp>
        <p:nvSpPr>
          <p:cNvPr id="11" name="TextBox 10"/>
          <p:cNvSpPr txBox="1"/>
          <p:nvPr/>
        </p:nvSpPr>
        <p:spPr>
          <a:xfrm>
            <a:off x="3337560" y="1976018"/>
            <a:ext cx="2697480" cy="496062"/>
          </a:xfrm>
          <a:prstGeom prst="rect">
            <a:avLst/>
          </a:prstGeom>
          <a:noFill/>
        </p:spPr>
        <p:txBody>
          <a:bodyPr wrap="square">
            <a:spAutoFit/>
          </a:bodyPr>
          <a:lstStyle/>
          <a:p>
            <a:pPr algn="ctr"/>
            <a:r>
              <a:rPr sz="1200" b="0" i="0">
                <a:solidFill>
                  <a:srgbClr val="8888AA"/>
                </a:solidFill>
              </a:rPr>
              <a:t>Best single-core
(DynTile, n=50K)</a:t>
            </a:r>
          </a:p>
        </p:txBody>
      </p:sp>
      <p:sp>
        <p:nvSpPr>
          <p:cNvPr id="12" name="Rectangle 11"/>
          <p:cNvSpPr/>
          <p:nvPr/>
        </p:nvSpPr>
        <p:spPr>
          <a:xfrm>
            <a:off x="6263640" y="1097280"/>
            <a:ext cx="2697480" cy="1417320"/>
          </a:xfrm>
          <a:prstGeom prst="rect">
            <a:avLst/>
          </a:prstGeom>
          <a:solidFill>
            <a:srgbClr val="1A1A24"/>
          </a:solidFill>
          <a:ln w="1270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170432"/>
            <a:ext cx="2697480" cy="779526"/>
          </a:xfrm>
          <a:prstGeom prst="rect">
            <a:avLst/>
          </a:prstGeom>
          <a:noFill/>
        </p:spPr>
        <p:txBody>
          <a:bodyPr wrap="square">
            <a:spAutoFit/>
          </a:bodyPr>
          <a:lstStyle/>
          <a:p>
            <a:pPr algn="ctr"/>
            <a:r>
              <a:rPr sz="3400" b="1" i="0">
                <a:solidFill>
                  <a:srgbClr val="6C63FF"/>
                </a:solidFill>
              </a:rPr>
              <a:t>1.24×</a:t>
            </a:r>
          </a:p>
        </p:txBody>
      </p:sp>
      <p:sp>
        <p:nvSpPr>
          <p:cNvPr id="14" name="TextBox 13"/>
          <p:cNvSpPr txBox="1"/>
          <p:nvPr/>
        </p:nvSpPr>
        <p:spPr>
          <a:xfrm>
            <a:off x="6263640" y="1976018"/>
            <a:ext cx="2697480" cy="496062"/>
          </a:xfrm>
          <a:prstGeom prst="rect">
            <a:avLst/>
          </a:prstGeom>
          <a:noFill/>
        </p:spPr>
        <p:txBody>
          <a:bodyPr wrap="square">
            <a:spAutoFit/>
          </a:bodyPr>
          <a:lstStyle/>
          <a:p>
            <a:pPr algn="ctr"/>
            <a:r>
              <a:rPr sz="1200" b="0" i="0">
                <a:solidFill>
                  <a:srgbClr val="8888AA"/>
                </a:solidFill>
              </a:rPr>
              <a:t>AVX-512 Sim
(n=500K)</a:t>
            </a:r>
          </a:p>
        </p:txBody>
      </p:sp>
      <p:sp>
        <p:nvSpPr>
          <p:cNvPr id="15" name="Rectangle 14"/>
          <p:cNvSpPr/>
          <p:nvPr/>
        </p:nvSpPr>
        <p:spPr>
          <a:xfrm>
            <a:off x="9189720" y="1097280"/>
            <a:ext cx="2697480" cy="1417320"/>
          </a:xfrm>
          <a:prstGeom prst="rect">
            <a:avLst/>
          </a:prstGeom>
          <a:solidFill>
            <a:srgbClr val="1A1A2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1170432"/>
            <a:ext cx="2697480" cy="779526"/>
          </a:xfrm>
          <a:prstGeom prst="rect">
            <a:avLst/>
          </a:prstGeom>
          <a:noFill/>
        </p:spPr>
        <p:txBody>
          <a:bodyPr wrap="square">
            <a:spAutoFit/>
          </a:bodyPr>
          <a:lstStyle/>
          <a:p>
            <a:pPr algn="ctr"/>
            <a:r>
              <a:rPr sz="3400" b="1" i="0">
                <a:solidFill>
                  <a:srgbClr val="00D4FF"/>
                </a:solidFill>
              </a:rPr>
              <a:t>35/35</a:t>
            </a:r>
          </a:p>
        </p:txBody>
      </p:sp>
      <p:sp>
        <p:nvSpPr>
          <p:cNvPr id="17" name="TextBox 16"/>
          <p:cNvSpPr txBox="1"/>
          <p:nvPr/>
        </p:nvSpPr>
        <p:spPr>
          <a:xfrm>
            <a:off x="9189720" y="1976018"/>
            <a:ext cx="2697480" cy="496062"/>
          </a:xfrm>
          <a:prstGeom prst="rect">
            <a:avLst/>
          </a:prstGeom>
          <a:noFill/>
        </p:spPr>
        <p:txBody>
          <a:bodyPr wrap="square">
            <a:spAutoFit/>
          </a:bodyPr>
          <a:lstStyle/>
          <a:p>
            <a:pPr algn="ctr"/>
            <a:r>
              <a:rPr sz="1200" b="0" i="0">
                <a:solidFill>
                  <a:srgbClr val="8888AA"/>
                </a:solidFill>
              </a:rPr>
              <a:t>Tests passed</a:t>
            </a:r>
          </a:p>
        </p:txBody>
      </p:sp>
      <p:sp>
        <p:nvSpPr>
          <p:cNvPr id="18" name="Rectangle 17"/>
          <p:cNvSpPr/>
          <p:nvPr/>
        </p:nvSpPr>
        <p:spPr>
          <a:xfrm>
            <a:off x="411480" y="2697480"/>
            <a:ext cx="11365992" cy="384048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761488"/>
            <a:ext cx="10972800" cy="347472"/>
          </a:xfrm>
          <a:prstGeom prst="rect">
            <a:avLst/>
          </a:prstGeom>
          <a:noFill/>
        </p:spPr>
        <p:txBody>
          <a:bodyPr wrap="square">
            <a:spAutoFit/>
          </a:bodyPr>
          <a:lstStyle/>
          <a:p>
            <a:pPr algn="l"/>
            <a:r>
              <a:rPr sz="1500" b="1" i="0">
                <a:solidFill>
                  <a:srgbClr val="FFFFFF"/>
                </a:solidFill>
              </a:rPr>
              <a:t>Key Takeaways</a:t>
            </a:r>
          </a:p>
        </p:txBody>
      </p:sp>
      <p:sp>
        <p:nvSpPr>
          <p:cNvPr id="20" name="Rectangle 19"/>
          <p:cNvSpPr/>
          <p:nvPr/>
        </p:nvSpPr>
        <p:spPr>
          <a:xfrm>
            <a:off x="594360" y="3154680"/>
            <a:ext cx="10972800"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246120"/>
            <a:ext cx="45720" cy="71323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264408"/>
            <a:ext cx="10789920" cy="320040"/>
          </a:xfrm>
          <a:prstGeom prst="rect">
            <a:avLst/>
          </a:prstGeom>
          <a:noFill/>
        </p:spPr>
        <p:txBody>
          <a:bodyPr wrap="square">
            <a:spAutoFit/>
          </a:bodyPr>
          <a:lstStyle/>
          <a:p>
            <a:pPr algn="l"/>
            <a:r>
              <a:rPr sz="1300" b="1" i="0">
                <a:solidFill>
                  <a:srgbClr val="00D4FF"/>
                </a:solidFill>
              </a:rPr>
              <a:t>Multi-threading is the dominant improvement.</a:t>
            </a:r>
          </a:p>
        </p:txBody>
      </p:sp>
      <p:sp>
        <p:nvSpPr>
          <p:cNvPr id="23" name="TextBox 22"/>
          <p:cNvSpPr txBox="1"/>
          <p:nvPr/>
        </p:nvSpPr>
        <p:spPr>
          <a:xfrm>
            <a:off x="777240" y="3593591"/>
            <a:ext cx="10789920" cy="347472"/>
          </a:xfrm>
          <a:prstGeom prst="rect">
            <a:avLst/>
          </a:prstGeom>
          <a:noFill/>
        </p:spPr>
        <p:txBody>
          <a:bodyPr wrap="square">
            <a:spAutoFit/>
          </a:bodyPr>
          <a:lstStyle/>
          <a:p>
            <a:pPr algn="l"/>
            <a:r>
              <a:rPr sz="1200" b="0" i="0">
                <a:solidFill>
                  <a:srgbClr val="8888AA"/>
                </a:solidFill>
              </a:rPr>
              <a:t>OpenMP gives 3× at large sizes — parallelising both tile-sort and merge-tree phases across 12 threads. No single-core technique comes close.</a:t>
            </a:r>
          </a:p>
        </p:txBody>
      </p:sp>
      <p:sp>
        <p:nvSpPr>
          <p:cNvPr id="24" name="Rectangle 23"/>
          <p:cNvSpPr/>
          <p:nvPr/>
        </p:nvSpPr>
        <p:spPr>
          <a:xfrm>
            <a:off x="594360" y="4069080"/>
            <a:ext cx="45720" cy="713232"/>
          </a:xfrm>
          <a:prstGeom prst="rect">
            <a:avLst/>
          </a:prstGeom>
          <a:solidFill>
            <a:srgbClr val="FFC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087368"/>
            <a:ext cx="10789920" cy="320040"/>
          </a:xfrm>
          <a:prstGeom prst="rect">
            <a:avLst/>
          </a:prstGeom>
          <a:noFill/>
        </p:spPr>
        <p:txBody>
          <a:bodyPr wrap="square">
            <a:spAutoFit/>
          </a:bodyPr>
          <a:lstStyle/>
          <a:p>
            <a:pPr algn="l"/>
            <a:r>
              <a:rPr sz="1300" b="1" i="0">
                <a:solidFill>
                  <a:srgbClr val="FFC844"/>
                </a:solidFill>
              </a:rPr>
              <a:t>Eliminating allocation overhead beats branch elimination.</a:t>
            </a:r>
          </a:p>
        </p:txBody>
      </p:sp>
      <p:sp>
        <p:nvSpPr>
          <p:cNvPr id="26" name="TextBox 25"/>
          <p:cNvSpPr txBox="1"/>
          <p:nvPr/>
        </p:nvSpPr>
        <p:spPr>
          <a:xfrm>
            <a:off x="777240" y="4416552"/>
            <a:ext cx="10789920" cy="347472"/>
          </a:xfrm>
          <a:prstGeom prst="rect">
            <a:avLst/>
          </a:prstGeom>
          <a:noFill/>
        </p:spPr>
        <p:txBody>
          <a:bodyPr wrap="square">
            <a:spAutoFit/>
          </a:bodyPr>
          <a:lstStyle/>
          <a:p>
            <a:pPr algn="l"/>
            <a:r>
              <a:rPr sz="1200" b="0" i="0">
                <a:solidFill>
                  <a:srgbClr val="8888AA"/>
                </a:solidFill>
              </a:rPr>
              <a:t>Pooled memory (DynTile) and AVX-512 Sim outperform branchless and prefetch — malloc/free cost is a bigger bottleneck than branch misprediction on this hardware.</a:t>
            </a:r>
          </a:p>
        </p:txBody>
      </p:sp>
      <p:sp>
        <p:nvSpPr>
          <p:cNvPr id="27" name="Rectangle 26"/>
          <p:cNvSpPr/>
          <p:nvPr/>
        </p:nvSpPr>
        <p:spPr>
          <a:xfrm>
            <a:off x="594360" y="4892040"/>
            <a:ext cx="45720" cy="7132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910328"/>
            <a:ext cx="10789920" cy="320040"/>
          </a:xfrm>
          <a:prstGeom prst="rect">
            <a:avLst/>
          </a:prstGeom>
          <a:noFill/>
        </p:spPr>
        <p:txBody>
          <a:bodyPr wrap="square">
            <a:spAutoFit/>
          </a:bodyPr>
          <a:lstStyle/>
          <a:p>
            <a:pPr algn="l"/>
            <a:r>
              <a:rPr sz="1300" b="1" i="0">
                <a:solidFill>
                  <a:srgbClr val="6C63FF"/>
                </a:solidFill>
              </a:rPr>
              <a:t>Measure everything — theory and practice diverge.</a:t>
            </a:r>
          </a:p>
        </p:txBody>
      </p:sp>
      <p:sp>
        <p:nvSpPr>
          <p:cNvPr id="29" name="TextBox 28"/>
          <p:cNvSpPr txBox="1"/>
          <p:nvPr/>
        </p:nvSpPr>
        <p:spPr>
          <a:xfrm>
            <a:off x="777240" y="5239512"/>
            <a:ext cx="10789920" cy="347472"/>
          </a:xfrm>
          <a:prstGeom prst="rect">
            <a:avLst/>
          </a:prstGeom>
          <a:noFill/>
        </p:spPr>
        <p:txBody>
          <a:bodyPr wrap="square">
            <a:spAutoFit/>
          </a:bodyPr>
          <a:lstStyle/>
          <a:p>
            <a:pPr algn="l"/>
            <a:r>
              <a:rPr sz="1200" b="0" i="0">
                <a:solidFill>
                  <a:srgbClr val="8888AA"/>
                </a:solidFill>
              </a:rPr>
              <a:t>Our first branchless implementation was slower. Our prefetch added overhead via bounds checks. Both were fixed only because we measured the actual running time.</a:t>
            </a:r>
          </a:p>
        </p:txBody>
      </p:sp>
      <p:sp>
        <p:nvSpPr>
          <p:cNvPr id="30" name="Rectangle 29"/>
          <p:cNvSpPr/>
          <p:nvPr/>
        </p:nvSpPr>
        <p:spPr>
          <a:xfrm>
            <a:off x="594360" y="5715000"/>
            <a:ext cx="45720" cy="71323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733288"/>
            <a:ext cx="10789920" cy="320040"/>
          </a:xfrm>
          <a:prstGeom prst="rect">
            <a:avLst/>
          </a:prstGeom>
          <a:noFill/>
        </p:spPr>
        <p:txBody>
          <a:bodyPr wrap="square">
            <a:spAutoFit/>
          </a:bodyPr>
          <a:lstStyle/>
          <a:p>
            <a:pPr algn="l"/>
            <a:r>
              <a:rPr sz="1300" b="1" i="0">
                <a:solidFill>
                  <a:srgbClr val="00E596"/>
                </a:solidFill>
              </a:rPr>
              <a:t>The serial merge step is the fundamental limit.</a:t>
            </a:r>
          </a:p>
        </p:txBody>
      </p:sp>
      <p:sp>
        <p:nvSpPr>
          <p:cNvPr id="32" name="TextBox 31"/>
          <p:cNvSpPr txBox="1"/>
          <p:nvPr/>
        </p:nvSpPr>
        <p:spPr>
          <a:xfrm>
            <a:off x="777240" y="6062472"/>
            <a:ext cx="10789920" cy="347472"/>
          </a:xfrm>
          <a:prstGeom prst="rect">
            <a:avLst/>
          </a:prstGeom>
          <a:noFill/>
        </p:spPr>
        <p:txBody>
          <a:bodyPr wrap="square">
            <a:spAutoFit/>
          </a:bodyPr>
          <a:lstStyle/>
          <a:p>
            <a:pPr algn="l"/>
            <a:r>
              <a:rPr sz="1200" b="0" i="0">
                <a:solidFill>
                  <a:srgbClr val="8888AA"/>
                </a:solidFill>
              </a:rPr>
              <a:t>At n=2M the merge phase is 98% of runtime. Amdahl's Law caps parallel speedup at ~1.02×. Further gains require parallelising the merge itself — an open research problem.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0F13"/>
        </a:solidFill>
        <a:effectLst/>
      </p:bgPr>
    </p:bg>
    <p:spTree>
      <p:nvGrpSpPr>
        <p:cNvPr id="1" name=""/>
        <p:cNvGrpSpPr/>
        <p:nvPr/>
      </p:nvGrpSpPr>
      <p:grpSpPr/>
      <p:sp>
        <p:nvSpPr>
          <p:cNvPr id="2" name="Rectangle 1"/>
          <p:cNvSpPr/>
          <p:nvPr/>
        </p:nvSpPr>
        <p:spPr>
          <a:xfrm>
            <a:off x="0" y="0"/>
            <a:ext cx="54864" cy="6858000"/>
          </a:xfrm>
          <a:prstGeom prst="rect">
            <a:avLst/>
          </a:prstGeom>
          <a:solidFill>
            <a:srgbClr val="888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502920"/>
          </a:xfrm>
          <a:prstGeom prst="rect">
            <a:avLst/>
          </a:prstGeom>
          <a:noFill/>
        </p:spPr>
        <p:txBody>
          <a:bodyPr wrap="square">
            <a:spAutoFit/>
          </a:bodyPr>
          <a:lstStyle/>
          <a:p>
            <a:pPr algn="l"/>
            <a:r>
              <a:rPr sz="2600" b="1" i="0">
                <a:solidFill>
                  <a:srgbClr val="FFFFFF"/>
                </a:solidFill>
              </a:rPr>
              <a:t>References</a:t>
            </a:r>
          </a:p>
        </p:txBody>
      </p:sp>
      <p:sp>
        <p:nvSpPr>
          <p:cNvPr id="4" name="TextBox 3"/>
          <p:cNvSpPr txBox="1"/>
          <p:nvPr/>
        </p:nvSpPr>
        <p:spPr>
          <a:xfrm>
            <a:off x="411480" y="694944"/>
            <a:ext cx="11338560" cy="292608"/>
          </a:xfrm>
          <a:prstGeom prst="rect">
            <a:avLst/>
          </a:prstGeom>
          <a:noFill/>
        </p:spPr>
        <p:txBody>
          <a:bodyPr wrap="square">
            <a:spAutoFit/>
          </a:bodyPr>
          <a:lstStyle/>
          <a:p>
            <a:pPr algn="l"/>
            <a:r>
              <a:rPr sz="1300" b="0" i="1">
                <a:solidFill>
                  <a:srgbClr val="8888AA"/>
                </a:solidFill>
              </a:rPr>
              <a:t>10</a:t>
            </a:r>
          </a:p>
        </p:txBody>
      </p:sp>
      <p:sp>
        <p:nvSpPr>
          <p:cNvPr id="5" name="Rectangle 4"/>
          <p:cNvSpPr/>
          <p:nvPr/>
        </p:nvSpPr>
        <p:spPr>
          <a:xfrm>
            <a:off x="411480" y="1024128"/>
            <a:ext cx="11365992" cy="228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188720"/>
            <a:ext cx="11365992" cy="5349240"/>
          </a:xfrm>
          <a:prstGeom prst="rect">
            <a:avLst/>
          </a:prstGeom>
          <a:solidFill>
            <a:srgbClr val="1A1A24"/>
          </a:solidFill>
          <a:ln w="12700">
            <a:solidFill>
              <a:srgbClr val="2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25880"/>
            <a:ext cx="640080" cy="384048"/>
          </a:xfrm>
          <a:prstGeom prst="rect">
            <a:avLst/>
          </a:prstGeom>
          <a:noFill/>
        </p:spPr>
        <p:txBody>
          <a:bodyPr wrap="square">
            <a:spAutoFit/>
          </a:bodyPr>
          <a:lstStyle/>
          <a:p>
            <a:pPr algn="l"/>
            <a:r>
              <a:rPr sz="1200" b="1" i="0">
                <a:solidFill>
                  <a:srgbClr val="6C63FF"/>
                </a:solidFill>
              </a:rPr>
              <a:t>[1]</a:t>
            </a:r>
          </a:p>
        </p:txBody>
      </p:sp>
      <p:sp>
        <p:nvSpPr>
          <p:cNvPr id="8" name="TextBox 7"/>
          <p:cNvSpPr txBox="1"/>
          <p:nvPr/>
        </p:nvSpPr>
        <p:spPr>
          <a:xfrm>
            <a:off x="1280160" y="1325880"/>
            <a:ext cx="2011680" cy="384048"/>
          </a:xfrm>
          <a:prstGeom prst="rect">
            <a:avLst/>
          </a:prstGeom>
          <a:noFill/>
        </p:spPr>
        <p:txBody>
          <a:bodyPr wrap="square">
            <a:spAutoFit/>
          </a:bodyPr>
          <a:lstStyle/>
          <a:p>
            <a:pPr algn="l"/>
            <a:r>
              <a:rPr sz="1200" b="1" i="0">
                <a:solidFill>
                  <a:srgbClr val="FFFFFF"/>
                </a:solidFill>
              </a:rPr>
              <a:t>simd_bitonic</a:t>
            </a:r>
          </a:p>
        </p:txBody>
      </p:sp>
      <p:sp>
        <p:nvSpPr>
          <p:cNvPr id="9" name="TextBox 8"/>
          <p:cNvSpPr txBox="1"/>
          <p:nvPr/>
        </p:nvSpPr>
        <p:spPr>
          <a:xfrm>
            <a:off x="3337560" y="1325880"/>
            <a:ext cx="8229600" cy="384048"/>
          </a:xfrm>
          <a:prstGeom prst="rect">
            <a:avLst/>
          </a:prstGeom>
          <a:noFill/>
        </p:spPr>
        <p:txBody>
          <a:bodyPr wrap="square">
            <a:spAutoFit/>
          </a:bodyPr>
          <a:lstStyle/>
          <a:p>
            <a:pPr algn="l"/>
            <a:r>
              <a:rPr sz="1200" b="0" i="0">
                <a:solidFill>
                  <a:srgbClr val="8888AA"/>
                </a:solidFill>
              </a:rPr>
              <a:t>Open-source SIMD bitonic sort library. github.com/nlguillemot/simd_bitonic</a:t>
            </a:r>
          </a:p>
        </p:txBody>
      </p:sp>
      <p:sp>
        <p:nvSpPr>
          <p:cNvPr id="10" name="Rectangle 9"/>
          <p:cNvSpPr/>
          <p:nvPr/>
        </p:nvSpPr>
        <p:spPr>
          <a:xfrm>
            <a:off x="594360" y="1737360"/>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856231"/>
            <a:ext cx="640080" cy="384048"/>
          </a:xfrm>
          <a:prstGeom prst="rect">
            <a:avLst/>
          </a:prstGeom>
          <a:noFill/>
        </p:spPr>
        <p:txBody>
          <a:bodyPr wrap="square">
            <a:spAutoFit/>
          </a:bodyPr>
          <a:lstStyle/>
          <a:p>
            <a:pPr algn="l"/>
            <a:r>
              <a:rPr sz="1200" b="1" i="0">
                <a:solidFill>
                  <a:srgbClr val="6C63FF"/>
                </a:solidFill>
              </a:rPr>
              <a:t>[2]</a:t>
            </a:r>
          </a:p>
        </p:txBody>
      </p:sp>
      <p:sp>
        <p:nvSpPr>
          <p:cNvPr id="12" name="TextBox 11"/>
          <p:cNvSpPr txBox="1"/>
          <p:nvPr/>
        </p:nvSpPr>
        <p:spPr>
          <a:xfrm>
            <a:off x="1280160" y="1856231"/>
            <a:ext cx="2011680" cy="384048"/>
          </a:xfrm>
          <a:prstGeom prst="rect">
            <a:avLst/>
          </a:prstGeom>
          <a:noFill/>
        </p:spPr>
        <p:txBody>
          <a:bodyPr wrap="square">
            <a:spAutoFit/>
          </a:bodyPr>
          <a:lstStyle/>
          <a:p>
            <a:pPr algn="l"/>
            <a:r>
              <a:rPr sz="1200" b="1" i="0">
                <a:solidFill>
                  <a:srgbClr val="FFFFFF"/>
                </a:solidFill>
              </a:rPr>
              <a:t>Batcher (1968)</a:t>
            </a:r>
          </a:p>
        </p:txBody>
      </p:sp>
      <p:sp>
        <p:nvSpPr>
          <p:cNvPr id="13" name="TextBox 12"/>
          <p:cNvSpPr txBox="1"/>
          <p:nvPr/>
        </p:nvSpPr>
        <p:spPr>
          <a:xfrm>
            <a:off x="3337560" y="1856231"/>
            <a:ext cx="8229600" cy="384048"/>
          </a:xfrm>
          <a:prstGeom prst="rect">
            <a:avLst/>
          </a:prstGeom>
          <a:noFill/>
        </p:spPr>
        <p:txBody>
          <a:bodyPr wrap="square">
            <a:spAutoFit/>
          </a:bodyPr>
          <a:lstStyle/>
          <a:p>
            <a:pPr algn="l"/>
            <a:r>
              <a:rPr sz="1200" b="0" i="0">
                <a:solidFill>
                  <a:srgbClr val="8888AA"/>
                </a:solidFill>
              </a:rPr>
              <a:t>Sorting networks and their applications. AFIPS Spring Joint Computer Conference.</a:t>
            </a:r>
          </a:p>
        </p:txBody>
      </p:sp>
      <p:sp>
        <p:nvSpPr>
          <p:cNvPr id="14" name="Rectangle 13"/>
          <p:cNvSpPr/>
          <p:nvPr/>
        </p:nvSpPr>
        <p:spPr>
          <a:xfrm>
            <a:off x="594360" y="2267712"/>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386584"/>
            <a:ext cx="640080" cy="384048"/>
          </a:xfrm>
          <a:prstGeom prst="rect">
            <a:avLst/>
          </a:prstGeom>
          <a:noFill/>
        </p:spPr>
        <p:txBody>
          <a:bodyPr wrap="square">
            <a:spAutoFit/>
          </a:bodyPr>
          <a:lstStyle/>
          <a:p>
            <a:pPr algn="l"/>
            <a:r>
              <a:rPr sz="1200" b="1" i="0">
                <a:solidFill>
                  <a:srgbClr val="6C63FF"/>
                </a:solidFill>
              </a:rPr>
              <a:t>[3]</a:t>
            </a:r>
          </a:p>
        </p:txBody>
      </p:sp>
      <p:sp>
        <p:nvSpPr>
          <p:cNvPr id="16" name="TextBox 15"/>
          <p:cNvSpPr txBox="1"/>
          <p:nvPr/>
        </p:nvSpPr>
        <p:spPr>
          <a:xfrm>
            <a:off x="1280160" y="2386584"/>
            <a:ext cx="2011680" cy="384048"/>
          </a:xfrm>
          <a:prstGeom prst="rect">
            <a:avLst/>
          </a:prstGeom>
          <a:noFill/>
        </p:spPr>
        <p:txBody>
          <a:bodyPr wrap="square">
            <a:spAutoFit/>
          </a:bodyPr>
          <a:lstStyle/>
          <a:p>
            <a:pPr algn="l"/>
            <a:r>
              <a:rPr sz="1200" b="1" i="0">
                <a:solidFill>
                  <a:srgbClr val="FFFFFF"/>
                </a:solidFill>
              </a:rPr>
              <a:t>Intel SDM Vol. 2</a:t>
            </a:r>
          </a:p>
        </p:txBody>
      </p:sp>
      <p:sp>
        <p:nvSpPr>
          <p:cNvPr id="17" name="TextBox 16"/>
          <p:cNvSpPr txBox="1"/>
          <p:nvPr/>
        </p:nvSpPr>
        <p:spPr>
          <a:xfrm>
            <a:off x="3337560" y="2386584"/>
            <a:ext cx="8229600" cy="384048"/>
          </a:xfrm>
          <a:prstGeom prst="rect">
            <a:avLst/>
          </a:prstGeom>
          <a:noFill/>
        </p:spPr>
        <p:txBody>
          <a:bodyPr wrap="square">
            <a:spAutoFit/>
          </a:bodyPr>
          <a:lstStyle/>
          <a:p>
            <a:pPr algn="l"/>
            <a:r>
              <a:rPr sz="1200" b="0" i="0">
                <a:solidFill>
                  <a:srgbClr val="8888AA"/>
                </a:solidFill>
              </a:rPr>
              <a:t>Intel 64 and IA-32 Architectures Software Developer's Manual — AVX2 intrinsics.</a:t>
            </a:r>
          </a:p>
        </p:txBody>
      </p:sp>
      <p:sp>
        <p:nvSpPr>
          <p:cNvPr id="18" name="Rectangle 17"/>
          <p:cNvSpPr/>
          <p:nvPr/>
        </p:nvSpPr>
        <p:spPr>
          <a:xfrm>
            <a:off x="594360" y="2798064"/>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916936"/>
            <a:ext cx="640080" cy="384048"/>
          </a:xfrm>
          <a:prstGeom prst="rect">
            <a:avLst/>
          </a:prstGeom>
          <a:noFill/>
        </p:spPr>
        <p:txBody>
          <a:bodyPr wrap="square">
            <a:spAutoFit/>
          </a:bodyPr>
          <a:lstStyle/>
          <a:p>
            <a:pPr algn="l"/>
            <a:r>
              <a:rPr sz="1200" b="1" i="0">
                <a:solidFill>
                  <a:srgbClr val="6C63FF"/>
                </a:solidFill>
              </a:rPr>
              <a:t>[4]</a:t>
            </a:r>
          </a:p>
        </p:txBody>
      </p:sp>
      <p:sp>
        <p:nvSpPr>
          <p:cNvPr id="20" name="TextBox 19"/>
          <p:cNvSpPr txBox="1"/>
          <p:nvPr/>
        </p:nvSpPr>
        <p:spPr>
          <a:xfrm>
            <a:off x="1280160" y="2916936"/>
            <a:ext cx="2011680" cy="384048"/>
          </a:xfrm>
          <a:prstGeom prst="rect">
            <a:avLst/>
          </a:prstGeom>
          <a:noFill/>
        </p:spPr>
        <p:txBody>
          <a:bodyPr wrap="square">
            <a:spAutoFit/>
          </a:bodyPr>
          <a:lstStyle/>
          <a:p>
            <a:pPr algn="l"/>
            <a:r>
              <a:rPr sz="1200" b="1" i="0">
                <a:solidFill>
                  <a:srgbClr val="FFFFFF"/>
                </a:solidFill>
              </a:rPr>
              <a:t>OpenMP ARB</a:t>
            </a:r>
          </a:p>
        </p:txBody>
      </p:sp>
      <p:sp>
        <p:nvSpPr>
          <p:cNvPr id="21" name="TextBox 20"/>
          <p:cNvSpPr txBox="1"/>
          <p:nvPr/>
        </p:nvSpPr>
        <p:spPr>
          <a:xfrm>
            <a:off x="3337560" y="2916936"/>
            <a:ext cx="8229600" cy="384048"/>
          </a:xfrm>
          <a:prstGeom prst="rect">
            <a:avLst/>
          </a:prstGeom>
          <a:noFill/>
        </p:spPr>
        <p:txBody>
          <a:bodyPr wrap="square">
            <a:spAutoFit/>
          </a:bodyPr>
          <a:lstStyle/>
          <a:p>
            <a:pPr algn="l"/>
            <a:r>
              <a:rPr sz="1200" b="0" i="0">
                <a:solidFill>
                  <a:srgbClr val="8888AA"/>
                </a:solidFill>
              </a:rPr>
              <a:t>OpenMP Application Programming Interface, Version 4.5.</a:t>
            </a:r>
          </a:p>
        </p:txBody>
      </p:sp>
      <p:sp>
        <p:nvSpPr>
          <p:cNvPr id="22" name="Rectangle 21"/>
          <p:cNvSpPr/>
          <p:nvPr/>
        </p:nvSpPr>
        <p:spPr>
          <a:xfrm>
            <a:off x="594360" y="3328416"/>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447288"/>
            <a:ext cx="640080" cy="384048"/>
          </a:xfrm>
          <a:prstGeom prst="rect">
            <a:avLst/>
          </a:prstGeom>
          <a:noFill/>
        </p:spPr>
        <p:txBody>
          <a:bodyPr wrap="square">
            <a:spAutoFit/>
          </a:bodyPr>
          <a:lstStyle/>
          <a:p>
            <a:pPr algn="l"/>
            <a:r>
              <a:rPr sz="1200" b="1" i="0">
                <a:solidFill>
                  <a:srgbClr val="6C63FF"/>
                </a:solidFill>
              </a:rPr>
              <a:t>[5]</a:t>
            </a:r>
          </a:p>
        </p:txBody>
      </p:sp>
      <p:sp>
        <p:nvSpPr>
          <p:cNvPr id="24" name="TextBox 23"/>
          <p:cNvSpPr txBox="1"/>
          <p:nvPr/>
        </p:nvSpPr>
        <p:spPr>
          <a:xfrm>
            <a:off x="1280160" y="3447288"/>
            <a:ext cx="2011680" cy="384048"/>
          </a:xfrm>
          <a:prstGeom prst="rect">
            <a:avLst/>
          </a:prstGeom>
          <a:noFill/>
        </p:spPr>
        <p:txBody>
          <a:bodyPr wrap="square">
            <a:spAutoFit/>
          </a:bodyPr>
          <a:lstStyle/>
          <a:p>
            <a:pPr algn="l"/>
            <a:r>
              <a:rPr sz="1200" b="1" i="0">
                <a:solidFill>
                  <a:srgbClr val="FFFFFF"/>
                </a:solidFill>
              </a:rPr>
              <a:t>Amdahl (1967)</a:t>
            </a:r>
          </a:p>
        </p:txBody>
      </p:sp>
      <p:sp>
        <p:nvSpPr>
          <p:cNvPr id="25" name="TextBox 24"/>
          <p:cNvSpPr txBox="1"/>
          <p:nvPr/>
        </p:nvSpPr>
        <p:spPr>
          <a:xfrm>
            <a:off x="3337560" y="3447288"/>
            <a:ext cx="8229600" cy="384048"/>
          </a:xfrm>
          <a:prstGeom prst="rect">
            <a:avLst/>
          </a:prstGeom>
          <a:noFill/>
        </p:spPr>
        <p:txBody>
          <a:bodyPr wrap="square">
            <a:spAutoFit/>
          </a:bodyPr>
          <a:lstStyle/>
          <a:p>
            <a:pPr algn="l"/>
            <a:r>
              <a:rPr sz="1200" b="0" i="0">
                <a:solidFill>
                  <a:srgbClr val="8888AA"/>
                </a:solidFill>
              </a:rPr>
              <a:t>Validity of the single-processor approach. AFIPS Spring Joint Computer Conference.</a:t>
            </a:r>
          </a:p>
        </p:txBody>
      </p:sp>
      <p:sp>
        <p:nvSpPr>
          <p:cNvPr id="26" name="Rectangle 25"/>
          <p:cNvSpPr/>
          <p:nvPr/>
        </p:nvSpPr>
        <p:spPr>
          <a:xfrm>
            <a:off x="594360" y="3858768"/>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3977639"/>
            <a:ext cx="640080" cy="384048"/>
          </a:xfrm>
          <a:prstGeom prst="rect">
            <a:avLst/>
          </a:prstGeom>
          <a:noFill/>
        </p:spPr>
        <p:txBody>
          <a:bodyPr wrap="square">
            <a:spAutoFit/>
          </a:bodyPr>
          <a:lstStyle/>
          <a:p>
            <a:pPr algn="l"/>
            <a:r>
              <a:rPr sz="1200" b="1" i="0">
                <a:solidFill>
                  <a:srgbClr val="6C63FF"/>
                </a:solidFill>
              </a:rPr>
              <a:t>[6]</a:t>
            </a:r>
          </a:p>
        </p:txBody>
      </p:sp>
      <p:sp>
        <p:nvSpPr>
          <p:cNvPr id="28" name="TextBox 27"/>
          <p:cNvSpPr txBox="1"/>
          <p:nvPr/>
        </p:nvSpPr>
        <p:spPr>
          <a:xfrm>
            <a:off x="1280160" y="3977639"/>
            <a:ext cx="2011680" cy="384048"/>
          </a:xfrm>
          <a:prstGeom prst="rect">
            <a:avLst/>
          </a:prstGeom>
          <a:noFill/>
        </p:spPr>
        <p:txBody>
          <a:bodyPr wrap="square">
            <a:spAutoFit/>
          </a:bodyPr>
          <a:lstStyle/>
          <a:p>
            <a:pPr algn="l"/>
            <a:r>
              <a:rPr sz="1200" b="1" i="0">
                <a:solidFill>
                  <a:srgbClr val="FFFFFF"/>
                </a:solidFill>
              </a:rPr>
              <a:t>Fog (2023)</a:t>
            </a:r>
          </a:p>
        </p:txBody>
      </p:sp>
      <p:sp>
        <p:nvSpPr>
          <p:cNvPr id="29" name="TextBox 28"/>
          <p:cNvSpPr txBox="1"/>
          <p:nvPr/>
        </p:nvSpPr>
        <p:spPr>
          <a:xfrm>
            <a:off x="3337560" y="3977639"/>
            <a:ext cx="8229600" cy="384048"/>
          </a:xfrm>
          <a:prstGeom prst="rect">
            <a:avLst/>
          </a:prstGeom>
          <a:noFill/>
        </p:spPr>
        <p:txBody>
          <a:bodyPr wrap="square">
            <a:spAutoFit/>
          </a:bodyPr>
          <a:lstStyle/>
          <a:p>
            <a:pPr algn="l"/>
            <a:r>
              <a:rPr sz="1200" b="0" i="0">
                <a:solidFill>
                  <a:srgbClr val="8888AA"/>
                </a:solidFill>
              </a:rPr>
              <a:t>Optimizing Software in C++ — Branch prediction, prefetch, cache hierarchy.</a:t>
            </a:r>
          </a:p>
        </p:txBody>
      </p:sp>
      <p:sp>
        <p:nvSpPr>
          <p:cNvPr id="30" name="Rectangle 29"/>
          <p:cNvSpPr/>
          <p:nvPr/>
        </p:nvSpPr>
        <p:spPr>
          <a:xfrm>
            <a:off x="594360" y="4389120"/>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4507992"/>
            <a:ext cx="640080" cy="384048"/>
          </a:xfrm>
          <a:prstGeom prst="rect">
            <a:avLst/>
          </a:prstGeom>
          <a:noFill/>
        </p:spPr>
        <p:txBody>
          <a:bodyPr wrap="square">
            <a:spAutoFit/>
          </a:bodyPr>
          <a:lstStyle/>
          <a:p>
            <a:pPr algn="l"/>
            <a:r>
              <a:rPr sz="1200" b="1" i="0">
                <a:solidFill>
                  <a:srgbClr val="6C63FF"/>
                </a:solidFill>
              </a:rPr>
              <a:t>[7]</a:t>
            </a:r>
          </a:p>
        </p:txBody>
      </p:sp>
      <p:sp>
        <p:nvSpPr>
          <p:cNvPr id="32" name="TextBox 31"/>
          <p:cNvSpPr txBox="1"/>
          <p:nvPr/>
        </p:nvSpPr>
        <p:spPr>
          <a:xfrm>
            <a:off x="1280160" y="4507992"/>
            <a:ext cx="2011680" cy="384048"/>
          </a:xfrm>
          <a:prstGeom prst="rect">
            <a:avLst/>
          </a:prstGeom>
          <a:noFill/>
        </p:spPr>
        <p:txBody>
          <a:bodyPr wrap="square">
            <a:spAutoFit/>
          </a:bodyPr>
          <a:lstStyle/>
          <a:p>
            <a:pPr algn="l"/>
            <a:r>
              <a:rPr sz="1200" b="1" i="0">
                <a:solidFill>
                  <a:srgbClr val="FFFFFF"/>
                </a:solidFill>
              </a:rPr>
              <a:t>sokol_time.h</a:t>
            </a:r>
          </a:p>
        </p:txBody>
      </p:sp>
      <p:sp>
        <p:nvSpPr>
          <p:cNvPr id="33" name="TextBox 32"/>
          <p:cNvSpPr txBox="1"/>
          <p:nvPr/>
        </p:nvSpPr>
        <p:spPr>
          <a:xfrm>
            <a:off x="3337560" y="4507992"/>
            <a:ext cx="8229600" cy="384048"/>
          </a:xfrm>
          <a:prstGeom prst="rect">
            <a:avLst/>
          </a:prstGeom>
          <a:noFill/>
        </p:spPr>
        <p:txBody>
          <a:bodyPr wrap="square">
            <a:spAutoFit/>
          </a:bodyPr>
          <a:lstStyle/>
          <a:p>
            <a:pPr algn="l"/>
            <a:r>
              <a:rPr sz="1200" b="0" i="0">
                <a:solidFill>
                  <a:srgbClr val="8888AA"/>
                </a:solidFill>
              </a:rPr>
              <a:t>Cross-platform high-resolution timer. André Weissflog. MIT License.</a:t>
            </a:r>
          </a:p>
        </p:txBody>
      </p:sp>
      <p:sp>
        <p:nvSpPr>
          <p:cNvPr id="34" name="Rectangle 33"/>
          <p:cNvSpPr/>
          <p:nvPr/>
        </p:nvSpPr>
        <p:spPr>
          <a:xfrm>
            <a:off x="594360" y="4919472"/>
            <a:ext cx="10972800" cy="7315"/>
          </a:xfrm>
          <a:prstGeom prst="rect">
            <a:avLst/>
          </a:prstGeom>
          <a:solidFill>
            <a:srgbClr val="28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6473952"/>
            <a:ext cx="10972800" cy="274320"/>
          </a:xfrm>
          <a:prstGeom prst="rect">
            <a:avLst/>
          </a:prstGeom>
          <a:noFill/>
        </p:spPr>
        <p:txBody>
          <a:bodyPr wrap="square">
            <a:spAutoFit/>
          </a:bodyPr>
          <a:lstStyle/>
          <a:p>
            <a:pPr algn="ctr"/>
            <a:r>
              <a:rPr sz="1100" b="0" i="1">
                <a:solidFill>
                  <a:srgbClr val="444460"/>
                </a:solidFill>
              </a:rPr>
              <a:t>All benchmarks reproducible: g++ -O3 -mavx2 -fopenmp -std=c++11 · fixed seed 0xABCDEF01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