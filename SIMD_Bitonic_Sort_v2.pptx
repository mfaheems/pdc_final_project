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109728"/>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88952"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47120" cy="502920"/>
          </a:xfrm>
          <a:prstGeom prst="rect">
            <a:avLst/>
          </a:prstGeom>
          <a:noFill/>
        </p:spPr>
        <p:txBody>
          <a:bodyPr wrap="square">
            <a:spAutoFit/>
          </a:bodyPr>
          <a:lstStyle/>
          <a:p>
            <a:pPr algn="ctr"/>
            <a:r>
              <a:rPr sz="1500" b="0" i="1">
                <a:solidFill>
                  <a:srgbClr val="B0C4D8"/>
                </a:solidFill>
              </a:rPr>
              <a:t>Parallel &amp; Distributed Computing  —  Final Project</a:t>
            </a:r>
          </a:p>
        </p:txBody>
      </p:sp>
      <p:sp>
        <p:nvSpPr>
          <p:cNvPr id="5" name="TextBox 4"/>
          <p:cNvSpPr txBox="1"/>
          <p:nvPr/>
        </p:nvSpPr>
        <p:spPr>
          <a:xfrm>
            <a:off x="457200" y="1188720"/>
            <a:ext cx="11247120" cy="1463040"/>
          </a:xfrm>
          <a:prstGeom prst="rect">
            <a:avLst/>
          </a:prstGeom>
          <a:noFill/>
        </p:spPr>
        <p:txBody>
          <a:bodyPr wrap="square">
            <a:spAutoFit/>
          </a:bodyPr>
          <a:lstStyle/>
          <a:p>
            <a:pPr algn="ctr"/>
            <a:r>
              <a:rPr sz="4400" b="1" i="0">
                <a:solidFill>
                  <a:srgbClr val="FFFFFF"/>
                </a:solidFill>
              </a:rPr>
              <a:t>Making Sorting
Faster with Modern Hardware</a:t>
            </a:r>
          </a:p>
        </p:txBody>
      </p:sp>
      <p:sp>
        <p:nvSpPr>
          <p:cNvPr id="6" name="Rectangle 5"/>
          <p:cNvSpPr/>
          <p:nvPr/>
        </p:nvSpPr>
        <p:spPr>
          <a:xfrm>
            <a:off x="2286000" y="2788920"/>
            <a:ext cx="7616952"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926080"/>
            <a:ext cx="11247120" cy="502920"/>
          </a:xfrm>
          <a:prstGeom prst="rect">
            <a:avLst/>
          </a:prstGeom>
          <a:noFill/>
        </p:spPr>
        <p:txBody>
          <a:bodyPr wrap="square">
            <a:spAutoFit/>
          </a:bodyPr>
          <a:lstStyle/>
          <a:p>
            <a:pPr algn="ctr"/>
            <a:r>
              <a:rPr sz="1800" b="0" i="0">
                <a:solidFill>
                  <a:srgbClr val="48CAE4"/>
                </a:solidFill>
              </a:rPr>
              <a:t>SIMD Bitonic Sort  ·  AVX2 Vector Instructions  ·  OpenMP Multi-threading</a:t>
            </a:r>
          </a:p>
        </p:txBody>
      </p:sp>
      <p:sp>
        <p:nvSpPr>
          <p:cNvPr id="8" name="TextBox 7"/>
          <p:cNvSpPr txBox="1"/>
          <p:nvPr/>
        </p:nvSpPr>
        <p:spPr>
          <a:xfrm>
            <a:off x="457200" y="3749039"/>
            <a:ext cx="11247120" cy="457200"/>
          </a:xfrm>
          <a:prstGeom prst="rect">
            <a:avLst/>
          </a:prstGeom>
          <a:noFill/>
        </p:spPr>
        <p:txBody>
          <a:bodyPr wrap="square">
            <a:spAutoFit/>
          </a:bodyPr>
          <a:lstStyle/>
          <a:p>
            <a:pPr algn="ctr"/>
            <a:r>
              <a:rPr sz="2000" b="1" i="0">
                <a:solidFill>
                  <a:srgbClr val="FFD166"/>
                </a:solidFill>
              </a:rPr>
              <a:t>How do we take a good sorting algorithm and make it 3× faster?</a:t>
            </a:r>
          </a:p>
        </p:txBody>
      </p:sp>
      <p:sp>
        <p:nvSpPr>
          <p:cNvPr id="9" name="TextBox 8"/>
          <p:cNvSpPr txBox="1"/>
          <p:nvPr/>
        </p:nvSpPr>
        <p:spPr>
          <a:xfrm>
            <a:off x="457200" y="4572000"/>
            <a:ext cx="11247120" cy="457200"/>
          </a:xfrm>
          <a:prstGeom prst="rect">
            <a:avLst/>
          </a:prstGeom>
          <a:noFill/>
        </p:spPr>
        <p:txBody>
          <a:bodyPr wrap="square">
            <a:spAutoFit/>
          </a:bodyPr>
          <a:lstStyle/>
          <a:p>
            <a:pPr algn="ctr"/>
            <a:r>
              <a:rPr sz="1300" b="0" i="0">
                <a:solidFill>
                  <a:srgbClr val="B0C4D8"/>
                </a:solidFill>
              </a:rPr>
              <a:t>Hardware:  Intel Core i7  ·  6 cores / 12 threads  ·  AVX2  ·  Windows 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88952"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4008"/>
            <a:ext cx="11795760" cy="749808"/>
          </a:xfrm>
          <a:prstGeom prst="rect">
            <a:avLst/>
          </a:prstGeom>
          <a:noFill/>
        </p:spPr>
        <p:txBody>
          <a:bodyPr wrap="square">
            <a:spAutoFit/>
          </a:bodyPr>
          <a:lstStyle/>
          <a:p>
            <a:pPr algn="l"/>
            <a:r>
              <a:rPr sz="2700" b="1" i="0">
                <a:solidFill>
                  <a:srgbClr val="FFFFFF"/>
                </a:solidFill>
              </a:rPr>
              <a:t>  01   The Problem — Sorting 2 Million Numbers, Fast</a:t>
            </a:r>
          </a:p>
        </p:txBody>
      </p:sp>
      <p:sp>
        <p:nvSpPr>
          <p:cNvPr id="5" name="Rectangle 4"/>
          <p:cNvSpPr/>
          <p:nvPr/>
        </p:nvSpPr>
        <p:spPr>
          <a:xfrm>
            <a:off x="274320" y="1005840"/>
            <a:ext cx="7406640" cy="128016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51560"/>
            <a:ext cx="7132320" cy="411480"/>
          </a:xfrm>
          <a:prstGeom prst="rect">
            <a:avLst/>
          </a:prstGeom>
          <a:noFill/>
        </p:spPr>
        <p:txBody>
          <a:bodyPr wrap="square">
            <a:spAutoFit/>
          </a:bodyPr>
          <a:lstStyle/>
          <a:p>
            <a:pPr algn="l"/>
            <a:r>
              <a:rPr sz="1600" b="1" i="0">
                <a:solidFill>
                  <a:srgbClr val="00B4D8"/>
                </a:solidFill>
              </a:rPr>
              <a:t>The Challenge</a:t>
            </a:r>
          </a:p>
        </p:txBody>
      </p:sp>
      <p:sp>
        <p:nvSpPr>
          <p:cNvPr id="7" name="TextBox 6"/>
          <p:cNvSpPr txBox="1"/>
          <p:nvPr/>
        </p:nvSpPr>
        <p:spPr>
          <a:xfrm>
            <a:off x="411480" y="1463040"/>
            <a:ext cx="7132320" cy="731520"/>
          </a:xfrm>
          <a:prstGeom prst="rect">
            <a:avLst/>
          </a:prstGeom>
          <a:noFill/>
        </p:spPr>
        <p:txBody>
          <a:bodyPr wrap="square">
            <a:spAutoFit/>
          </a:bodyPr>
          <a:lstStyle/>
          <a:p>
            <a:pPr algn="l"/>
            <a:r>
              <a:rPr sz="1400" b="0" i="0">
                <a:solidFill>
                  <a:srgbClr val="FFFFFF"/>
                </a:solidFill>
              </a:rPr>
              <a:t>Sort an array of 2,000,000 floating-point numbers as fast as possible on a modern multi-core processor — without changing the algorithm's correctness.</a:t>
            </a:r>
          </a:p>
        </p:txBody>
      </p:sp>
      <p:sp>
        <p:nvSpPr>
          <p:cNvPr id="8" name="Rectangle 7"/>
          <p:cNvSpPr/>
          <p:nvPr/>
        </p:nvSpPr>
        <p:spPr>
          <a:xfrm>
            <a:off x="7955279" y="1005840"/>
            <a:ext cx="3931920" cy="1280160"/>
          </a:xfrm>
          <a:prstGeom prst="rect">
            <a:avLst/>
          </a:prstGeom>
          <a:solidFill>
            <a:srgbClr val="3A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1051560"/>
            <a:ext cx="3657600" cy="411480"/>
          </a:xfrm>
          <a:prstGeom prst="rect">
            <a:avLst/>
          </a:prstGeom>
          <a:noFill/>
        </p:spPr>
        <p:txBody>
          <a:bodyPr wrap="square">
            <a:spAutoFit/>
          </a:bodyPr>
          <a:lstStyle/>
          <a:p>
            <a:pPr algn="l"/>
            <a:r>
              <a:rPr sz="1400" b="1" i="0">
                <a:solidFill>
                  <a:srgbClr val="FF6B6B"/>
                </a:solidFill>
              </a:rPr>
              <a:t>The Problem with std::sort</a:t>
            </a:r>
          </a:p>
        </p:txBody>
      </p:sp>
      <p:sp>
        <p:nvSpPr>
          <p:cNvPr id="10" name="TextBox 9"/>
          <p:cNvSpPr txBox="1"/>
          <p:nvPr/>
        </p:nvSpPr>
        <p:spPr>
          <a:xfrm>
            <a:off x="8092440" y="1463040"/>
            <a:ext cx="3657600" cy="731520"/>
          </a:xfrm>
          <a:prstGeom prst="rect">
            <a:avLst/>
          </a:prstGeom>
          <a:noFill/>
        </p:spPr>
        <p:txBody>
          <a:bodyPr wrap="square">
            <a:spAutoFit/>
          </a:bodyPr>
          <a:lstStyle/>
          <a:p>
            <a:pPr algn="l"/>
            <a:r>
              <a:rPr sz="1300" b="0" i="0">
                <a:solidFill>
                  <a:srgbClr val="FFFFFF"/>
                </a:solidFill>
              </a:rPr>
              <a:t>Standard library sort uses only 1 CPU core and ignores the processor's powerful vector units entirely.</a:t>
            </a:r>
          </a:p>
        </p:txBody>
      </p:sp>
      <p:sp>
        <p:nvSpPr>
          <p:cNvPr id="11" name="Rectangle 10"/>
          <p:cNvSpPr/>
          <p:nvPr/>
        </p:nvSpPr>
        <p:spPr>
          <a:xfrm>
            <a:off x="274320" y="2514600"/>
            <a:ext cx="3840480" cy="228600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971800"/>
            <a:ext cx="384048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79" y="2578608"/>
            <a:ext cx="3566160" cy="384048"/>
          </a:xfrm>
          <a:prstGeom prst="rect">
            <a:avLst/>
          </a:prstGeom>
          <a:noFill/>
        </p:spPr>
        <p:txBody>
          <a:bodyPr wrap="square">
            <a:spAutoFit/>
          </a:bodyPr>
          <a:lstStyle/>
          <a:p>
            <a:pPr algn="l"/>
            <a:r>
              <a:rPr sz="1500" b="1" i="0">
                <a:solidFill>
                  <a:srgbClr val="00B4D8"/>
                </a:solidFill>
              </a:rPr>
              <a:t>🔢  Vector Units (SIMD)</a:t>
            </a:r>
          </a:p>
        </p:txBody>
      </p:sp>
      <p:sp>
        <p:nvSpPr>
          <p:cNvPr id="14" name="TextBox 13"/>
          <p:cNvSpPr txBox="1"/>
          <p:nvPr/>
        </p:nvSpPr>
        <p:spPr>
          <a:xfrm>
            <a:off x="411479" y="3017520"/>
            <a:ext cx="3566160" cy="1645920"/>
          </a:xfrm>
          <a:prstGeom prst="rect">
            <a:avLst/>
          </a:prstGeom>
          <a:noFill/>
        </p:spPr>
        <p:txBody>
          <a:bodyPr wrap="square">
            <a:spAutoFit/>
          </a:bodyPr>
          <a:lstStyle/>
          <a:p>
            <a:pPr algn="l"/>
            <a:r>
              <a:rPr sz="1300" b="0" i="0">
                <a:solidFill>
                  <a:srgbClr val="FFFFFF"/>
                </a:solidFill>
              </a:rPr>
              <a:t>Modern CPUs can compare 8 numbers simultaneously using special 256-bit registers. Sort 8 at once instead of 1.</a:t>
            </a:r>
          </a:p>
        </p:txBody>
      </p:sp>
      <p:sp>
        <p:nvSpPr>
          <p:cNvPr id="15" name="Rectangle 14"/>
          <p:cNvSpPr/>
          <p:nvPr/>
        </p:nvSpPr>
        <p:spPr>
          <a:xfrm>
            <a:off x="4251959" y="2514600"/>
            <a:ext cx="3840480" cy="228600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51959" y="2971800"/>
            <a:ext cx="3840480" cy="36576"/>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2578608"/>
            <a:ext cx="3566160" cy="384048"/>
          </a:xfrm>
          <a:prstGeom prst="rect">
            <a:avLst/>
          </a:prstGeom>
          <a:noFill/>
        </p:spPr>
        <p:txBody>
          <a:bodyPr wrap="square">
            <a:spAutoFit/>
          </a:bodyPr>
          <a:lstStyle/>
          <a:p>
            <a:pPr algn="l"/>
            <a:r>
              <a:rPr sz="1500" b="1" i="0">
                <a:solidFill>
                  <a:srgbClr val="06D6A0"/>
                </a:solidFill>
              </a:rPr>
              <a:t>⚡  Multiple Cores</a:t>
            </a:r>
          </a:p>
        </p:txBody>
      </p:sp>
      <p:sp>
        <p:nvSpPr>
          <p:cNvPr id="18" name="TextBox 17"/>
          <p:cNvSpPr txBox="1"/>
          <p:nvPr/>
        </p:nvSpPr>
        <p:spPr>
          <a:xfrm>
            <a:off x="4389120" y="3017520"/>
            <a:ext cx="3566160" cy="1645920"/>
          </a:xfrm>
          <a:prstGeom prst="rect">
            <a:avLst/>
          </a:prstGeom>
          <a:noFill/>
        </p:spPr>
        <p:txBody>
          <a:bodyPr wrap="square">
            <a:spAutoFit/>
          </a:bodyPr>
          <a:lstStyle/>
          <a:p>
            <a:pPr algn="l"/>
            <a:r>
              <a:rPr sz="1300" b="0" i="0">
                <a:solidFill>
                  <a:srgbClr val="FFFFFF"/>
                </a:solidFill>
              </a:rPr>
              <a:t>Split the array across all 12 threads and sort in parallel. Each thread handles its own chunk independently.</a:t>
            </a:r>
          </a:p>
        </p:txBody>
      </p:sp>
      <p:sp>
        <p:nvSpPr>
          <p:cNvPr id="19" name="Rectangle 18"/>
          <p:cNvSpPr/>
          <p:nvPr/>
        </p:nvSpPr>
        <p:spPr>
          <a:xfrm>
            <a:off x="8229600" y="2514600"/>
            <a:ext cx="3840480" cy="228600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2971800"/>
            <a:ext cx="3840480" cy="36576"/>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2578608"/>
            <a:ext cx="3566160" cy="384048"/>
          </a:xfrm>
          <a:prstGeom prst="rect">
            <a:avLst/>
          </a:prstGeom>
          <a:noFill/>
        </p:spPr>
        <p:txBody>
          <a:bodyPr wrap="square">
            <a:spAutoFit/>
          </a:bodyPr>
          <a:lstStyle/>
          <a:p>
            <a:pPr algn="l"/>
            <a:r>
              <a:rPr sz="1500" b="1" i="0">
                <a:solidFill>
                  <a:srgbClr val="FFD166"/>
                </a:solidFill>
              </a:rPr>
              <a:t>🧠  Cache Awareness</a:t>
            </a:r>
          </a:p>
        </p:txBody>
      </p:sp>
      <p:sp>
        <p:nvSpPr>
          <p:cNvPr id="22" name="TextBox 21"/>
          <p:cNvSpPr txBox="1"/>
          <p:nvPr/>
        </p:nvSpPr>
        <p:spPr>
          <a:xfrm>
            <a:off x="8366760" y="3017520"/>
            <a:ext cx="3566160" cy="1645920"/>
          </a:xfrm>
          <a:prstGeom prst="rect">
            <a:avLst/>
          </a:prstGeom>
          <a:noFill/>
        </p:spPr>
        <p:txBody>
          <a:bodyPr wrap="square">
            <a:spAutoFit/>
          </a:bodyPr>
          <a:lstStyle/>
          <a:p>
            <a:pPr algn="l"/>
            <a:r>
              <a:rPr sz="1300" b="0" i="0">
                <a:solidFill>
                  <a:srgbClr val="FFFFFF"/>
                </a:solidFill>
              </a:rPr>
              <a:t>Keep data close to the processor. Reading from fast cache instead of slow RAM can be 100× faster.</a:t>
            </a:r>
          </a:p>
        </p:txBody>
      </p:sp>
      <p:sp>
        <p:nvSpPr>
          <p:cNvPr id="23" name="TextBox 22"/>
          <p:cNvSpPr txBox="1"/>
          <p:nvPr/>
        </p:nvSpPr>
        <p:spPr>
          <a:xfrm>
            <a:off x="274320" y="4983480"/>
            <a:ext cx="11640312" cy="457200"/>
          </a:xfrm>
          <a:prstGeom prst="rect">
            <a:avLst/>
          </a:prstGeom>
          <a:noFill/>
        </p:spPr>
        <p:txBody>
          <a:bodyPr wrap="square">
            <a:spAutoFit/>
          </a:bodyPr>
          <a:lstStyle/>
          <a:p>
            <a:pPr algn="ctr"/>
            <a:r>
              <a:rPr sz="1400" b="1" i="0">
                <a:solidFill>
                  <a:srgbClr val="FFD166"/>
                </a:solidFill>
              </a:rPr>
              <a:t>Our base library already uses SIMD. Our project adds multi-threading, smarter memory use, and hardware-aware tuning.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88952"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4008"/>
            <a:ext cx="11795760" cy="749808"/>
          </a:xfrm>
          <a:prstGeom prst="rect">
            <a:avLst/>
          </a:prstGeom>
          <a:noFill/>
        </p:spPr>
        <p:txBody>
          <a:bodyPr wrap="square">
            <a:spAutoFit/>
          </a:bodyPr>
          <a:lstStyle/>
          <a:p>
            <a:pPr algn="l"/>
            <a:r>
              <a:rPr sz="2700" b="1" i="0">
                <a:solidFill>
                  <a:srgbClr val="FFFFFF"/>
                </a:solidFill>
              </a:rPr>
              <a:t>  01   The Base Library — simd_bitonic</a:t>
            </a:r>
          </a:p>
        </p:txBody>
      </p:sp>
      <p:sp>
        <p:nvSpPr>
          <p:cNvPr id="5" name="Rectangle 4"/>
          <p:cNvSpPr/>
          <p:nvPr/>
        </p:nvSpPr>
        <p:spPr>
          <a:xfrm>
            <a:off x="274320" y="1005840"/>
            <a:ext cx="11640312" cy="1005840"/>
          </a:xfrm>
          <a:prstGeom prst="rect">
            <a:avLst/>
          </a:prstGeom>
          <a:solidFill>
            <a:srgbClr val="0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51560"/>
            <a:ext cx="11247120" cy="347472"/>
          </a:xfrm>
          <a:prstGeom prst="rect">
            <a:avLst/>
          </a:prstGeom>
          <a:noFill/>
        </p:spPr>
        <p:txBody>
          <a:bodyPr wrap="square">
            <a:spAutoFit/>
          </a:bodyPr>
          <a:lstStyle/>
          <a:p>
            <a:pPr algn="l"/>
            <a:r>
              <a:rPr sz="1500" b="1" i="0">
                <a:solidFill>
                  <a:srgbClr val="FFD166"/>
                </a:solidFill>
              </a:rPr>
              <a:t>Analogy: Think of it like a sorting machine on an assembly line</a:t>
            </a:r>
          </a:p>
        </p:txBody>
      </p:sp>
      <p:sp>
        <p:nvSpPr>
          <p:cNvPr id="7" name="TextBox 6"/>
          <p:cNvSpPr txBox="1"/>
          <p:nvPr/>
        </p:nvSpPr>
        <p:spPr>
          <a:xfrm>
            <a:off x="457200" y="1399032"/>
            <a:ext cx="11247120" cy="502920"/>
          </a:xfrm>
          <a:prstGeom prst="rect">
            <a:avLst/>
          </a:prstGeom>
          <a:noFill/>
        </p:spPr>
        <p:txBody>
          <a:bodyPr wrap="square">
            <a:spAutoFit/>
          </a:bodyPr>
          <a:lstStyle/>
          <a:p>
            <a:pPr algn="l"/>
            <a:r>
              <a:rPr sz="1300" b="0" i="0">
                <a:solidFill>
                  <a:srgbClr val="FFFFFF"/>
                </a:solidFill>
              </a:rPr>
              <a:t>The machine processes 8 numbers at a time (one SIMD register), comparing and swapping them in a fixed pattern — no decisions, no guessing, just pure parallel comparisons.</a:t>
            </a:r>
          </a:p>
        </p:txBody>
      </p:sp>
      <p:sp>
        <p:nvSpPr>
          <p:cNvPr id="8" name="Rectangle 7"/>
          <p:cNvSpPr/>
          <p:nvPr/>
        </p:nvSpPr>
        <p:spPr>
          <a:xfrm>
            <a:off x="274320" y="2194560"/>
            <a:ext cx="5577840" cy="425196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2240280"/>
            <a:ext cx="5303520" cy="411480"/>
          </a:xfrm>
          <a:prstGeom prst="rect">
            <a:avLst/>
          </a:prstGeom>
          <a:noFill/>
        </p:spPr>
        <p:txBody>
          <a:bodyPr wrap="square">
            <a:spAutoFit/>
          </a:bodyPr>
          <a:lstStyle/>
          <a:p>
            <a:pPr algn="l"/>
            <a:r>
              <a:rPr sz="1700" b="1" i="0">
                <a:solidFill>
                  <a:srgbClr val="00B4D8"/>
                </a:solidFill>
              </a:rPr>
              <a:t>Phase 1 — Small Sort</a:t>
            </a:r>
          </a:p>
        </p:txBody>
      </p:sp>
      <p:sp>
        <p:nvSpPr>
          <p:cNvPr id="10" name="TextBox 9"/>
          <p:cNvSpPr txBox="1"/>
          <p:nvPr/>
        </p:nvSpPr>
        <p:spPr>
          <a:xfrm>
            <a:off x="411480" y="2697480"/>
            <a:ext cx="5303520" cy="365760"/>
          </a:xfrm>
          <a:prstGeom prst="rect">
            <a:avLst/>
          </a:prstGeom>
          <a:noFill/>
        </p:spPr>
        <p:txBody>
          <a:bodyPr wrap="square">
            <a:spAutoFit/>
          </a:bodyPr>
          <a:lstStyle/>
          <a:p>
            <a:pPr algn="l"/>
            <a:r>
              <a:rPr sz="1300" b="0" i="0">
                <a:solidFill>
                  <a:srgbClr val="B0C4D8"/>
                </a:solidFill>
              </a:rPr>
              <a:t>For chunks up to 192 numbers:</a:t>
            </a:r>
          </a:p>
        </p:txBody>
      </p:sp>
      <p:sp>
        <p:nvSpPr>
          <p:cNvPr id="11" name="TextBox 10"/>
          <p:cNvSpPr txBox="1"/>
          <p:nvPr/>
        </p:nvSpPr>
        <p:spPr>
          <a:xfrm>
            <a:off x="502920" y="3108960"/>
            <a:ext cx="5120640" cy="384048"/>
          </a:xfrm>
          <a:prstGeom prst="rect">
            <a:avLst/>
          </a:prstGeom>
          <a:noFill/>
        </p:spPr>
        <p:txBody>
          <a:bodyPr wrap="square">
            <a:spAutoFit/>
          </a:bodyPr>
          <a:lstStyle/>
          <a:p>
            <a:pPr algn="l"/>
            <a:r>
              <a:rPr sz="1300" b="0" i="0">
                <a:solidFill>
                  <a:srgbClr val="FFFFFF"/>
                </a:solidFill>
              </a:rPr>
              <a:t>✓  Load 192 numbers into 24 registers (8 each)</a:t>
            </a:r>
          </a:p>
        </p:txBody>
      </p:sp>
      <p:sp>
        <p:nvSpPr>
          <p:cNvPr id="12" name="TextBox 11"/>
          <p:cNvSpPr txBox="1"/>
          <p:nvPr/>
        </p:nvSpPr>
        <p:spPr>
          <a:xfrm>
            <a:off x="502920" y="3511296"/>
            <a:ext cx="5120640" cy="384048"/>
          </a:xfrm>
          <a:prstGeom prst="rect">
            <a:avLst/>
          </a:prstGeom>
          <a:noFill/>
        </p:spPr>
        <p:txBody>
          <a:bodyPr wrap="square">
            <a:spAutoFit/>
          </a:bodyPr>
          <a:lstStyle/>
          <a:p>
            <a:pPr algn="l"/>
            <a:r>
              <a:rPr sz="1300" b="0" i="0">
                <a:solidFill>
                  <a:srgbClr val="FFFFFF"/>
                </a:solidFill>
              </a:rPr>
              <a:t>✓  Apply a fixed 'sorting network' — like a tournament bracket</a:t>
            </a:r>
          </a:p>
        </p:txBody>
      </p:sp>
      <p:sp>
        <p:nvSpPr>
          <p:cNvPr id="13" name="TextBox 12"/>
          <p:cNvSpPr txBox="1"/>
          <p:nvPr/>
        </p:nvSpPr>
        <p:spPr>
          <a:xfrm>
            <a:off x="502920" y="3913632"/>
            <a:ext cx="5120640" cy="384048"/>
          </a:xfrm>
          <a:prstGeom prst="rect">
            <a:avLst/>
          </a:prstGeom>
          <a:noFill/>
        </p:spPr>
        <p:txBody>
          <a:bodyPr wrap="square">
            <a:spAutoFit/>
          </a:bodyPr>
          <a:lstStyle/>
          <a:p>
            <a:pPr algn="l"/>
            <a:r>
              <a:rPr sz="1300" b="0" i="0">
                <a:solidFill>
                  <a:srgbClr val="FFFFFF"/>
                </a:solidFill>
              </a:rPr>
              <a:t>✓  Every comparison runs in parallel across all 8 lanes</a:t>
            </a:r>
          </a:p>
        </p:txBody>
      </p:sp>
      <p:sp>
        <p:nvSpPr>
          <p:cNvPr id="14" name="TextBox 13"/>
          <p:cNvSpPr txBox="1"/>
          <p:nvPr/>
        </p:nvSpPr>
        <p:spPr>
          <a:xfrm>
            <a:off x="502920" y="4315968"/>
            <a:ext cx="5120640" cy="384048"/>
          </a:xfrm>
          <a:prstGeom prst="rect">
            <a:avLst/>
          </a:prstGeom>
          <a:noFill/>
        </p:spPr>
        <p:txBody>
          <a:bodyPr wrap="square">
            <a:spAutoFit/>
          </a:bodyPr>
          <a:lstStyle/>
          <a:p>
            <a:pPr algn="l"/>
            <a:r>
              <a:rPr sz="1300" b="0" i="0">
                <a:solidFill>
                  <a:srgbClr val="FFFFFF"/>
                </a:solidFill>
              </a:rPr>
              <a:t>✓  Output: perfectly sorted chunk, no branches taken</a:t>
            </a:r>
          </a:p>
        </p:txBody>
      </p:sp>
      <p:sp>
        <p:nvSpPr>
          <p:cNvPr id="15" name="TextBox 14"/>
          <p:cNvSpPr txBox="1"/>
          <p:nvPr/>
        </p:nvSpPr>
        <p:spPr>
          <a:xfrm>
            <a:off x="502920" y="4718304"/>
            <a:ext cx="5120640" cy="384048"/>
          </a:xfrm>
          <a:prstGeom prst="rect">
            <a:avLst/>
          </a:prstGeom>
          <a:noFill/>
        </p:spPr>
        <p:txBody>
          <a:bodyPr wrap="square">
            <a:spAutoFit/>
          </a:bodyPr>
          <a:lstStyle/>
          <a:p>
            <a:pPr algn="l"/>
            <a:r>
              <a:rPr sz="1300" b="0" i="0">
                <a:solidFill>
                  <a:srgbClr val="FFFFFF"/>
                </a:solidFill>
              </a:rPr>
              <a:t>✓  Speedup vs std::sort: up to 9× at small sizes</a:t>
            </a:r>
          </a:p>
        </p:txBody>
      </p:sp>
      <p:sp>
        <p:nvSpPr>
          <p:cNvPr id="16" name="Rectangle 15"/>
          <p:cNvSpPr/>
          <p:nvPr/>
        </p:nvSpPr>
        <p:spPr>
          <a:xfrm>
            <a:off x="6035040" y="2194560"/>
            <a:ext cx="5897880" cy="425196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2240280"/>
            <a:ext cx="5577840" cy="411480"/>
          </a:xfrm>
          <a:prstGeom prst="rect">
            <a:avLst/>
          </a:prstGeom>
          <a:noFill/>
        </p:spPr>
        <p:txBody>
          <a:bodyPr wrap="square">
            <a:spAutoFit/>
          </a:bodyPr>
          <a:lstStyle/>
          <a:p>
            <a:pPr algn="l"/>
            <a:r>
              <a:rPr sz="1700" b="1" i="0">
                <a:solidFill>
                  <a:srgbClr val="00B4D8"/>
                </a:solidFill>
              </a:rPr>
              <a:t>Phase 2 — Merge Sort</a:t>
            </a:r>
          </a:p>
        </p:txBody>
      </p:sp>
      <p:sp>
        <p:nvSpPr>
          <p:cNvPr id="18" name="TextBox 17"/>
          <p:cNvSpPr txBox="1"/>
          <p:nvPr/>
        </p:nvSpPr>
        <p:spPr>
          <a:xfrm>
            <a:off x="6172200" y="2697480"/>
            <a:ext cx="5577840" cy="365760"/>
          </a:xfrm>
          <a:prstGeom prst="rect">
            <a:avLst/>
          </a:prstGeom>
          <a:noFill/>
        </p:spPr>
        <p:txBody>
          <a:bodyPr wrap="square">
            <a:spAutoFit/>
          </a:bodyPr>
          <a:lstStyle/>
          <a:p>
            <a:pPr algn="l"/>
            <a:r>
              <a:rPr sz="1300" b="0" i="0">
                <a:solidFill>
                  <a:srgbClr val="B0C4D8"/>
                </a:solidFill>
              </a:rPr>
              <a:t>For larger arrays:</a:t>
            </a:r>
          </a:p>
        </p:txBody>
      </p:sp>
      <p:sp>
        <p:nvSpPr>
          <p:cNvPr id="19" name="TextBox 18"/>
          <p:cNvSpPr txBox="1"/>
          <p:nvPr/>
        </p:nvSpPr>
        <p:spPr>
          <a:xfrm>
            <a:off x="6309360" y="3108960"/>
            <a:ext cx="5486400" cy="384048"/>
          </a:xfrm>
          <a:prstGeom prst="rect">
            <a:avLst/>
          </a:prstGeom>
          <a:noFill/>
        </p:spPr>
        <p:txBody>
          <a:bodyPr wrap="square">
            <a:spAutoFit/>
          </a:bodyPr>
          <a:lstStyle/>
          <a:p>
            <a:pPr algn="l"/>
            <a:r>
              <a:rPr sz="1300" b="0" i="0">
                <a:solidFill>
                  <a:srgbClr val="FFFFFF"/>
                </a:solidFill>
              </a:rPr>
              <a:t>✓  Split array into 192-element chunks</a:t>
            </a:r>
          </a:p>
        </p:txBody>
      </p:sp>
      <p:sp>
        <p:nvSpPr>
          <p:cNvPr id="20" name="TextBox 19"/>
          <p:cNvSpPr txBox="1"/>
          <p:nvPr/>
        </p:nvSpPr>
        <p:spPr>
          <a:xfrm>
            <a:off x="6309360" y="3511296"/>
            <a:ext cx="5486400" cy="384048"/>
          </a:xfrm>
          <a:prstGeom prst="rect">
            <a:avLst/>
          </a:prstGeom>
          <a:noFill/>
        </p:spPr>
        <p:txBody>
          <a:bodyPr wrap="square">
            <a:spAutoFit/>
          </a:bodyPr>
          <a:lstStyle/>
          <a:p>
            <a:pPr algn="l"/>
            <a:r>
              <a:rPr sz="1300" b="0" i="0">
                <a:solidFill>
                  <a:srgbClr val="FFFFFF"/>
                </a:solidFill>
              </a:rPr>
              <a:t>✓  Sort each chunk with Phase 1</a:t>
            </a:r>
          </a:p>
        </p:txBody>
      </p:sp>
      <p:sp>
        <p:nvSpPr>
          <p:cNvPr id="21" name="TextBox 20"/>
          <p:cNvSpPr txBox="1"/>
          <p:nvPr/>
        </p:nvSpPr>
        <p:spPr>
          <a:xfrm>
            <a:off x="6309360" y="3913632"/>
            <a:ext cx="5486400" cy="384048"/>
          </a:xfrm>
          <a:prstGeom prst="rect">
            <a:avLst/>
          </a:prstGeom>
          <a:noFill/>
        </p:spPr>
        <p:txBody>
          <a:bodyPr wrap="square">
            <a:spAutoFit/>
          </a:bodyPr>
          <a:lstStyle/>
          <a:p>
            <a:pPr algn="l"/>
            <a:r>
              <a:rPr sz="1300" b="0" i="0">
                <a:solidFill>
                  <a:srgbClr val="FFFFFF"/>
                </a:solidFill>
              </a:rPr>
              <a:t>✓  Repeatedly merge sorted pairs: 192→384→768→…</a:t>
            </a:r>
          </a:p>
        </p:txBody>
      </p:sp>
      <p:sp>
        <p:nvSpPr>
          <p:cNvPr id="22" name="TextBox 21"/>
          <p:cNvSpPr txBox="1"/>
          <p:nvPr/>
        </p:nvSpPr>
        <p:spPr>
          <a:xfrm>
            <a:off x="6309360" y="4315968"/>
            <a:ext cx="5486400" cy="384048"/>
          </a:xfrm>
          <a:prstGeom prst="rect">
            <a:avLst/>
          </a:prstGeom>
          <a:noFill/>
        </p:spPr>
        <p:txBody>
          <a:bodyPr wrap="square">
            <a:spAutoFit/>
          </a:bodyPr>
          <a:lstStyle/>
          <a:p>
            <a:pPr algn="l"/>
            <a:r>
              <a:rPr sz="1300" b="0" i="0">
                <a:solidFill>
                  <a:srgbClr val="FFFFFF"/>
                </a:solidFill>
              </a:rPr>
              <a:t>✓  At 2M elements: needs 14 merge passes to finish</a:t>
            </a:r>
          </a:p>
        </p:txBody>
      </p:sp>
      <p:sp>
        <p:nvSpPr>
          <p:cNvPr id="23" name="TextBox 22"/>
          <p:cNvSpPr txBox="1"/>
          <p:nvPr/>
        </p:nvSpPr>
        <p:spPr>
          <a:xfrm>
            <a:off x="6309360" y="4718304"/>
            <a:ext cx="5486400" cy="384048"/>
          </a:xfrm>
          <a:prstGeom prst="rect">
            <a:avLst/>
          </a:prstGeom>
          <a:noFill/>
        </p:spPr>
        <p:txBody>
          <a:bodyPr wrap="square">
            <a:spAutoFit/>
          </a:bodyPr>
          <a:lstStyle/>
          <a:p>
            <a:pPr algn="l"/>
            <a:r>
              <a:rPr sz="1300" b="0" i="0">
                <a:solidFill>
                  <a:srgbClr val="FFFFFF"/>
                </a:solidFill>
              </a:rPr>
              <a:t>✓  The merge step is where the bottlenecks live</a:t>
            </a:r>
          </a:p>
        </p:txBody>
      </p:sp>
      <p:sp>
        <p:nvSpPr>
          <p:cNvPr id="24" name="TextBox 23"/>
          <p:cNvSpPr txBox="1"/>
          <p:nvPr/>
        </p:nvSpPr>
        <p:spPr>
          <a:xfrm>
            <a:off x="274320" y="6492240"/>
            <a:ext cx="11640312" cy="274320"/>
          </a:xfrm>
          <a:prstGeom prst="rect">
            <a:avLst/>
          </a:prstGeom>
          <a:noFill/>
        </p:spPr>
        <p:txBody>
          <a:bodyPr wrap="square">
            <a:spAutoFit/>
          </a:bodyPr>
          <a:lstStyle/>
          <a:p>
            <a:pPr algn="ctr"/>
            <a:r>
              <a:rPr sz="1300" b="0" i="1">
                <a:solidFill>
                  <a:srgbClr val="B0C4D8"/>
                </a:solidFill>
              </a:rPr>
              <a:t>Baseline already beats std::sort by 3–9× — our goal: push it further by fixing the merge bottlenecks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88952"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4008"/>
            <a:ext cx="11795760" cy="749808"/>
          </a:xfrm>
          <a:prstGeom prst="rect">
            <a:avLst/>
          </a:prstGeom>
          <a:noFill/>
        </p:spPr>
        <p:txBody>
          <a:bodyPr wrap="square">
            <a:spAutoFit/>
          </a:bodyPr>
          <a:lstStyle/>
          <a:p>
            <a:pPr algn="l"/>
            <a:r>
              <a:rPr sz="2700" b="1" i="0">
                <a:solidFill>
                  <a:srgbClr val="FFFFFF"/>
                </a:solidFill>
              </a:rPr>
              <a:t>  02   What We Improved — 5 Targeted Optimizations</a:t>
            </a:r>
          </a:p>
        </p:txBody>
      </p:sp>
      <p:sp>
        <p:nvSpPr>
          <p:cNvPr id="5" name="TextBox 4"/>
          <p:cNvSpPr txBox="1"/>
          <p:nvPr/>
        </p:nvSpPr>
        <p:spPr>
          <a:xfrm>
            <a:off x="274320" y="960120"/>
            <a:ext cx="11640312" cy="347472"/>
          </a:xfrm>
          <a:prstGeom prst="rect">
            <a:avLst/>
          </a:prstGeom>
          <a:noFill/>
        </p:spPr>
        <p:txBody>
          <a:bodyPr wrap="square">
            <a:spAutoFit/>
          </a:bodyPr>
          <a:lstStyle/>
          <a:p>
            <a:pPr algn="l"/>
            <a:r>
              <a:rPr sz="1400" b="0" i="1">
                <a:solidFill>
                  <a:srgbClr val="B0C4D8"/>
                </a:solidFill>
              </a:rPr>
              <a:t>Each improvement was implemented as a separate option so we could measure its individual impact</a:t>
            </a:r>
          </a:p>
        </p:txBody>
      </p:sp>
      <p:sp>
        <p:nvSpPr>
          <p:cNvPr id="6" name="Rectangle 5"/>
          <p:cNvSpPr/>
          <p:nvPr/>
        </p:nvSpPr>
        <p:spPr>
          <a:xfrm>
            <a:off x="274320" y="1417320"/>
            <a:ext cx="11640312" cy="8686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17320"/>
            <a:ext cx="502920" cy="8686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17320"/>
            <a:ext cx="502920" cy="868680"/>
          </a:xfrm>
          <a:prstGeom prst="rect">
            <a:avLst/>
          </a:prstGeom>
          <a:noFill/>
        </p:spPr>
        <p:txBody>
          <a:bodyPr wrap="square">
            <a:spAutoFit/>
          </a:bodyPr>
          <a:lstStyle/>
          <a:p>
            <a:pPr algn="ctr"/>
            <a:r>
              <a:rPr sz="2200" b="1" i="0">
                <a:solidFill>
                  <a:srgbClr val="051220"/>
                </a:solidFill>
              </a:rPr>
              <a:t>1</a:t>
            </a:r>
          </a:p>
        </p:txBody>
      </p:sp>
      <p:sp>
        <p:nvSpPr>
          <p:cNvPr id="9" name="TextBox 8"/>
          <p:cNvSpPr txBox="1"/>
          <p:nvPr/>
        </p:nvSpPr>
        <p:spPr>
          <a:xfrm>
            <a:off x="868680" y="1463040"/>
            <a:ext cx="2743200" cy="384048"/>
          </a:xfrm>
          <a:prstGeom prst="rect">
            <a:avLst/>
          </a:prstGeom>
          <a:noFill/>
        </p:spPr>
        <p:txBody>
          <a:bodyPr wrap="square">
            <a:spAutoFit/>
          </a:bodyPr>
          <a:lstStyle/>
          <a:p>
            <a:pPr algn="l"/>
            <a:r>
              <a:rPr sz="1500" b="1" i="0">
                <a:solidFill>
                  <a:srgbClr val="00B4D8"/>
                </a:solidFill>
              </a:rPr>
              <a:t>Add Multi-Threading</a:t>
            </a:r>
          </a:p>
        </p:txBody>
      </p:sp>
      <p:sp>
        <p:nvSpPr>
          <p:cNvPr id="10" name="TextBox 9"/>
          <p:cNvSpPr txBox="1"/>
          <p:nvPr/>
        </p:nvSpPr>
        <p:spPr>
          <a:xfrm>
            <a:off x="868680" y="1856232"/>
            <a:ext cx="10789920" cy="384048"/>
          </a:xfrm>
          <a:prstGeom prst="rect">
            <a:avLst/>
          </a:prstGeom>
          <a:noFill/>
        </p:spPr>
        <p:txBody>
          <a:bodyPr wrap="square">
            <a:spAutoFit/>
          </a:bodyPr>
          <a:lstStyle/>
          <a:p>
            <a:pPr algn="l"/>
            <a:r>
              <a:rPr sz="1300" b="0" i="0">
                <a:solidFill>
                  <a:srgbClr val="FFFFFF"/>
                </a:solidFill>
              </a:rPr>
              <a:t>Split the sorting work across all 12 CPU cores using OpenMP. Each core sorts its own chunk, then results are merged together.</a:t>
            </a:r>
          </a:p>
        </p:txBody>
      </p:sp>
      <p:sp>
        <p:nvSpPr>
          <p:cNvPr id="11" name="Rectangle 10"/>
          <p:cNvSpPr/>
          <p:nvPr/>
        </p:nvSpPr>
        <p:spPr>
          <a:xfrm>
            <a:off x="274320" y="2377440"/>
            <a:ext cx="11640312" cy="8686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377440"/>
            <a:ext cx="502920" cy="868680"/>
          </a:xfrm>
          <a:prstGeom prst="rect">
            <a:avLst/>
          </a:prstGeom>
          <a:solidFill>
            <a:srgbClr val="48C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2377440"/>
            <a:ext cx="502920" cy="868680"/>
          </a:xfrm>
          <a:prstGeom prst="rect">
            <a:avLst/>
          </a:prstGeom>
          <a:noFill/>
        </p:spPr>
        <p:txBody>
          <a:bodyPr wrap="square">
            <a:spAutoFit/>
          </a:bodyPr>
          <a:lstStyle/>
          <a:p>
            <a:pPr algn="ctr"/>
            <a:r>
              <a:rPr sz="2200" b="1" i="0">
                <a:solidFill>
                  <a:srgbClr val="051220"/>
                </a:solidFill>
              </a:rPr>
              <a:t>2</a:t>
            </a:r>
          </a:p>
        </p:txBody>
      </p:sp>
      <p:sp>
        <p:nvSpPr>
          <p:cNvPr id="14" name="TextBox 13"/>
          <p:cNvSpPr txBox="1"/>
          <p:nvPr/>
        </p:nvSpPr>
        <p:spPr>
          <a:xfrm>
            <a:off x="868680" y="2423160"/>
            <a:ext cx="2743200" cy="384048"/>
          </a:xfrm>
          <a:prstGeom prst="rect">
            <a:avLst/>
          </a:prstGeom>
          <a:noFill/>
        </p:spPr>
        <p:txBody>
          <a:bodyPr wrap="square">
            <a:spAutoFit/>
          </a:bodyPr>
          <a:lstStyle/>
          <a:p>
            <a:pPr algn="l"/>
            <a:r>
              <a:rPr sz="1500" b="1" i="0">
                <a:solidFill>
                  <a:srgbClr val="48CAE4"/>
                </a:solidFill>
              </a:rPr>
              <a:t>Remove a Hidden Branch</a:t>
            </a:r>
          </a:p>
        </p:txBody>
      </p:sp>
      <p:sp>
        <p:nvSpPr>
          <p:cNvPr id="15" name="TextBox 14"/>
          <p:cNvSpPr txBox="1"/>
          <p:nvPr/>
        </p:nvSpPr>
        <p:spPr>
          <a:xfrm>
            <a:off x="868680" y="2816352"/>
            <a:ext cx="10789920" cy="384048"/>
          </a:xfrm>
          <a:prstGeom prst="rect">
            <a:avLst/>
          </a:prstGeom>
          <a:noFill/>
        </p:spPr>
        <p:txBody>
          <a:bodyPr wrap="square">
            <a:spAutoFit/>
          </a:bodyPr>
          <a:lstStyle/>
          <a:p>
            <a:pPr algn="l"/>
            <a:r>
              <a:rPr sz="1300" b="0" i="0">
                <a:solidFill>
                  <a:srgbClr val="FFFFFF"/>
                </a:solidFill>
              </a:rPr>
              <a:t>The merge step makes a decision 'take left or right?' millions of times. We replace that decision with branchless pointer arithmetic.</a:t>
            </a:r>
          </a:p>
        </p:txBody>
      </p:sp>
      <p:sp>
        <p:nvSpPr>
          <p:cNvPr id="16" name="Rectangle 15"/>
          <p:cNvSpPr/>
          <p:nvPr/>
        </p:nvSpPr>
        <p:spPr>
          <a:xfrm>
            <a:off x="274320" y="3337560"/>
            <a:ext cx="11640312" cy="8686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3337560"/>
            <a:ext cx="502920" cy="868680"/>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3337560"/>
            <a:ext cx="502920" cy="868680"/>
          </a:xfrm>
          <a:prstGeom prst="rect">
            <a:avLst/>
          </a:prstGeom>
          <a:noFill/>
        </p:spPr>
        <p:txBody>
          <a:bodyPr wrap="square">
            <a:spAutoFit/>
          </a:bodyPr>
          <a:lstStyle/>
          <a:p>
            <a:pPr algn="ctr"/>
            <a:r>
              <a:rPr sz="2200" b="1" i="0">
                <a:solidFill>
                  <a:srgbClr val="051220"/>
                </a:solidFill>
              </a:rPr>
              <a:t>3</a:t>
            </a:r>
          </a:p>
        </p:txBody>
      </p:sp>
      <p:sp>
        <p:nvSpPr>
          <p:cNvPr id="19" name="TextBox 18"/>
          <p:cNvSpPr txBox="1"/>
          <p:nvPr/>
        </p:nvSpPr>
        <p:spPr>
          <a:xfrm>
            <a:off x="868680" y="3383280"/>
            <a:ext cx="2743200" cy="384048"/>
          </a:xfrm>
          <a:prstGeom prst="rect">
            <a:avLst/>
          </a:prstGeom>
          <a:noFill/>
        </p:spPr>
        <p:txBody>
          <a:bodyPr wrap="square">
            <a:spAutoFit/>
          </a:bodyPr>
          <a:lstStyle/>
          <a:p>
            <a:pPr algn="l"/>
            <a:r>
              <a:rPr sz="1500" b="1" i="0">
                <a:solidFill>
                  <a:srgbClr val="06D6A0"/>
                </a:solidFill>
              </a:rPr>
              <a:t>Pre-load Data Early</a:t>
            </a:r>
          </a:p>
        </p:txBody>
      </p:sp>
      <p:sp>
        <p:nvSpPr>
          <p:cNvPr id="20" name="TextBox 19"/>
          <p:cNvSpPr txBox="1"/>
          <p:nvPr/>
        </p:nvSpPr>
        <p:spPr>
          <a:xfrm>
            <a:off x="868680" y="3776472"/>
            <a:ext cx="10789920" cy="384048"/>
          </a:xfrm>
          <a:prstGeom prst="rect">
            <a:avLst/>
          </a:prstGeom>
          <a:noFill/>
        </p:spPr>
        <p:txBody>
          <a:bodyPr wrap="square">
            <a:spAutoFit/>
          </a:bodyPr>
          <a:lstStyle/>
          <a:p>
            <a:pPr algn="l"/>
            <a:r>
              <a:rPr sz="1300" b="0" i="0">
                <a:solidFill>
                  <a:srgbClr val="FFFFFF"/>
                </a:solidFill>
              </a:rPr>
              <a:t>Ask the CPU to fetch the next data from RAM before it's needed. Like asking a waiter to bring the next course before you finish the current one.</a:t>
            </a:r>
          </a:p>
        </p:txBody>
      </p:sp>
      <p:sp>
        <p:nvSpPr>
          <p:cNvPr id="21" name="Rectangle 20"/>
          <p:cNvSpPr/>
          <p:nvPr/>
        </p:nvSpPr>
        <p:spPr>
          <a:xfrm>
            <a:off x="274320" y="4297680"/>
            <a:ext cx="11640312" cy="8686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74320" y="4297680"/>
            <a:ext cx="502920" cy="868680"/>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4297680"/>
            <a:ext cx="502920" cy="868680"/>
          </a:xfrm>
          <a:prstGeom prst="rect">
            <a:avLst/>
          </a:prstGeom>
          <a:noFill/>
        </p:spPr>
        <p:txBody>
          <a:bodyPr wrap="square">
            <a:spAutoFit/>
          </a:bodyPr>
          <a:lstStyle/>
          <a:p>
            <a:pPr algn="ctr"/>
            <a:r>
              <a:rPr sz="2200" b="1" i="0">
                <a:solidFill>
                  <a:srgbClr val="051220"/>
                </a:solidFill>
              </a:rPr>
              <a:t>4</a:t>
            </a:r>
          </a:p>
        </p:txBody>
      </p:sp>
      <p:sp>
        <p:nvSpPr>
          <p:cNvPr id="24" name="TextBox 23"/>
          <p:cNvSpPr txBox="1"/>
          <p:nvPr/>
        </p:nvSpPr>
        <p:spPr>
          <a:xfrm>
            <a:off x="868680" y="4343400"/>
            <a:ext cx="2743200" cy="384048"/>
          </a:xfrm>
          <a:prstGeom prst="rect">
            <a:avLst/>
          </a:prstGeom>
          <a:noFill/>
        </p:spPr>
        <p:txBody>
          <a:bodyPr wrap="square">
            <a:spAutoFit/>
          </a:bodyPr>
          <a:lstStyle/>
          <a:p>
            <a:pPr algn="l"/>
            <a:r>
              <a:rPr sz="1500" b="1" i="0">
                <a:solidFill>
                  <a:srgbClr val="FFD166"/>
                </a:solidFill>
              </a:rPr>
              <a:t>Bigger Sort Chunks</a:t>
            </a:r>
          </a:p>
        </p:txBody>
      </p:sp>
      <p:sp>
        <p:nvSpPr>
          <p:cNvPr id="25" name="TextBox 24"/>
          <p:cNvSpPr txBox="1"/>
          <p:nvPr/>
        </p:nvSpPr>
        <p:spPr>
          <a:xfrm>
            <a:off x="868680" y="4736592"/>
            <a:ext cx="10789920" cy="384048"/>
          </a:xfrm>
          <a:prstGeom prst="rect">
            <a:avLst/>
          </a:prstGeom>
          <a:noFill/>
        </p:spPr>
        <p:txBody>
          <a:bodyPr wrap="square">
            <a:spAutoFit/>
          </a:bodyPr>
          <a:lstStyle/>
          <a:p>
            <a:pPr algn="l"/>
            <a:r>
              <a:rPr sz="1300" b="0" i="0">
                <a:solidFill>
                  <a:srgbClr val="FFFFFF"/>
                </a:solidFill>
              </a:rPr>
              <a:t>Simulate what AVX-512 processors can do: sort 384 numbers at once instead of 192, saving one of the 14 merge passes.</a:t>
            </a:r>
          </a:p>
        </p:txBody>
      </p:sp>
      <p:sp>
        <p:nvSpPr>
          <p:cNvPr id="26" name="Rectangle 25"/>
          <p:cNvSpPr/>
          <p:nvPr/>
        </p:nvSpPr>
        <p:spPr>
          <a:xfrm>
            <a:off x="274320" y="5257800"/>
            <a:ext cx="11640312" cy="8686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5257800"/>
            <a:ext cx="502920" cy="868680"/>
          </a:xfrm>
          <a:prstGeom prst="rect">
            <a:avLst/>
          </a:prstGeom>
          <a:solidFill>
            <a:srgbClr val="FF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5257800"/>
            <a:ext cx="502920" cy="868680"/>
          </a:xfrm>
          <a:prstGeom prst="rect">
            <a:avLst/>
          </a:prstGeom>
          <a:noFill/>
        </p:spPr>
        <p:txBody>
          <a:bodyPr wrap="square">
            <a:spAutoFit/>
          </a:bodyPr>
          <a:lstStyle/>
          <a:p>
            <a:pPr algn="ctr"/>
            <a:r>
              <a:rPr sz="2200" b="1" i="0">
                <a:solidFill>
                  <a:srgbClr val="051220"/>
                </a:solidFill>
              </a:rPr>
              <a:t>5</a:t>
            </a:r>
          </a:p>
        </p:txBody>
      </p:sp>
      <p:sp>
        <p:nvSpPr>
          <p:cNvPr id="29" name="TextBox 28"/>
          <p:cNvSpPr txBox="1"/>
          <p:nvPr/>
        </p:nvSpPr>
        <p:spPr>
          <a:xfrm>
            <a:off x="868680" y="5303520"/>
            <a:ext cx="2743200" cy="384048"/>
          </a:xfrm>
          <a:prstGeom prst="rect">
            <a:avLst/>
          </a:prstGeom>
          <a:noFill/>
        </p:spPr>
        <p:txBody>
          <a:bodyPr wrap="square">
            <a:spAutoFit/>
          </a:bodyPr>
          <a:lstStyle/>
          <a:p>
            <a:pPr algn="l"/>
            <a:r>
              <a:rPr sz="1500" b="1" i="0">
                <a:solidFill>
                  <a:srgbClr val="FFA060"/>
                </a:solidFill>
              </a:rPr>
              <a:t>No Wasted Allocations</a:t>
            </a:r>
          </a:p>
        </p:txBody>
      </p:sp>
      <p:sp>
        <p:nvSpPr>
          <p:cNvPr id="30" name="TextBox 29"/>
          <p:cNvSpPr txBox="1"/>
          <p:nvPr/>
        </p:nvSpPr>
        <p:spPr>
          <a:xfrm>
            <a:off x="868680" y="5696712"/>
            <a:ext cx="10789920" cy="384048"/>
          </a:xfrm>
          <a:prstGeom prst="rect">
            <a:avLst/>
          </a:prstGeom>
          <a:noFill/>
        </p:spPr>
        <p:txBody>
          <a:bodyPr wrap="square">
            <a:spAutoFit/>
          </a:bodyPr>
          <a:lstStyle/>
          <a:p>
            <a:pPr algn="l"/>
            <a:r>
              <a:rPr sz="1300" b="0" i="0">
                <a:solidFill>
                  <a:srgbClr val="FFFFFF"/>
                </a:solidFill>
              </a:rPr>
              <a:t>The merge step was calling malloc/free thousands of times. We reuse the same memory buffer instead — no allocation overhead.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88952"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4008"/>
            <a:ext cx="11795760" cy="749808"/>
          </a:xfrm>
          <a:prstGeom prst="rect">
            <a:avLst/>
          </a:prstGeom>
          <a:noFill/>
        </p:spPr>
        <p:txBody>
          <a:bodyPr wrap="square">
            <a:spAutoFit/>
          </a:bodyPr>
          <a:lstStyle/>
          <a:p>
            <a:pPr algn="l"/>
            <a:r>
              <a:rPr sz="2700" b="1" i="0">
                <a:solidFill>
                  <a:srgbClr val="FFFFFF"/>
                </a:solidFill>
              </a:rPr>
              <a:t>  03   Improvement 1 — Using All 12 CPU Cores</a:t>
            </a:r>
          </a:p>
        </p:txBody>
      </p:sp>
      <p:sp>
        <p:nvSpPr>
          <p:cNvPr id="5" name="Rectangle 4"/>
          <p:cNvSpPr/>
          <p:nvPr/>
        </p:nvSpPr>
        <p:spPr>
          <a:xfrm>
            <a:off x="274320" y="1005840"/>
            <a:ext cx="5394960" cy="2377440"/>
          </a:xfrm>
          <a:prstGeom prst="rect">
            <a:avLst/>
          </a:prstGeom>
          <a:solidFill>
            <a:srgbClr val="3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51560"/>
            <a:ext cx="5120640" cy="384048"/>
          </a:xfrm>
          <a:prstGeom prst="rect">
            <a:avLst/>
          </a:prstGeom>
          <a:noFill/>
        </p:spPr>
        <p:txBody>
          <a:bodyPr wrap="square">
            <a:spAutoFit/>
          </a:bodyPr>
          <a:lstStyle/>
          <a:p>
            <a:pPr algn="l"/>
            <a:r>
              <a:rPr sz="1500" b="1" i="0">
                <a:solidFill>
                  <a:srgbClr val="FF6B6B"/>
                </a:solidFill>
              </a:rPr>
              <a:t>Before: 1 core does everything</a:t>
            </a:r>
          </a:p>
        </p:txBody>
      </p:sp>
      <p:sp>
        <p:nvSpPr>
          <p:cNvPr id="7" name="TextBox 6"/>
          <p:cNvSpPr txBox="1"/>
          <p:nvPr/>
        </p:nvSpPr>
        <p:spPr>
          <a:xfrm>
            <a:off x="411480" y="1481328"/>
            <a:ext cx="5120640" cy="1737360"/>
          </a:xfrm>
          <a:prstGeom prst="rect">
            <a:avLst/>
          </a:prstGeom>
          <a:noFill/>
        </p:spPr>
        <p:txBody>
          <a:bodyPr wrap="square">
            <a:spAutoFit/>
          </a:bodyPr>
          <a:lstStyle/>
          <a:p>
            <a:pPr algn="l"/>
            <a:r>
              <a:rPr sz="1400" b="0" i="0">
                <a:solidFill>
                  <a:srgbClr val="FFFFFF"/>
                </a:solidFill>
              </a:rPr>
              <a:t>All 2,000,000 numbers sorted by one core, one step at a time.
The other 11 cores sit idle — wasted hardware.</a:t>
            </a:r>
          </a:p>
        </p:txBody>
      </p:sp>
      <p:sp>
        <p:nvSpPr>
          <p:cNvPr id="8" name="Rectangle 7"/>
          <p:cNvSpPr/>
          <p:nvPr/>
        </p:nvSpPr>
        <p:spPr>
          <a:xfrm>
            <a:off x="274320" y="3566160"/>
            <a:ext cx="5394960" cy="2514600"/>
          </a:xfrm>
          <a:prstGeom prst="rect">
            <a:avLst/>
          </a:prstGeom>
          <a:solidFill>
            <a:srgbClr val="0528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3611880"/>
            <a:ext cx="5120640" cy="384048"/>
          </a:xfrm>
          <a:prstGeom prst="rect">
            <a:avLst/>
          </a:prstGeom>
          <a:noFill/>
        </p:spPr>
        <p:txBody>
          <a:bodyPr wrap="square">
            <a:spAutoFit/>
          </a:bodyPr>
          <a:lstStyle/>
          <a:p>
            <a:pPr algn="l"/>
            <a:r>
              <a:rPr sz="1500" b="1" i="0">
                <a:solidFill>
                  <a:srgbClr val="06D6A0"/>
                </a:solidFill>
              </a:rPr>
              <a:t>After: 12 cores share the work</a:t>
            </a:r>
          </a:p>
        </p:txBody>
      </p:sp>
      <p:sp>
        <p:nvSpPr>
          <p:cNvPr id="10" name="TextBox 9"/>
          <p:cNvSpPr txBox="1"/>
          <p:nvPr/>
        </p:nvSpPr>
        <p:spPr>
          <a:xfrm>
            <a:off x="411480" y="4041648"/>
            <a:ext cx="5120640" cy="1828800"/>
          </a:xfrm>
          <a:prstGeom prst="rect">
            <a:avLst/>
          </a:prstGeom>
          <a:noFill/>
        </p:spPr>
        <p:txBody>
          <a:bodyPr wrap="square">
            <a:spAutoFit/>
          </a:bodyPr>
          <a:lstStyle/>
          <a:p>
            <a:pPr algn="l"/>
            <a:r>
              <a:rPr sz="1400" b="0" i="0">
                <a:solidFill>
                  <a:srgbClr val="FFFFFF"/>
                </a:solidFill>
              </a:rPr>
              <a:t>The array is divided into chunks. Each core sorts its own chunk simultaneously.
Then results are merged — like shuffling sorted card decks together.</a:t>
            </a:r>
          </a:p>
        </p:txBody>
      </p:sp>
      <p:sp>
        <p:nvSpPr>
          <p:cNvPr id="11" name="Rectangle 10"/>
          <p:cNvSpPr/>
          <p:nvPr/>
        </p:nvSpPr>
        <p:spPr>
          <a:xfrm>
            <a:off x="5943600" y="1005840"/>
            <a:ext cx="5989320" cy="507492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0760" y="1051560"/>
            <a:ext cx="5669280" cy="384048"/>
          </a:xfrm>
          <a:prstGeom prst="rect">
            <a:avLst/>
          </a:prstGeom>
          <a:noFill/>
        </p:spPr>
        <p:txBody>
          <a:bodyPr wrap="square">
            <a:spAutoFit/>
          </a:bodyPr>
          <a:lstStyle/>
          <a:p>
            <a:pPr algn="l"/>
            <a:r>
              <a:rPr sz="1500" b="1" i="0">
                <a:solidFill>
                  <a:srgbClr val="00B4D8"/>
                </a:solidFill>
              </a:rPr>
              <a:t>How the tasks split up</a:t>
            </a:r>
          </a:p>
        </p:txBody>
      </p:sp>
      <p:sp>
        <p:nvSpPr>
          <p:cNvPr id="13" name="TextBox 12"/>
          <p:cNvSpPr txBox="1"/>
          <p:nvPr/>
        </p:nvSpPr>
        <p:spPr>
          <a:xfrm>
            <a:off x="5989320" y="1508760"/>
            <a:ext cx="5852160" cy="274320"/>
          </a:xfrm>
          <a:prstGeom prst="rect">
            <a:avLst/>
          </a:prstGeom>
          <a:noFill/>
        </p:spPr>
        <p:txBody>
          <a:bodyPr wrap="square">
            <a:spAutoFit/>
          </a:bodyPr>
          <a:lstStyle/>
          <a:p>
            <a:pPr algn="ctr"/>
            <a:r>
              <a:rPr sz="1200" b="0" i="0">
                <a:solidFill>
                  <a:srgbClr val="FFFFFF"/>
                </a:solidFill>
              </a:rPr>
              <a:t>           [ 2,000,000 numbers ]</a:t>
            </a:r>
          </a:p>
        </p:txBody>
      </p:sp>
      <p:sp>
        <p:nvSpPr>
          <p:cNvPr id="14" name="TextBox 13"/>
          <p:cNvSpPr txBox="1"/>
          <p:nvPr/>
        </p:nvSpPr>
        <p:spPr>
          <a:xfrm>
            <a:off x="5989320" y="1783080"/>
            <a:ext cx="5852160" cy="274320"/>
          </a:xfrm>
          <a:prstGeom prst="rect">
            <a:avLst/>
          </a:prstGeom>
          <a:noFill/>
        </p:spPr>
        <p:txBody>
          <a:bodyPr wrap="square">
            <a:spAutoFit/>
          </a:bodyPr>
          <a:lstStyle/>
          <a:p>
            <a:pPr algn="ctr"/>
            <a:r>
              <a:rPr sz="1200" b="0" i="0">
                <a:solidFill>
                  <a:srgbClr val="00B4D8"/>
                </a:solidFill>
              </a:rPr>
              <a:t>                     │</a:t>
            </a:r>
          </a:p>
        </p:txBody>
      </p:sp>
      <p:sp>
        <p:nvSpPr>
          <p:cNvPr id="15" name="TextBox 14"/>
          <p:cNvSpPr txBox="1"/>
          <p:nvPr/>
        </p:nvSpPr>
        <p:spPr>
          <a:xfrm>
            <a:off x="5989320" y="2057400"/>
            <a:ext cx="5852160" cy="274320"/>
          </a:xfrm>
          <a:prstGeom prst="rect">
            <a:avLst/>
          </a:prstGeom>
          <a:noFill/>
        </p:spPr>
        <p:txBody>
          <a:bodyPr wrap="square">
            <a:spAutoFit/>
          </a:bodyPr>
          <a:lstStyle/>
          <a:p>
            <a:pPr algn="ctr"/>
            <a:r>
              <a:rPr sz="1200" b="0" i="0">
                <a:solidFill>
                  <a:srgbClr val="48CAE4"/>
                </a:solidFill>
              </a:rPr>
              <a:t>         ┌─────────────────────┐</a:t>
            </a:r>
          </a:p>
        </p:txBody>
      </p:sp>
      <p:sp>
        <p:nvSpPr>
          <p:cNvPr id="16" name="TextBox 15"/>
          <p:cNvSpPr txBox="1"/>
          <p:nvPr/>
        </p:nvSpPr>
        <p:spPr>
          <a:xfrm>
            <a:off x="5989320" y="2331720"/>
            <a:ext cx="5852160" cy="274320"/>
          </a:xfrm>
          <a:prstGeom prst="rect">
            <a:avLst/>
          </a:prstGeom>
          <a:noFill/>
        </p:spPr>
        <p:txBody>
          <a:bodyPr wrap="square">
            <a:spAutoFit/>
          </a:bodyPr>
          <a:lstStyle/>
          <a:p>
            <a:pPr algn="ctr"/>
            <a:r>
              <a:rPr sz="1200" b="0" i="0">
                <a:solidFill>
                  <a:srgbClr val="48CAE4"/>
                </a:solidFill>
              </a:rPr>
              <a:t>         │    Split into 16    │</a:t>
            </a:r>
          </a:p>
        </p:txBody>
      </p:sp>
      <p:sp>
        <p:nvSpPr>
          <p:cNvPr id="17" name="TextBox 16"/>
          <p:cNvSpPr txBox="1"/>
          <p:nvPr/>
        </p:nvSpPr>
        <p:spPr>
          <a:xfrm>
            <a:off x="5989320" y="2606039"/>
            <a:ext cx="5852160" cy="274320"/>
          </a:xfrm>
          <a:prstGeom prst="rect">
            <a:avLst/>
          </a:prstGeom>
          <a:noFill/>
        </p:spPr>
        <p:txBody>
          <a:bodyPr wrap="square">
            <a:spAutoFit/>
          </a:bodyPr>
          <a:lstStyle/>
          <a:p>
            <a:pPr algn="ctr"/>
            <a:r>
              <a:rPr sz="1200" b="0" i="0">
                <a:solidFill>
                  <a:srgbClr val="48CAE4"/>
                </a:solidFill>
              </a:rPr>
              <a:t>         │   parallel tasks   │</a:t>
            </a:r>
          </a:p>
        </p:txBody>
      </p:sp>
      <p:sp>
        <p:nvSpPr>
          <p:cNvPr id="18" name="TextBox 17"/>
          <p:cNvSpPr txBox="1"/>
          <p:nvPr/>
        </p:nvSpPr>
        <p:spPr>
          <a:xfrm>
            <a:off x="5989320" y="2880359"/>
            <a:ext cx="5852160" cy="274320"/>
          </a:xfrm>
          <a:prstGeom prst="rect">
            <a:avLst/>
          </a:prstGeom>
          <a:noFill/>
        </p:spPr>
        <p:txBody>
          <a:bodyPr wrap="square">
            <a:spAutoFit/>
          </a:bodyPr>
          <a:lstStyle/>
          <a:p>
            <a:pPr algn="ctr"/>
            <a:r>
              <a:rPr sz="1200" b="0" i="0">
                <a:solidFill>
                  <a:srgbClr val="48CAE4"/>
                </a:solidFill>
              </a:rPr>
              <a:t>         └─────────────────────┘</a:t>
            </a:r>
          </a:p>
        </p:txBody>
      </p:sp>
      <p:sp>
        <p:nvSpPr>
          <p:cNvPr id="19" name="TextBox 18"/>
          <p:cNvSpPr txBox="1"/>
          <p:nvPr/>
        </p:nvSpPr>
        <p:spPr>
          <a:xfrm>
            <a:off x="5989320" y="3154679"/>
            <a:ext cx="5852160" cy="274320"/>
          </a:xfrm>
          <a:prstGeom prst="rect">
            <a:avLst/>
          </a:prstGeom>
          <a:noFill/>
        </p:spPr>
        <p:txBody>
          <a:bodyPr wrap="square">
            <a:spAutoFit/>
          </a:bodyPr>
          <a:lstStyle/>
          <a:p>
            <a:pPr algn="ctr"/>
            <a:r>
              <a:rPr sz="1200" b="0" i="0">
                <a:solidFill>
                  <a:srgbClr val="B0C4D8"/>
                </a:solidFill>
              </a:rPr>
              <a:t>    ┌──────┬──────┬──────┬──────┐</a:t>
            </a:r>
          </a:p>
        </p:txBody>
      </p:sp>
      <p:sp>
        <p:nvSpPr>
          <p:cNvPr id="20" name="TextBox 19"/>
          <p:cNvSpPr txBox="1"/>
          <p:nvPr/>
        </p:nvSpPr>
        <p:spPr>
          <a:xfrm>
            <a:off x="5989320" y="3428999"/>
            <a:ext cx="5852160" cy="274320"/>
          </a:xfrm>
          <a:prstGeom prst="rect">
            <a:avLst/>
          </a:prstGeom>
          <a:noFill/>
        </p:spPr>
        <p:txBody>
          <a:bodyPr wrap="square">
            <a:spAutoFit/>
          </a:bodyPr>
          <a:lstStyle/>
          <a:p>
            <a:pPr algn="ctr"/>
            <a:r>
              <a:rPr sz="1200" b="0" i="0">
                <a:solidFill>
                  <a:srgbClr val="06D6A0"/>
                </a:solidFill>
              </a:rPr>
              <a:t>  Core1  Core2  Core3   ...  Core12</a:t>
            </a:r>
          </a:p>
        </p:txBody>
      </p:sp>
      <p:sp>
        <p:nvSpPr>
          <p:cNvPr id="21" name="TextBox 20"/>
          <p:cNvSpPr txBox="1"/>
          <p:nvPr/>
        </p:nvSpPr>
        <p:spPr>
          <a:xfrm>
            <a:off x="5989320" y="3703319"/>
            <a:ext cx="5852160" cy="274320"/>
          </a:xfrm>
          <a:prstGeom prst="rect">
            <a:avLst/>
          </a:prstGeom>
          <a:noFill/>
        </p:spPr>
        <p:txBody>
          <a:bodyPr wrap="square">
            <a:spAutoFit/>
          </a:bodyPr>
          <a:lstStyle/>
          <a:p>
            <a:pPr algn="ctr"/>
            <a:r>
              <a:rPr sz="1200" b="0" i="0">
                <a:solidFill>
                  <a:srgbClr val="06D6A0"/>
                </a:solidFill>
              </a:rPr>
              <a:t>  [sort] [sort] [sort]  ...  [sort]</a:t>
            </a:r>
          </a:p>
        </p:txBody>
      </p:sp>
      <p:sp>
        <p:nvSpPr>
          <p:cNvPr id="22" name="TextBox 21"/>
          <p:cNvSpPr txBox="1"/>
          <p:nvPr/>
        </p:nvSpPr>
        <p:spPr>
          <a:xfrm>
            <a:off x="5989320" y="3977639"/>
            <a:ext cx="5852160" cy="274320"/>
          </a:xfrm>
          <a:prstGeom prst="rect">
            <a:avLst/>
          </a:prstGeom>
          <a:noFill/>
        </p:spPr>
        <p:txBody>
          <a:bodyPr wrap="square">
            <a:spAutoFit/>
          </a:bodyPr>
          <a:lstStyle/>
          <a:p>
            <a:pPr algn="ctr"/>
            <a:r>
              <a:rPr sz="1200" b="0" i="0">
                <a:solidFill>
                  <a:srgbClr val="B0C4D8"/>
                </a:solidFill>
              </a:rPr>
              <a:t>    └──────┴──────┴──────┴──────┘</a:t>
            </a:r>
          </a:p>
        </p:txBody>
      </p:sp>
      <p:sp>
        <p:nvSpPr>
          <p:cNvPr id="23" name="TextBox 22"/>
          <p:cNvSpPr txBox="1"/>
          <p:nvPr/>
        </p:nvSpPr>
        <p:spPr>
          <a:xfrm>
            <a:off x="5989320" y="4251959"/>
            <a:ext cx="5852160" cy="274320"/>
          </a:xfrm>
          <a:prstGeom prst="rect">
            <a:avLst/>
          </a:prstGeom>
          <a:noFill/>
        </p:spPr>
        <p:txBody>
          <a:bodyPr wrap="square">
            <a:spAutoFit/>
          </a:bodyPr>
          <a:lstStyle/>
          <a:p>
            <a:pPr algn="ctr"/>
            <a:r>
              <a:rPr sz="1200" b="0" i="0">
                <a:solidFill>
                  <a:srgbClr val="00B4D8"/>
                </a:solidFill>
              </a:rPr>
              <a:t>                     │</a:t>
            </a:r>
          </a:p>
        </p:txBody>
      </p:sp>
      <p:sp>
        <p:nvSpPr>
          <p:cNvPr id="24" name="TextBox 23"/>
          <p:cNvSpPr txBox="1"/>
          <p:nvPr/>
        </p:nvSpPr>
        <p:spPr>
          <a:xfrm>
            <a:off x="5989320" y="4526279"/>
            <a:ext cx="5852160" cy="274320"/>
          </a:xfrm>
          <a:prstGeom prst="rect">
            <a:avLst/>
          </a:prstGeom>
          <a:noFill/>
        </p:spPr>
        <p:txBody>
          <a:bodyPr wrap="square">
            <a:spAutoFit/>
          </a:bodyPr>
          <a:lstStyle/>
          <a:p>
            <a:pPr algn="ctr"/>
            <a:r>
              <a:rPr sz="1200" b="0" i="0">
                <a:solidFill>
                  <a:srgbClr val="FFD166"/>
                </a:solidFill>
              </a:rPr>
              <a:t>           [ Merge all results ]</a:t>
            </a:r>
          </a:p>
        </p:txBody>
      </p:sp>
      <p:sp>
        <p:nvSpPr>
          <p:cNvPr id="25" name="TextBox 24"/>
          <p:cNvSpPr txBox="1"/>
          <p:nvPr/>
        </p:nvSpPr>
        <p:spPr>
          <a:xfrm>
            <a:off x="5989320" y="4800599"/>
            <a:ext cx="5852160" cy="274320"/>
          </a:xfrm>
          <a:prstGeom prst="rect">
            <a:avLst/>
          </a:prstGeom>
          <a:noFill/>
        </p:spPr>
        <p:txBody>
          <a:bodyPr wrap="square">
            <a:spAutoFit/>
          </a:bodyPr>
          <a:lstStyle/>
          <a:p>
            <a:pPr algn="ctr"/>
            <a:r>
              <a:rPr sz="1200" b="0" i="0">
                <a:solidFill>
                  <a:srgbClr val="00B4D8"/>
                </a:solidFill>
              </a:rPr>
              <a:t>                     │</a:t>
            </a:r>
          </a:p>
        </p:txBody>
      </p:sp>
      <p:sp>
        <p:nvSpPr>
          <p:cNvPr id="26" name="TextBox 25"/>
          <p:cNvSpPr txBox="1"/>
          <p:nvPr/>
        </p:nvSpPr>
        <p:spPr>
          <a:xfrm>
            <a:off x="5989320" y="5074919"/>
            <a:ext cx="5852160" cy="274320"/>
          </a:xfrm>
          <a:prstGeom prst="rect">
            <a:avLst/>
          </a:prstGeom>
          <a:noFill/>
        </p:spPr>
        <p:txBody>
          <a:bodyPr wrap="square">
            <a:spAutoFit/>
          </a:bodyPr>
          <a:lstStyle/>
          <a:p>
            <a:pPr algn="ctr"/>
            <a:r>
              <a:rPr sz="1200" b="0" i="0">
                <a:solidFill>
                  <a:srgbClr val="06D6A0"/>
                </a:solidFill>
              </a:rPr>
              <a:t>           [ Sorted output ✓ ]</a:t>
            </a:r>
          </a:p>
        </p:txBody>
      </p:sp>
      <p:sp>
        <p:nvSpPr>
          <p:cNvPr id="27" name="TextBox 26"/>
          <p:cNvSpPr txBox="1"/>
          <p:nvPr/>
        </p:nvSpPr>
        <p:spPr>
          <a:xfrm>
            <a:off x="274320" y="6217920"/>
            <a:ext cx="11640312" cy="365760"/>
          </a:xfrm>
          <a:prstGeom prst="rect">
            <a:avLst/>
          </a:prstGeom>
          <a:noFill/>
        </p:spPr>
        <p:txBody>
          <a:bodyPr wrap="square">
            <a:spAutoFit/>
          </a:bodyPr>
          <a:lstStyle/>
          <a:p>
            <a:pPr algn="ctr"/>
            <a:r>
              <a:rPr sz="1500" b="1" i="0">
                <a:solidFill>
                  <a:srgbClr val="FFD166"/>
                </a:solidFill>
              </a:rPr>
              <a:t>Result: 2.7 – 3.0× faster at large array sizes  ·  The single biggest improvement in the project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88952"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4008"/>
            <a:ext cx="11795760" cy="749808"/>
          </a:xfrm>
          <a:prstGeom prst="rect">
            <a:avLst/>
          </a:prstGeom>
          <a:noFill/>
        </p:spPr>
        <p:txBody>
          <a:bodyPr wrap="square">
            <a:spAutoFit/>
          </a:bodyPr>
          <a:lstStyle/>
          <a:p>
            <a:pPr algn="l"/>
            <a:r>
              <a:rPr sz="2700" b="1" i="0">
                <a:solidFill>
                  <a:srgbClr val="FFFFFF"/>
                </a:solidFill>
              </a:rPr>
              <a:t>  03   Improvements 2–5 — Smarter Single-Core Work</a:t>
            </a:r>
          </a:p>
        </p:txBody>
      </p:sp>
      <p:sp>
        <p:nvSpPr>
          <p:cNvPr id="5" name="TextBox 4"/>
          <p:cNvSpPr txBox="1"/>
          <p:nvPr/>
        </p:nvSpPr>
        <p:spPr>
          <a:xfrm>
            <a:off x="274320" y="960120"/>
            <a:ext cx="11640312" cy="347472"/>
          </a:xfrm>
          <a:prstGeom prst="rect">
            <a:avLst/>
          </a:prstGeom>
          <a:noFill/>
        </p:spPr>
        <p:txBody>
          <a:bodyPr wrap="square">
            <a:spAutoFit/>
          </a:bodyPr>
          <a:lstStyle/>
          <a:p>
            <a:pPr algn="l"/>
            <a:r>
              <a:rPr sz="1400" b="0" i="1">
                <a:solidFill>
                  <a:srgbClr val="B0C4D8"/>
                </a:solidFill>
              </a:rPr>
              <a:t>These improvements make each individual core faster — they stack on top of multi-threading</a:t>
            </a:r>
          </a:p>
        </p:txBody>
      </p:sp>
      <p:sp>
        <p:nvSpPr>
          <p:cNvPr id="6" name="Rectangle 5"/>
          <p:cNvSpPr/>
          <p:nvPr/>
        </p:nvSpPr>
        <p:spPr>
          <a:xfrm>
            <a:off x="274320" y="1417320"/>
            <a:ext cx="5650992" cy="512064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856232"/>
            <a:ext cx="5650992" cy="36576"/>
          </a:xfrm>
          <a:prstGeom prst="rect">
            <a:avLst/>
          </a:prstGeom>
          <a:solidFill>
            <a:srgbClr val="48C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79" y="1463040"/>
            <a:ext cx="5376672" cy="384048"/>
          </a:xfrm>
          <a:prstGeom prst="rect">
            <a:avLst/>
          </a:prstGeom>
          <a:noFill/>
        </p:spPr>
        <p:txBody>
          <a:bodyPr wrap="square">
            <a:spAutoFit/>
          </a:bodyPr>
          <a:lstStyle/>
          <a:p>
            <a:pPr algn="l"/>
            <a:r>
              <a:rPr sz="1600" b="1" i="0">
                <a:solidFill>
                  <a:srgbClr val="48CAE4"/>
                </a:solidFill>
              </a:rPr>
              <a:t>Branchless Merge</a:t>
            </a:r>
          </a:p>
        </p:txBody>
      </p:sp>
      <p:sp>
        <p:nvSpPr>
          <p:cNvPr id="9" name="TextBox 8"/>
          <p:cNvSpPr txBox="1"/>
          <p:nvPr/>
        </p:nvSpPr>
        <p:spPr>
          <a:xfrm>
            <a:off x="411479" y="1947672"/>
            <a:ext cx="5376672" cy="320040"/>
          </a:xfrm>
          <a:prstGeom prst="rect">
            <a:avLst/>
          </a:prstGeom>
          <a:noFill/>
        </p:spPr>
        <p:txBody>
          <a:bodyPr wrap="square">
            <a:spAutoFit/>
          </a:bodyPr>
          <a:lstStyle/>
          <a:p>
            <a:pPr algn="l"/>
            <a:r>
              <a:rPr sz="1300" b="1" i="0">
                <a:solidFill>
                  <a:srgbClr val="FF6B6B"/>
                </a:solidFill>
              </a:rPr>
              <a:t>The Problem</a:t>
            </a:r>
          </a:p>
        </p:txBody>
      </p:sp>
      <p:sp>
        <p:nvSpPr>
          <p:cNvPr id="10" name="TextBox 9"/>
          <p:cNvSpPr txBox="1"/>
          <p:nvPr/>
        </p:nvSpPr>
        <p:spPr>
          <a:xfrm>
            <a:off x="411479" y="2286000"/>
            <a:ext cx="5376672" cy="1371600"/>
          </a:xfrm>
          <a:prstGeom prst="rect">
            <a:avLst/>
          </a:prstGeom>
          <a:noFill/>
        </p:spPr>
        <p:txBody>
          <a:bodyPr wrap="square">
            <a:spAutoFit/>
          </a:bodyPr>
          <a:lstStyle/>
          <a:p>
            <a:pPr algn="l"/>
            <a:r>
              <a:rPr sz="1200" b="0" i="0">
                <a:solidFill>
                  <a:srgbClr val="B0C4D8"/>
                </a:solidFill>
              </a:rPr>
              <a:t>Every merge step asks: 'Is the left number smaller?'
This question is answered ~50 million times, and the CPU guesses wrong half the time.</a:t>
            </a:r>
          </a:p>
        </p:txBody>
      </p:sp>
      <p:sp>
        <p:nvSpPr>
          <p:cNvPr id="11" name="Rectangle 10"/>
          <p:cNvSpPr/>
          <p:nvPr/>
        </p:nvSpPr>
        <p:spPr>
          <a:xfrm>
            <a:off x="411479" y="3749039"/>
            <a:ext cx="5376672" cy="18288"/>
          </a:xfrm>
          <a:prstGeom prst="rect">
            <a:avLst/>
          </a:prstGeom>
          <a:solidFill>
            <a:srgbClr val="48C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79" y="3840480"/>
            <a:ext cx="5376672" cy="320040"/>
          </a:xfrm>
          <a:prstGeom prst="rect">
            <a:avLst/>
          </a:prstGeom>
          <a:noFill/>
        </p:spPr>
        <p:txBody>
          <a:bodyPr wrap="square">
            <a:spAutoFit/>
          </a:bodyPr>
          <a:lstStyle/>
          <a:p>
            <a:pPr algn="l"/>
            <a:r>
              <a:rPr sz="1300" b="1" i="0">
                <a:solidFill>
                  <a:srgbClr val="06D6A0"/>
                </a:solidFill>
              </a:rPr>
              <a:t>The Fix</a:t>
            </a:r>
          </a:p>
        </p:txBody>
      </p:sp>
      <p:sp>
        <p:nvSpPr>
          <p:cNvPr id="13" name="TextBox 12"/>
          <p:cNvSpPr txBox="1"/>
          <p:nvPr/>
        </p:nvSpPr>
        <p:spPr>
          <a:xfrm>
            <a:off x="411479" y="4178808"/>
            <a:ext cx="5376672" cy="1828800"/>
          </a:xfrm>
          <a:prstGeom prst="rect">
            <a:avLst/>
          </a:prstGeom>
          <a:noFill/>
        </p:spPr>
        <p:txBody>
          <a:bodyPr wrap="square">
            <a:spAutoFit/>
          </a:bodyPr>
          <a:lstStyle/>
          <a:p>
            <a:pPr algn="l"/>
            <a:r>
              <a:rPr sz="1200" b="0" i="0">
                <a:solidFill>
                  <a:srgbClr val="FFFFFF"/>
                </a:solidFill>
              </a:rPr>
              <a:t>Use arithmetic instead of a decision. The CPU calculates the answer without guessing — eliminating costly misprediction penalties.
Gain: up to 10% faster</a:t>
            </a:r>
          </a:p>
        </p:txBody>
      </p:sp>
      <p:sp>
        <p:nvSpPr>
          <p:cNvPr id="14" name="Rectangle 13"/>
          <p:cNvSpPr/>
          <p:nvPr/>
        </p:nvSpPr>
        <p:spPr>
          <a:xfrm>
            <a:off x="6245352" y="1417320"/>
            <a:ext cx="5650992" cy="512064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45352" y="1856232"/>
            <a:ext cx="5650992" cy="36576"/>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463040"/>
            <a:ext cx="5376672" cy="384048"/>
          </a:xfrm>
          <a:prstGeom prst="rect">
            <a:avLst/>
          </a:prstGeom>
          <a:noFill/>
        </p:spPr>
        <p:txBody>
          <a:bodyPr wrap="square">
            <a:spAutoFit/>
          </a:bodyPr>
          <a:lstStyle/>
          <a:p>
            <a:pPr algn="l"/>
            <a:r>
              <a:rPr sz="1600" b="1" i="0">
                <a:solidFill>
                  <a:srgbClr val="06D6A0"/>
                </a:solidFill>
              </a:rPr>
              <a:t>Smarter Prefetch</a:t>
            </a:r>
          </a:p>
        </p:txBody>
      </p:sp>
      <p:sp>
        <p:nvSpPr>
          <p:cNvPr id="17" name="TextBox 16"/>
          <p:cNvSpPr txBox="1"/>
          <p:nvPr/>
        </p:nvSpPr>
        <p:spPr>
          <a:xfrm>
            <a:off x="6382512" y="1947672"/>
            <a:ext cx="5376672" cy="320040"/>
          </a:xfrm>
          <a:prstGeom prst="rect">
            <a:avLst/>
          </a:prstGeom>
          <a:noFill/>
        </p:spPr>
        <p:txBody>
          <a:bodyPr wrap="square">
            <a:spAutoFit/>
          </a:bodyPr>
          <a:lstStyle/>
          <a:p>
            <a:pPr algn="l"/>
            <a:r>
              <a:rPr sz="1300" b="1" i="0">
                <a:solidFill>
                  <a:srgbClr val="FF6B6B"/>
                </a:solidFill>
              </a:rPr>
              <a:t>The Problem</a:t>
            </a:r>
          </a:p>
        </p:txBody>
      </p:sp>
      <p:sp>
        <p:nvSpPr>
          <p:cNvPr id="18" name="TextBox 17"/>
          <p:cNvSpPr txBox="1"/>
          <p:nvPr/>
        </p:nvSpPr>
        <p:spPr>
          <a:xfrm>
            <a:off x="6382512" y="2286000"/>
            <a:ext cx="5376672" cy="1371600"/>
          </a:xfrm>
          <a:prstGeom prst="rect">
            <a:avLst/>
          </a:prstGeom>
          <a:noFill/>
        </p:spPr>
        <p:txBody>
          <a:bodyPr wrap="square">
            <a:spAutoFit/>
          </a:bodyPr>
          <a:lstStyle/>
          <a:p>
            <a:pPr algn="l"/>
            <a:r>
              <a:rPr sz="1200" b="0" i="0">
                <a:solidFill>
                  <a:srgbClr val="B0C4D8"/>
                </a:solidFill>
              </a:rPr>
              <a:t>When merging large arrays, the CPU must wait ~80 nanoseconds every time it
fetches a new chunk from RAM. That adds up to seconds of wasted time.</a:t>
            </a:r>
          </a:p>
        </p:txBody>
      </p:sp>
      <p:sp>
        <p:nvSpPr>
          <p:cNvPr id="19" name="Rectangle 18"/>
          <p:cNvSpPr/>
          <p:nvPr/>
        </p:nvSpPr>
        <p:spPr>
          <a:xfrm>
            <a:off x="6382512" y="3749039"/>
            <a:ext cx="5376672" cy="1828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3840480"/>
            <a:ext cx="5376672" cy="320040"/>
          </a:xfrm>
          <a:prstGeom prst="rect">
            <a:avLst/>
          </a:prstGeom>
          <a:noFill/>
        </p:spPr>
        <p:txBody>
          <a:bodyPr wrap="square">
            <a:spAutoFit/>
          </a:bodyPr>
          <a:lstStyle/>
          <a:p>
            <a:pPr algn="l"/>
            <a:r>
              <a:rPr sz="1300" b="1" i="0">
                <a:solidFill>
                  <a:srgbClr val="06D6A0"/>
                </a:solidFill>
              </a:rPr>
              <a:t>The Fix</a:t>
            </a:r>
          </a:p>
        </p:txBody>
      </p:sp>
      <p:sp>
        <p:nvSpPr>
          <p:cNvPr id="21" name="TextBox 20"/>
          <p:cNvSpPr txBox="1"/>
          <p:nvPr/>
        </p:nvSpPr>
        <p:spPr>
          <a:xfrm>
            <a:off x="6382512" y="4178808"/>
            <a:ext cx="5376672" cy="1828800"/>
          </a:xfrm>
          <a:prstGeom prst="rect">
            <a:avLst/>
          </a:prstGeom>
          <a:noFill/>
        </p:spPr>
        <p:txBody>
          <a:bodyPr wrap="square">
            <a:spAutoFit/>
          </a:bodyPr>
          <a:lstStyle/>
          <a:p>
            <a:pPr algn="l"/>
            <a:r>
              <a:rPr sz="1200" b="0" i="0">
                <a:solidFill>
                  <a:srgbClr val="FFFFFF"/>
                </a:solidFill>
              </a:rPr>
              <a:t>Issue a 'heads-up' to the memory system 20 steps in advance: 'I'll need this data soon, start loading it now.'
Gain: 1–5% at large sizes</a:t>
            </a:r>
          </a:p>
        </p:txBody>
      </p:sp>
      <p:sp>
        <p:nvSpPr>
          <p:cNvPr id="22" name="Rectangle 21"/>
          <p:cNvSpPr/>
          <p:nvPr/>
        </p:nvSpPr>
        <p:spPr>
          <a:xfrm>
            <a:off x="12216384" y="1417320"/>
            <a:ext cx="5650992" cy="512064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2216384" y="1856232"/>
            <a:ext cx="5650992" cy="36576"/>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53544" y="1463040"/>
            <a:ext cx="5376672" cy="384048"/>
          </a:xfrm>
          <a:prstGeom prst="rect">
            <a:avLst/>
          </a:prstGeom>
          <a:noFill/>
        </p:spPr>
        <p:txBody>
          <a:bodyPr wrap="square">
            <a:spAutoFit/>
          </a:bodyPr>
          <a:lstStyle/>
          <a:p>
            <a:pPr algn="l"/>
            <a:r>
              <a:rPr sz="1600" b="1" i="0">
                <a:solidFill>
                  <a:srgbClr val="FFD166"/>
                </a:solidFill>
              </a:rPr>
              <a:t>AVX-512 Simulation</a:t>
            </a:r>
          </a:p>
        </p:txBody>
      </p:sp>
      <p:sp>
        <p:nvSpPr>
          <p:cNvPr id="25" name="TextBox 24"/>
          <p:cNvSpPr txBox="1"/>
          <p:nvPr/>
        </p:nvSpPr>
        <p:spPr>
          <a:xfrm>
            <a:off x="12353544" y="1947672"/>
            <a:ext cx="5376672" cy="320040"/>
          </a:xfrm>
          <a:prstGeom prst="rect">
            <a:avLst/>
          </a:prstGeom>
          <a:noFill/>
        </p:spPr>
        <p:txBody>
          <a:bodyPr wrap="square">
            <a:spAutoFit/>
          </a:bodyPr>
          <a:lstStyle/>
          <a:p>
            <a:pPr algn="l"/>
            <a:r>
              <a:rPr sz="1300" b="1" i="0">
                <a:solidFill>
                  <a:srgbClr val="FF6B6B"/>
                </a:solidFill>
              </a:rPr>
              <a:t>The Idea</a:t>
            </a:r>
          </a:p>
        </p:txBody>
      </p:sp>
      <p:sp>
        <p:nvSpPr>
          <p:cNvPr id="26" name="TextBox 25"/>
          <p:cNvSpPr txBox="1"/>
          <p:nvPr/>
        </p:nvSpPr>
        <p:spPr>
          <a:xfrm>
            <a:off x="12353544" y="2286000"/>
            <a:ext cx="5376672" cy="1371600"/>
          </a:xfrm>
          <a:prstGeom prst="rect">
            <a:avLst/>
          </a:prstGeom>
          <a:noFill/>
        </p:spPr>
        <p:txBody>
          <a:bodyPr wrap="square">
            <a:spAutoFit/>
          </a:bodyPr>
          <a:lstStyle/>
          <a:p>
            <a:pPr algn="l"/>
            <a:r>
              <a:rPr sz="1200" b="0" i="0">
                <a:solidFill>
                  <a:srgbClr val="B0C4D8"/>
                </a:solidFill>
              </a:rPr>
              <a:t>Real AVX-512 processors can sort 384 numbers at once instead of 192, saving an entire merge pass (1 of 14).</a:t>
            </a:r>
          </a:p>
        </p:txBody>
      </p:sp>
      <p:sp>
        <p:nvSpPr>
          <p:cNvPr id="27" name="Rectangle 26"/>
          <p:cNvSpPr/>
          <p:nvPr/>
        </p:nvSpPr>
        <p:spPr>
          <a:xfrm>
            <a:off x="12353544" y="3749039"/>
            <a:ext cx="5376672" cy="18288"/>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353544" y="3840480"/>
            <a:ext cx="5376672" cy="320040"/>
          </a:xfrm>
          <a:prstGeom prst="rect">
            <a:avLst/>
          </a:prstGeom>
          <a:noFill/>
        </p:spPr>
        <p:txBody>
          <a:bodyPr wrap="square">
            <a:spAutoFit/>
          </a:bodyPr>
          <a:lstStyle/>
          <a:p>
            <a:pPr algn="l"/>
            <a:r>
              <a:rPr sz="1300" b="1" i="0">
                <a:solidFill>
                  <a:srgbClr val="06D6A0"/>
                </a:solidFill>
              </a:rPr>
              <a:t>Our Simulation</a:t>
            </a:r>
          </a:p>
        </p:txBody>
      </p:sp>
      <p:sp>
        <p:nvSpPr>
          <p:cNvPr id="29" name="TextBox 28"/>
          <p:cNvSpPr txBox="1"/>
          <p:nvPr/>
        </p:nvSpPr>
        <p:spPr>
          <a:xfrm>
            <a:off x="12353544" y="4178808"/>
            <a:ext cx="5376672" cy="1828800"/>
          </a:xfrm>
          <a:prstGeom prst="rect">
            <a:avLst/>
          </a:prstGeom>
          <a:noFill/>
        </p:spPr>
        <p:txBody>
          <a:bodyPr wrap="square">
            <a:spAutoFit/>
          </a:bodyPr>
          <a:lstStyle/>
          <a:p>
            <a:pPr algn="l"/>
            <a:r>
              <a:rPr sz="1200" b="0" i="0">
                <a:solidFill>
                  <a:srgbClr val="FFFFFF"/>
                </a:solidFill>
              </a:rPr>
              <a:t>We don't have AVX-512 hardware, so we create 384-element sorted chunks manually then skip the first merge pass.
Gain: 9–19% faster — best single-core improvement</a:t>
            </a:r>
          </a:p>
        </p:txBody>
      </p:sp>
      <p:sp>
        <p:nvSpPr>
          <p:cNvPr id="30" name="Rectangle 29"/>
          <p:cNvSpPr/>
          <p:nvPr/>
        </p:nvSpPr>
        <p:spPr>
          <a:xfrm>
            <a:off x="18187416" y="1417320"/>
            <a:ext cx="5650992" cy="512064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8187416" y="1856232"/>
            <a:ext cx="5650992" cy="36576"/>
          </a:xfrm>
          <a:prstGeom prst="rect">
            <a:avLst/>
          </a:prstGeom>
          <a:solidFill>
            <a:srgbClr val="FF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324576" y="1463040"/>
            <a:ext cx="5376672" cy="384048"/>
          </a:xfrm>
          <a:prstGeom prst="rect">
            <a:avLst/>
          </a:prstGeom>
          <a:noFill/>
        </p:spPr>
        <p:txBody>
          <a:bodyPr wrap="square">
            <a:spAutoFit/>
          </a:bodyPr>
          <a:lstStyle/>
          <a:p>
            <a:pPr algn="l"/>
            <a:r>
              <a:rPr sz="1600" b="1" i="0">
                <a:solidFill>
                  <a:srgbClr val="FFA060"/>
                </a:solidFill>
              </a:rPr>
              <a:t>Pooled Memory (DynTile)</a:t>
            </a:r>
          </a:p>
        </p:txBody>
      </p:sp>
      <p:sp>
        <p:nvSpPr>
          <p:cNvPr id="33" name="TextBox 32"/>
          <p:cNvSpPr txBox="1"/>
          <p:nvPr/>
        </p:nvSpPr>
        <p:spPr>
          <a:xfrm>
            <a:off x="18324576" y="1947672"/>
            <a:ext cx="5376672" cy="320040"/>
          </a:xfrm>
          <a:prstGeom prst="rect">
            <a:avLst/>
          </a:prstGeom>
          <a:noFill/>
        </p:spPr>
        <p:txBody>
          <a:bodyPr wrap="square">
            <a:spAutoFit/>
          </a:bodyPr>
          <a:lstStyle/>
          <a:p>
            <a:pPr algn="l"/>
            <a:r>
              <a:rPr sz="1300" b="1" i="0">
                <a:solidFill>
                  <a:srgbClr val="FF6B6B"/>
                </a:solidFill>
              </a:rPr>
              <a:t>The Problem</a:t>
            </a:r>
          </a:p>
        </p:txBody>
      </p:sp>
      <p:sp>
        <p:nvSpPr>
          <p:cNvPr id="34" name="TextBox 33"/>
          <p:cNvSpPr txBox="1"/>
          <p:nvPr/>
        </p:nvSpPr>
        <p:spPr>
          <a:xfrm>
            <a:off x="18324576" y="2286000"/>
            <a:ext cx="5376672" cy="1371600"/>
          </a:xfrm>
          <a:prstGeom prst="rect">
            <a:avLst/>
          </a:prstGeom>
          <a:noFill/>
        </p:spPr>
        <p:txBody>
          <a:bodyPr wrap="square">
            <a:spAutoFit/>
          </a:bodyPr>
          <a:lstStyle/>
          <a:p>
            <a:pPr algn="l"/>
            <a:r>
              <a:rPr sz="1200" b="0" i="0">
                <a:solidFill>
                  <a:srgbClr val="B0C4D8"/>
                </a:solidFill>
              </a:rPr>
              <a:t>For every single merge operation, the program called malloc (request memory) and
free (return memory) — happening thousands of times per sort.</a:t>
            </a:r>
          </a:p>
        </p:txBody>
      </p:sp>
      <p:sp>
        <p:nvSpPr>
          <p:cNvPr id="35" name="Rectangle 34"/>
          <p:cNvSpPr/>
          <p:nvPr/>
        </p:nvSpPr>
        <p:spPr>
          <a:xfrm>
            <a:off x="18324576" y="3749039"/>
            <a:ext cx="5376672" cy="18288"/>
          </a:xfrm>
          <a:prstGeom prst="rect">
            <a:avLst/>
          </a:prstGeom>
          <a:solidFill>
            <a:srgbClr val="FF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8324576" y="3840480"/>
            <a:ext cx="5376672" cy="320040"/>
          </a:xfrm>
          <a:prstGeom prst="rect">
            <a:avLst/>
          </a:prstGeom>
          <a:noFill/>
        </p:spPr>
        <p:txBody>
          <a:bodyPr wrap="square">
            <a:spAutoFit/>
          </a:bodyPr>
          <a:lstStyle/>
          <a:p>
            <a:pPr algn="l"/>
            <a:r>
              <a:rPr sz="1300" b="1" i="0">
                <a:solidFill>
                  <a:srgbClr val="06D6A0"/>
                </a:solidFill>
              </a:rPr>
              <a:t>The Fix</a:t>
            </a:r>
          </a:p>
        </p:txBody>
      </p:sp>
      <p:sp>
        <p:nvSpPr>
          <p:cNvPr id="37" name="TextBox 36"/>
          <p:cNvSpPr txBox="1"/>
          <p:nvPr/>
        </p:nvSpPr>
        <p:spPr>
          <a:xfrm>
            <a:off x="18324576" y="4178808"/>
            <a:ext cx="5376672" cy="1828800"/>
          </a:xfrm>
          <a:prstGeom prst="rect">
            <a:avLst/>
          </a:prstGeom>
          <a:noFill/>
        </p:spPr>
        <p:txBody>
          <a:bodyPr wrap="square">
            <a:spAutoFit/>
          </a:bodyPr>
          <a:lstStyle/>
          <a:p>
            <a:pPr algn="l"/>
            <a:r>
              <a:rPr sz="1200" b="0" i="0">
                <a:solidFill>
                  <a:srgbClr val="FFFFFF"/>
                </a:solidFill>
              </a:rPr>
              <a:t>Allocate one reusable buffer per thread. Reuse it for every merge. No repeated allocation.
Gain: 7–19% — especially noticeable at medium sizes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88952"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4008"/>
            <a:ext cx="11795760" cy="749808"/>
          </a:xfrm>
          <a:prstGeom prst="rect">
            <a:avLst/>
          </a:prstGeom>
          <a:noFill/>
        </p:spPr>
        <p:txBody>
          <a:bodyPr wrap="square">
            <a:spAutoFit/>
          </a:bodyPr>
          <a:lstStyle/>
          <a:p>
            <a:pPr algn="l"/>
            <a:r>
              <a:rPr sz="2700" b="1" i="0">
                <a:solidFill>
                  <a:srgbClr val="FFFFFF"/>
                </a:solidFill>
              </a:rPr>
              <a:t>  04   Results — How Much Faster?</a:t>
            </a:r>
          </a:p>
        </p:txBody>
      </p:sp>
      <p:sp>
        <p:nvSpPr>
          <p:cNvPr id="5" name="TextBox 4"/>
          <p:cNvSpPr txBox="1"/>
          <p:nvPr/>
        </p:nvSpPr>
        <p:spPr>
          <a:xfrm>
            <a:off x="274320" y="960120"/>
            <a:ext cx="11640312" cy="347472"/>
          </a:xfrm>
          <a:prstGeom prst="rect">
            <a:avLst/>
          </a:prstGeom>
          <a:noFill/>
        </p:spPr>
        <p:txBody>
          <a:bodyPr wrap="square">
            <a:spAutoFit/>
          </a:bodyPr>
          <a:lstStyle/>
          <a:p>
            <a:pPr algn="l"/>
            <a:r>
              <a:rPr sz="1400" b="0" i="1">
                <a:solidFill>
                  <a:srgbClr val="B0C4D8"/>
                </a:solidFill>
              </a:rPr>
              <a:t>Speedup compared to the original single-threaded baseline (1.0× = same speed)</a:t>
            </a:r>
          </a:p>
        </p:txBody>
      </p:sp>
      <p:sp>
        <p:nvSpPr>
          <p:cNvPr id="6" name="Rectangle 5"/>
          <p:cNvSpPr/>
          <p:nvPr/>
        </p:nvSpPr>
        <p:spPr>
          <a:xfrm>
            <a:off x="274320" y="1371600"/>
            <a:ext cx="2212848" cy="15544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417320"/>
            <a:ext cx="2212848" cy="854964"/>
          </a:xfrm>
          <a:prstGeom prst="rect">
            <a:avLst/>
          </a:prstGeom>
          <a:noFill/>
        </p:spPr>
        <p:txBody>
          <a:bodyPr wrap="square">
            <a:spAutoFit/>
          </a:bodyPr>
          <a:lstStyle/>
          <a:p>
            <a:pPr algn="ctr"/>
            <a:r>
              <a:rPr sz="3600" b="1" i="0">
                <a:solidFill>
                  <a:srgbClr val="06D6A0"/>
                </a:solidFill>
              </a:rPr>
              <a:t>3.0×</a:t>
            </a:r>
          </a:p>
        </p:txBody>
      </p:sp>
      <p:sp>
        <p:nvSpPr>
          <p:cNvPr id="8" name="TextBox 7"/>
          <p:cNvSpPr txBox="1"/>
          <p:nvPr/>
        </p:nvSpPr>
        <p:spPr>
          <a:xfrm>
            <a:off x="274320" y="2226564"/>
            <a:ext cx="2212848" cy="699516"/>
          </a:xfrm>
          <a:prstGeom prst="rect">
            <a:avLst/>
          </a:prstGeom>
          <a:noFill/>
        </p:spPr>
        <p:txBody>
          <a:bodyPr wrap="square">
            <a:spAutoFit/>
          </a:bodyPr>
          <a:lstStyle/>
          <a:p>
            <a:pPr algn="ctr"/>
            <a:r>
              <a:rPr sz="1300" b="0" i="0">
                <a:solidFill>
                  <a:srgbClr val="B0C4D8"/>
                </a:solidFill>
              </a:rPr>
              <a:t>Peak speedup
(All combined,
n=500K)</a:t>
            </a:r>
          </a:p>
        </p:txBody>
      </p:sp>
      <p:sp>
        <p:nvSpPr>
          <p:cNvPr id="9" name="Rectangle 8"/>
          <p:cNvSpPr/>
          <p:nvPr/>
        </p:nvSpPr>
        <p:spPr>
          <a:xfrm>
            <a:off x="2606039" y="1371600"/>
            <a:ext cx="2212848" cy="15544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06039" y="1417320"/>
            <a:ext cx="2212848" cy="854964"/>
          </a:xfrm>
          <a:prstGeom prst="rect">
            <a:avLst/>
          </a:prstGeom>
          <a:noFill/>
        </p:spPr>
        <p:txBody>
          <a:bodyPr wrap="square">
            <a:spAutoFit/>
          </a:bodyPr>
          <a:lstStyle/>
          <a:p>
            <a:pPr algn="ctr"/>
            <a:r>
              <a:rPr sz="3600" b="1" i="0">
                <a:solidFill>
                  <a:srgbClr val="00B4D8"/>
                </a:solidFill>
              </a:rPr>
              <a:t>2.9×</a:t>
            </a:r>
          </a:p>
        </p:txBody>
      </p:sp>
      <p:sp>
        <p:nvSpPr>
          <p:cNvPr id="11" name="TextBox 10"/>
          <p:cNvSpPr txBox="1"/>
          <p:nvPr/>
        </p:nvSpPr>
        <p:spPr>
          <a:xfrm>
            <a:off x="2606039" y="2226564"/>
            <a:ext cx="2212848" cy="699516"/>
          </a:xfrm>
          <a:prstGeom prst="rect">
            <a:avLst/>
          </a:prstGeom>
          <a:noFill/>
        </p:spPr>
        <p:txBody>
          <a:bodyPr wrap="square">
            <a:spAutoFit/>
          </a:bodyPr>
          <a:lstStyle/>
          <a:p>
            <a:pPr algn="ctr"/>
            <a:r>
              <a:rPr sz="1300" b="0" i="0">
                <a:solidFill>
                  <a:srgbClr val="B0C4D8"/>
                </a:solidFill>
              </a:rPr>
              <a:t>OpenMP alone
(12 threads,
n=2M)</a:t>
            </a:r>
          </a:p>
        </p:txBody>
      </p:sp>
      <p:sp>
        <p:nvSpPr>
          <p:cNvPr id="12" name="Rectangle 11"/>
          <p:cNvSpPr/>
          <p:nvPr/>
        </p:nvSpPr>
        <p:spPr>
          <a:xfrm>
            <a:off x="4937759" y="1371600"/>
            <a:ext cx="2212848" cy="15544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37759" y="1417320"/>
            <a:ext cx="2212848" cy="854964"/>
          </a:xfrm>
          <a:prstGeom prst="rect">
            <a:avLst/>
          </a:prstGeom>
          <a:noFill/>
        </p:spPr>
        <p:txBody>
          <a:bodyPr wrap="square">
            <a:spAutoFit/>
          </a:bodyPr>
          <a:lstStyle/>
          <a:p>
            <a:pPr algn="ctr"/>
            <a:r>
              <a:rPr sz="3600" b="1" i="0">
                <a:solidFill>
                  <a:srgbClr val="FFD166"/>
                </a:solidFill>
              </a:rPr>
              <a:t>1.3×</a:t>
            </a:r>
          </a:p>
        </p:txBody>
      </p:sp>
      <p:sp>
        <p:nvSpPr>
          <p:cNvPr id="14" name="TextBox 13"/>
          <p:cNvSpPr txBox="1"/>
          <p:nvPr/>
        </p:nvSpPr>
        <p:spPr>
          <a:xfrm>
            <a:off x="4937759" y="2226564"/>
            <a:ext cx="2212848" cy="699516"/>
          </a:xfrm>
          <a:prstGeom prst="rect">
            <a:avLst/>
          </a:prstGeom>
          <a:noFill/>
        </p:spPr>
        <p:txBody>
          <a:bodyPr wrap="square">
            <a:spAutoFit/>
          </a:bodyPr>
          <a:lstStyle/>
          <a:p>
            <a:pPr algn="ctr"/>
            <a:r>
              <a:rPr sz="1300" b="0" i="0">
                <a:solidFill>
                  <a:srgbClr val="B0C4D8"/>
                </a:solidFill>
              </a:rPr>
              <a:t>DynTile alone
(single core,
n=50K)</a:t>
            </a:r>
          </a:p>
        </p:txBody>
      </p:sp>
      <p:sp>
        <p:nvSpPr>
          <p:cNvPr id="15" name="Rectangle 14"/>
          <p:cNvSpPr/>
          <p:nvPr/>
        </p:nvSpPr>
        <p:spPr>
          <a:xfrm>
            <a:off x="7269479" y="1371600"/>
            <a:ext cx="2212848" cy="15544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9479" y="1417320"/>
            <a:ext cx="2212848" cy="854964"/>
          </a:xfrm>
          <a:prstGeom prst="rect">
            <a:avLst/>
          </a:prstGeom>
          <a:noFill/>
        </p:spPr>
        <p:txBody>
          <a:bodyPr wrap="square">
            <a:spAutoFit/>
          </a:bodyPr>
          <a:lstStyle/>
          <a:p>
            <a:pPr algn="ctr"/>
            <a:r>
              <a:rPr sz="3600" b="1" i="0">
                <a:solidFill>
                  <a:srgbClr val="48CAE4"/>
                </a:solidFill>
              </a:rPr>
              <a:t>1.2×</a:t>
            </a:r>
          </a:p>
        </p:txBody>
      </p:sp>
      <p:sp>
        <p:nvSpPr>
          <p:cNvPr id="17" name="TextBox 16"/>
          <p:cNvSpPr txBox="1"/>
          <p:nvPr/>
        </p:nvSpPr>
        <p:spPr>
          <a:xfrm>
            <a:off x="7269479" y="2226564"/>
            <a:ext cx="2212848" cy="699516"/>
          </a:xfrm>
          <a:prstGeom prst="rect">
            <a:avLst/>
          </a:prstGeom>
          <a:noFill/>
        </p:spPr>
        <p:txBody>
          <a:bodyPr wrap="square">
            <a:spAutoFit/>
          </a:bodyPr>
          <a:lstStyle/>
          <a:p>
            <a:pPr algn="ctr"/>
            <a:r>
              <a:rPr sz="1300" b="0" i="0">
                <a:solidFill>
                  <a:srgbClr val="B0C4D8"/>
                </a:solidFill>
              </a:rPr>
              <a:t>AVX-512 sim
(single core,
n=500K)</a:t>
            </a:r>
          </a:p>
        </p:txBody>
      </p:sp>
      <p:sp>
        <p:nvSpPr>
          <p:cNvPr id="18" name="Rectangle 17"/>
          <p:cNvSpPr/>
          <p:nvPr/>
        </p:nvSpPr>
        <p:spPr>
          <a:xfrm>
            <a:off x="9601200" y="1371600"/>
            <a:ext cx="2212848" cy="15544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0" y="1417320"/>
            <a:ext cx="2212848" cy="854964"/>
          </a:xfrm>
          <a:prstGeom prst="rect">
            <a:avLst/>
          </a:prstGeom>
          <a:noFill/>
        </p:spPr>
        <p:txBody>
          <a:bodyPr wrap="square">
            <a:spAutoFit/>
          </a:bodyPr>
          <a:lstStyle/>
          <a:p>
            <a:pPr algn="ctr"/>
            <a:r>
              <a:rPr sz="3600" b="1" i="0">
                <a:solidFill>
                  <a:srgbClr val="06D6A0"/>
                </a:solidFill>
              </a:rPr>
              <a:t>35/35</a:t>
            </a:r>
          </a:p>
        </p:txBody>
      </p:sp>
      <p:sp>
        <p:nvSpPr>
          <p:cNvPr id="20" name="TextBox 19"/>
          <p:cNvSpPr txBox="1"/>
          <p:nvPr/>
        </p:nvSpPr>
        <p:spPr>
          <a:xfrm>
            <a:off x="9601200" y="2226564"/>
            <a:ext cx="2212848" cy="699516"/>
          </a:xfrm>
          <a:prstGeom prst="rect">
            <a:avLst/>
          </a:prstGeom>
          <a:noFill/>
        </p:spPr>
        <p:txBody>
          <a:bodyPr wrap="square">
            <a:spAutoFit/>
          </a:bodyPr>
          <a:lstStyle/>
          <a:p>
            <a:pPr algn="ctr"/>
            <a:r>
              <a:rPr sz="1300" b="0" i="0">
                <a:solidFill>
                  <a:srgbClr val="B0C4D8"/>
                </a:solidFill>
              </a:rPr>
              <a:t>Correctness
tests passed
(all variants)</a:t>
            </a:r>
          </a:p>
        </p:txBody>
      </p:sp>
      <p:sp>
        <p:nvSpPr>
          <p:cNvPr id="21" name="Rectangle 20"/>
          <p:cNvSpPr/>
          <p:nvPr/>
        </p:nvSpPr>
        <p:spPr>
          <a:xfrm>
            <a:off x="274320" y="3154680"/>
            <a:ext cx="11640312" cy="33832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3200400"/>
            <a:ext cx="11338560" cy="384048"/>
          </a:xfrm>
          <a:prstGeom prst="rect">
            <a:avLst/>
          </a:prstGeom>
          <a:noFill/>
        </p:spPr>
        <p:txBody>
          <a:bodyPr wrap="square">
            <a:spAutoFit/>
          </a:bodyPr>
          <a:lstStyle/>
          <a:p>
            <a:pPr algn="l"/>
            <a:r>
              <a:rPr sz="1400" b="1" i="0">
                <a:solidFill>
                  <a:srgbClr val="FFFFFF"/>
                </a:solidFill>
              </a:rPr>
              <a:t>Speedup at n = 500,000 elements (higher = faster)</a:t>
            </a:r>
          </a:p>
        </p:txBody>
      </p:sp>
      <p:sp>
        <p:nvSpPr>
          <p:cNvPr id="23" name="TextBox 22"/>
          <p:cNvSpPr txBox="1"/>
          <p:nvPr/>
        </p:nvSpPr>
        <p:spPr>
          <a:xfrm>
            <a:off x="411480" y="3703320"/>
            <a:ext cx="1920240" cy="320040"/>
          </a:xfrm>
          <a:prstGeom prst="rect">
            <a:avLst/>
          </a:prstGeom>
          <a:noFill/>
        </p:spPr>
        <p:txBody>
          <a:bodyPr wrap="square">
            <a:spAutoFit/>
          </a:bodyPr>
          <a:lstStyle/>
          <a:p>
            <a:pPr algn="r"/>
            <a:r>
              <a:rPr sz="1200" b="0" i="0">
                <a:solidFill>
                  <a:srgbClr val="FFFFFF"/>
                </a:solidFill>
              </a:rPr>
              <a:t>Baseline</a:t>
            </a:r>
          </a:p>
        </p:txBody>
      </p:sp>
      <p:sp>
        <p:nvSpPr>
          <p:cNvPr id="24" name="Rectangle 23"/>
          <p:cNvSpPr/>
          <p:nvPr/>
        </p:nvSpPr>
        <p:spPr>
          <a:xfrm>
            <a:off x="2377440" y="3721607"/>
            <a:ext cx="2857500" cy="283464"/>
          </a:xfrm>
          <a:prstGeom prst="rect">
            <a:avLst/>
          </a:prstGeom>
          <a:solidFill>
            <a:srgbClr val="B0C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8092" y="3703320"/>
            <a:ext cx="731520" cy="320040"/>
          </a:xfrm>
          <a:prstGeom prst="rect">
            <a:avLst/>
          </a:prstGeom>
          <a:noFill/>
        </p:spPr>
        <p:txBody>
          <a:bodyPr wrap="square">
            <a:spAutoFit/>
          </a:bodyPr>
          <a:lstStyle/>
          <a:p>
            <a:pPr algn="l"/>
            <a:r>
              <a:rPr sz="1200" b="1" i="0">
                <a:solidFill>
                  <a:srgbClr val="B0C4D8"/>
                </a:solidFill>
              </a:rPr>
              <a:t>1.00×</a:t>
            </a:r>
          </a:p>
        </p:txBody>
      </p:sp>
      <p:sp>
        <p:nvSpPr>
          <p:cNvPr id="26" name="TextBox 25"/>
          <p:cNvSpPr txBox="1"/>
          <p:nvPr/>
        </p:nvSpPr>
        <p:spPr>
          <a:xfrm>
            <a:off x="411480" y="4087368"/>
            <a:ext cx="1920240" cy="320040"/>
          </a:xfrm>
          <a:prstGeom prst="rect">
            <a:avLst/>
          </a:prstGeom>
          <a:noFill/>
        </p:spPr>
        <p:txBody>
          <a:bodyPr wrap="square">
            <a:spAutoFit/>
          </a:bodyPr>
          <a:lstStyle/>
          <a:p>
            <a:pPr algn="r"/>
            <a:r>
              <a:rPr sz="1200" b="0" i="0">
                <a:solidFill>
                  <a:srgbClr val="FFFFFF"/>
                </a:solidFill>
              </a:rPr>
              <a:t>Branchless</a:t>
            </a:r>
          </a:p>
        </p:txBody>
      </p:sp>
      <p:sp>
        <p:nvSpPr>
          <p:cNvPr id="27" name="Rectangle 26"/>
          <p:cNvSpPr/>
          <p:nvPr/>
        </p:nvSpPr>
        <p:spPr>
          <a:xfrm>
            <a:off x="2377440" y="4105655"/>
            <a:ext cx="3143250" cy="283464"/>
          </a:xfrm>
          <a:prstGeom prst="rect">
            <a:avLst/>
          </a:prstGeom>
          <a:solidFill>
            <a:srgbClr val="48C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593842" y="4087368"/>
            <a:ext cx="731520" cy="320040"/>
          </a:xfrm>
          <a:prstGeom prst="rect">
            <a:avLst/>
          </a:prstGeom>
          <a:noFill/>
        </p:spPr>
        <p:txBody>
          <a:bodyPr wrap="square">
            <a:spAutoFit/>
          </a:bodyPr>
          <a:lstStyle/>
          <a:p>
            <a:pPr algn="l"/>
            <a:r>
              <a:rPr sz="1200" b="1" i="0">
                <a:solidFill>
                  <a:srgbClr val="48CAE4"/>
                </a:solidFill>
              </a:rPr>
              <a:t>1.10×</a:t>
            </a:r>
          </a:p>
        </p:txBody>
      </p:sp>
      <p:sp>
        <p:nvSpPr>
          <p:cNvPr id="29" name="TextBox 28"/>
          <p:cNvSpPr txBox="1"/>
          <p:nvPr/>
        </p:nvSpPr>
        <p:spPr>
          <a:xfrm>
            <a:off x="411480" y="4471416"/>
            <a:ext cx="1920240" cy="320040"/>
          </a:xfrm>
          <a:prstGeom prst="rect">
            <a:avLst/>
          </a:prstGeom>
          <a:noFill/>
        </p:spPr>
        <p:txBody>
          <a:bodyPr wrap="square">
            <a:spAutoFit/>
          </a:bodyPr>
          <a:lstStyle/>
          <a:p>
            <a:pPr algn="r"/>
            <a:r>
              <a:rPr sz="1200" b="0" i="0">
                <a:solidFill>
                  <a:srgbClr val="FFFFFF"/>
                </a:solidFill>
              </a:rPr>
              <a:t>Prefetch</a:t>
            </a:r>
          </a:p>
        </p:txBody>
      </p:sp>
      <p:sp>
        <p:nvSpPr>
          <p:cNvPr id="30" name="Rectangle 29"/>
          <p:cNvSpPr/>
          <p:nvPr/>
        </p:nvSpPr>
        <p:spPr>
          <a:xfrm>
            <a:off x="2377440" y="4489703"/>
            <a:ext cx="3314699" cy="283464"/>
          </a:xfrm>
          <a:prstGeom prst="rect">
            <a:avLst/>
          </a:prstGeom>
          <a:solidFill>
            <a:srgbClr val="48C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65292" y="4471416"/>
            <a:ext cx="731520" cy="320040"/>
          </a:xfrm>
          <a:prstGeom prst="rect">
            <a:avLst/>
          </a:prstGeom>
          <a:noFill/>
        </p:spPr>
        <p:txBody>
          <a:bodyPr wrap="square">
            <a:spAutoFit/>
          </a:bodyPr>
          <a:lstStyle/>
          <a:p>
            <a:pPr algn="l"/>
            <a:r>
              <a:rPr sz="1200" b="1" i="0">
                <a:solidFill>
                  <a:srgbClr val="48CAE4"/>
                </a:solidFill>
              </a:rPr>
              <a:t>1.16×</a:t>
            </a:r>
          </a:p>
        </p:txBody>
      </p:sp>
      <p:sp>
        <p:nvSpPr>
          <p:cNvPr id="32" name="TextBox 31"/>
          <p:cNvSpPr txBox="1"/>
          <p:nvPr/>
        </p:nvSpPr>
        <p:spPr>
          <a:xfrm>
            <a:off x="411480" y="4855464"/>
            <a:ext cx="1920240" cy="320040"/>
          </a:xfrm>
          <a:prstGeom prst="rect">
            <a:avLst/>
          </a:prstGeom>
          <a:noFill/>
        </p:spPr>
        <p:txBody>
          <a:bodyPr wrap="square">
            <a:spAutoFit/>
          </a:bodyPr>
          <a:lstStyle/>
          <a:p>
            <a:pPr algn="r"/>
            <a:r>
              <a:rPr sz="1200" b="0" i="0">
                <a:solidFill>
                  <a:srgbClr val="FFFFFF"/>
                </a:solidFill>
              </a:rPr>
              <a:t>DynTile</a:t>
            </a:r>
          </a:p>
        </p:txBody>
      </p:sp>
      <p:sp>
        <p:nvSpPr>
          <p:cNvPr id="33" name="Rectangle 32"/>
          <p:cNvSpPr/>
          <p:nvPr/>
        </p:nvSpPr>
        <p:spPr>
          <a:xfrm>
            <a:off x="2377440" y="4873751"/>
            <a:ext cx="3657600" cy="283464"/>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08192" y="4855464"/>
            <a:ext cx="731520" cy="320040"/>
          </a:xfrm>
          <a:prstGeom prst="rect">
            <a:avLst/>
          </a:prstGeom>
          <a:noFill/>
        </p:spPr>
        <p:txBody>
          <a:bodyPr wrap="square">
            <a:spAutoFit/>
          </a:bodyPr>
          <a:lstStyle/>
          <a:p>
            <a:pPr algn="l"/>
            <a:r>
              <a:rPr sz="1200" b="1" i="0">
                <a:solidFill>
                  <a:srgbClr val="FFD166"/>
                </a:solidFill>
              </a:rPr>
              <a:t>1.28×</a:t>
            </a:r>
          </a:p>
        </p:txBody>
      </p:sp>
      <p:sp>
        <p:nvSpPr>
          <p:cNvPr id="35" name="TextBox 34"/>
          <p:cNvSpPr txBox="1"/>
          <p:nvPr/>
        </p:nvSpPr>
        <p:spPr>
          <a:xfrm>
            <a:off x="411480" y="5239512"/>
            <a:ext cx="1920240" cy="320040"/>
          </a:xfrm>
          <a:prstGeom prst="rect">
            <a:avLst/>
          </a:prstGeom>
          <a:noFill/>
        </p:spPr>
        <p:txBody>
          <a:bodyPr wrap="square">
            <a:spAutoFit/>
          </a:bodyPr>
          <a:lstStyle/>
          <a:p>
            <a:pPr algn="r"/>
            <a:r>
              <a:rPr sz="1200" b="0" i="0">
                <a:solidFill>
                  <a:srgbClr val="FFFFFF"/>
                </a:solidFill>
              </a:rPr>
              <a:t>AVX-512 Sim</a:t>
            </a:r>
          </a:p>
        </p:txBody>
      </p:sp>
      <p:sp>
        <p:nvSpPr>
          <p:cNvPr id="36" name="Rectangle 35"/>
          <p:cNvSpPr/>
          <p:nvPr/>
        </p:nvSpPr>
        <p:spPr>
          <a:xfrm>
            <a:off x="2377440" y="5257799"/>
            <a:ext cx="3543300" cy="283464"/>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93892" y="5239512"/>
            <a:ext cx="731520" cy="320040"/>
          </a:xfrm>
          <a:prstGeom prst="rect">
            <a:avLst/>
          </a:prstGeom>
          <a:noFill/>
        </p:spPr>
        <p:txBody>
          <a:bodyPr wrap="square">
            <a:spAutoFit/>
          </a:bodyPr>
          <a:lstStyle/>
          <a:p>
            <a:pPr algn="l"/>
            <a:r>
              <a:rPr sz="1200" b="1" i="0">
                <a:solidFill>
                  <a:srgbClr val="FFD166"/>
                </a:solidFill>
              </a:rPr>
              <a:t>1.24×</a:t>
            </a:r>
          </a:p>
        </p:txBody>
      </p:sp>
      <p:sp>
        <p:nvSpPr>
          <p:cNvPr id="38" name="TextBox 37"/>
          <p:cNvSpPr txBox="1"/>
          <p:nvPr/>
        </p:nvSpPr>
        <p:spPr>
          <a:xfrm>
            <a:off x="411480" y="5623560"/>
            <a:ext cx="1920240" cy="320040"/>
          </a:xfrm>
          <a:prstGeom prst="rect">
            <a:avLst/>
          </a:prstGeom>
          <a:noFill/>
        </p:spPr>
        <p:txBody>
          <a:bodyPr wrap="square">
            <a:spAutoFit/>
          </a:bodyPr>
          <a:lstStyle/>
          <a:p>
            <a:pPr algn="r"/>
            <a:r>
              <a:rPr sz="1200" b="0" i="0">
                <a:solidFill>
                  <a:srgbClr val="FFFFFF"/>
                </a:solidFill>
              </a:rPr>
              <a:t>OpenMP</a:t>
            </a:r>
          </a:p>
        </p:txBody>
      </p:sp>
      <p:sp>
        <p:nvSpPr>
          <p:cNvPr id="39" name="Rectangle 38"/>
          <p:cNvSpPr/>
          <p:nvPr/>
        </p:nvSpPr>
        <p:spPr>
          <a:xfrm>
            <a:off x="2377440" y="5641848"/>
            <a:ext cx="7600950" cy="2834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1542" y="5623560"/>
            <a:ext cx="731520" cy="320040"/>
          </a:xfrm>
          <a:prstGeom prst="rect">
            <a:avLst/>
          </a:prstGeom>
          <a:noFill/>
        </p:spPr>
        <p:txBody>
          <a:bodyPr wrap="square">
            <a:spAutoFit/>
          </a:bodyPr>
          <a:lstStyle/>
          <a:p>
            <a:pPr algn="l"/>
            <a:r>
              <a:rPr sz="1200" b="1" i="0">
                <a:solidFill>
                  <a:srgbClr val="00B4D8"/>
                </a:solidFill>
              </a:rPr>
              <a:t>2.66×</a:t>
            </a:r>
          </a:p>
        </p:txBody>
      </p:sp>
      <p:sp>
        <p:nvSpPr>
          <p:cNvPr id="41" name="TextBox 40"/>
          <p:cNvSpPr txBox="1"/>
          <p:nvPr/>
        </p:nvSpPr>
        <p:spPr>
          <a:xfrm>
            <a:off x="411480" y="6007608"/>
            <a:ext cx="1920240" cy="320040"/>
          </a:xfrm>
          <a:prstGeom prst="rect">
            <a:avLst/>
          </a:prstGeom>
          <a:noFill/>
        </p:spPr>
        <p:txBody>
          <a:bodyPr wrap="square">
            <a:spAutoFit/>
          </a:bodyPr>
          <a:lstStyle/>
          <a:p>
            <a:pPr algn="r"/>
            <a:r>
              <a:rPr sz="1200" b="0" i="0">
                <a:solidFill>
                  <a:srgbClr val="FFFFFF"/>
                </a:solidFill>
              </a:rPr>
              <a:t>All Combined</a:t>
            </a:r>
          </a:p>
        </p:txBody>
      </p:sp>
      <p:sp>
        <p:nvSpPr>
          <p:cNvPr id="42" name="Rectangle 41"/>
          <p:cNvSpPr/>
          <p:nvPr/>
        </p:nvSpPr>
        <p:spPr>
          <a:xfrm>
            <a:off x="2377440" y="6025896"/>
            <a:ext cx="8686800" cy="283464"/>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1137392" y="6007608"/>
            <a:ext cx="731520" cy="320040"/>
          </a:xfrm>
          <a:prstGeom prst="rect">
            <a:avLst/>
          </a:prstGeom>
          <a:noFill/>
        </p:spPr>
        <p:txBody>
          <a:bodyPr wrap="square">
            <a:spAutoFit/>
          </a:bodyPr>
          <a:lstStyle/>
          <a:p>
            <a:pPr algn="l"/>
            <a:r>
              <a:rPr sz="1200" b="1" i="0">
                <a:solidFill>
                  <a:srgbClr val="06D6A0"/>
                </a:solidFill>
              </a:rPr>
              <a:t>3.04×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88952"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4008"/>
            <a:ext cx="11795760" cy="749808"/>
          </a:xfrm>
          <a:prstGeom prst="rect">
            <a:avLst/>
          </a:prstGeom>
          <a:noFill/>
        </p:spPr>
        <p:txBody>
          <a:bodyPr wrap="square">
            <a:spAutoFit/>
          </a:bodyPr>
          <a:lstStyle/>
          <a:p>
            <a:pPr algn="l"/>
            <a:r>
              <a:rPr sz="2700" b="1" i="0">
                <a:solidFill>
                  <a:srgbClr val="FFFFFF"/>
                </a:solidFill>
              </a:rPr>
              <a:t>  04   Why Don't All Improvements Help Equally?</a:t>
            </a:r>
          </a:p>
        </p:txBody>
      </p:sp>
      <p:sp>
        <p:nvSpPr>
          <p:cNvPr id="5" name="TextBox 4"/>
          <p:cNvSpPr txBox="1"/>
          <p:nvPr/>
        </p:nvSpPr>
        <p:spPr>
          <a:xfrm>
            <a:off x="274320" y="960120"/>
            <a:ext cx="11640312" cy="347472"/>
          </a:xfrm>
          <a:prstGeom prst="rect">
            <a:avLst/>
          </a:prstGeom>
          <a:noFill/>
        </p:spPr>
        <p:txBody>
          <a:bodyPr wrap="square">
            <a:spAutoFit/>
          </a:bodyPr>
          <a:lstStyle/>
          <a:p>
            <a:pPr algn="l"/>
            <a:r>
              <a:rPr sz="1400" b="0" i="1">
                <a:solidFill>
                  <a:srgbClr val="B0C4D8"/>
                </a:solidFill>
              </a:rPr>
              <a:t>Understanding the limits — and what we learned from the unexpected results</a:t>
            </a:r>
          </a:p>
        </p:txBody>
      </p:sp>
      <p:sp>
        <p:nvSpPr>
          <p:cNvPr id="6" name="Rectangle 5"/>
          <p:cNvSpPr/>
          <p:nvPr/>
        </p:nvSpPr>
        <p:spPr>
          <a:xfrm>
            <a:off x="274320" y="1417320"/>
            <a:ext cx="11640312" cy="150876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874519"/>
            <a:ext cx="11640312"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72184"/>
            <a:ext cx="11247120" cy="384048"/>
          </a:xfrm>
          <a:prstGeom prst="rect">
            <a:avLst/>
          </a:prstGeom>
          <a:noFill/>
        </p:spPr>
        <p:txBody>
          <a:bodyPr wrap="square">
            <a:spAutoFit/>
          </a:bodyPr>
          <a:lstStyle/>
          <a:p>
            <a:pPr algn="l"/>
            <a:r>
              <a:rPr sz="1500" b="1" i="0">
                <a:solidFill>
                  <a:srgbClr val="00B4D8"/>
                </a:solidFill>
              </a:rPr>
              <a:t>Why OpenMP gives 3×, not 12×</a:t>
            </a:r>
          </a:p>
        </p:txBody>
      </p:sp>
      <p:sp>
        <p:nvSpPr>
          <p:cNvPr id="9" name="TextBox 8"/>
          <p:cNvSpPr txBox="1"/>
          <p:nvPr/>
        </p:nvSpPr>
        <p:spPr>
          <a:xfrm>
            <a:off x="457200" y="1929384"/>
            <a:ext cx="11247120" cy="914400"/>
          </a:xfrm>
          <a:prstGeom prst="rect">
            <a:avLst/>
          </a:prstGeom>
          <a:noFill/>
        </p:spPr>
        <p:txBody>
          <a:bodyPr wrap="square">
            <a:spAutoFit/>
          </a:bodyPr>
          <a:lstStyle/>
          <a:p>
            <a:pPr algn="l"/>
            <a:r>
              <a:rPr sz="1300" b="0" i="0">
                <a:solidFill>
                  <a:srgbClr val="FFFFFF"/>
                </a:solidFill>
              </a:rPr>
              <a:t>With 12 cores we'd expect 12× speedup. We only get 3×. Why?
The final merge step must be done in order — it can't be parallelised. That serial step acts as a bottleneck. Even with infinite cores, the theoretical maximum is only 1.43×. OpenMP parallelises everything else, giving us ~3× overall — a real-world win despite the limit.</a:t>
            </a:r>
          </a:p>
        </p:txBody>
      </p:sp>
      <p:sp>
        <p:nvSpPr>
          <p:cNvPr id="10" name="Rectangle 9"/>
          <p:cNvSpPr/>
          <p:nvPr/>
        </p:nvSpPr>
        <p:spPr>
          <a:xfrm>
            <a:off x="274320" y="3017520"/>
            <a:ext cx="11640312" cy="150876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3474720"/>
            <a:ext cx="11640312" cy="36576"/>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072384"/>
            <a:ext cx="11247120" cy="384048"/>
          </a:xfrm>
          <a:prstGeom prst="rect">
            <a:avLst/>
          </a:prstGeom>
          <a:noFill/>
        </p:spPr>
        <p:txBody>
          <a:bodyPr wrap="square">
            <a:spAutoFit/>
          </a:bodyPr>
          <a:lstStyle/>
          <a:p>
            <a:pPr algn="l"/>
            <a:r>
              <a:rPr sz="1500" b="1" i="0">
                <a:solidFill>
                  <a:srgbClr val="FFD166"/>
                </a:solidFill>
              </a:rPr>
              <a:t>Why branchless/prefetch improvements are small</a:t>
            </a:r>
          </a:p>
        </p:txBody>
      </p:sp>
      <p:sp>
        <p:nvSpPr>
          <p:cNvPr id="13" name="TextBox 12"/>
          <p:cNvSpPr txBox="1"/>
          <p:nvPr/>
        </p:nvSpPr>
        <p:spPr>
          <a:xfrm>
            <a:off x="457200" y="3529584"/>
            <a:ext cx="11247120" cy="914400"/>
          </a:xfrm>
          <a:prstGeom prst="rect">
            <a:avLst/>
          </a:prstGeom>
          <a:noFill/>
        </p:spPr>
        <p:txBody>
          <a:bodyPr wrap="square">
            <a:spAutoFit/>
          </a:bodyPr>
          <a:lstStyle/>
          <a:p>
            <a:pPr algn="l"/>
            <a:r>
              <a:rPr sz="1300" b="0" i="0">
                <a:solidFill>
                  <a:srgbClr val="FFFFFF"/>
                </a:solidFill>
              </a:rPr>
              <a:t>The CPU is already quite clever:
• The branch predictor learns the merge pattern and guesses correctly &gt;95% of the time
• The hardware prefetcher detects sequential memory access and loads data automatically
So our software improvements add only a small gain on top of what the hardware already does.</a:t>
            </a:r>
          </a:p>
        </p:txBody>
      </p:sp>
      <p:sp>
        <p:nvSpPr>
          <p:cNvPr id="14" name="Rectangle 13"/>
          <p:cNvSpPr/>
          <p:nvPr/>
        </p:nvSpPr>
        <p:spPr>
          <a:xfrm>
            <a:off x="274320" y="4617720"/>
            <a:ext cx="11640312" cy="150876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5074920"/>
            <a:ext cx="11640312" cy="36576"/>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672583"/>
            <a:ext cx="11247120" cy="384048"/>
          </a:xfrm>
          <a:prstGeom prst="rect">
            <a:avLst/>
          </a:prstGeom>
          <a:noFill/>
        </p:spPr>
        <p:txBody>
          <a:bodyPr wrap="square">
            <a:spAutoFit/>
          </a:bodyPr>
          <a:lstStyle/>
          <a:p>
            <a:pPr algn="l"/>
            <a:r>
              <a:rPr sz="1500" b="1" i="0">
                <a:solidFill>
                  <a:srgbClr val="FF6B6B"/>
                </a:solidFill>
              </a:rPr>
              <a:t>A bug we found and fixed</a:t>
            </a:r>
          </a:p>
        </p:txBody>
      </p:sp>
      <p:sp>
        <p:nvSpPr>
          <p:cNvPr id="17" name="TextBox 16"/>
          <p:cNvSpPr txBox="1"/>
          <p:nvPr/>
        </p:nvSpPr>
        <p:spPr>
          <a:xfrm>
            <a:off x="457200" y="5129783"/>
            <a:ext cx="11247120" cy="914400"/>
          </a:xfrm>
          <a:prstGeom prst="rect">
            <a:avLst/>
          </a:prstGeom>
          <a:noFill/>
        </p:spPr>
        <p:txBody>
          <a:bodyPr wrap="square">
            <a:spAutoFit/>
          </a:bodyPr>
          <a:lstStyle/>
          <a:p>
            <a:pPr algn="l"/>
            <a:r>
              <a:rPr sz="1300" b="0" i="0">
                <a:solidFill>
                  <a:srgbClr val="FFFFFF"/>
                </a:solidFill>
              </a:rPr>
              <a:t>Our first branchless implementation actually made things SLOWER.
It loaded data from both sides of the merge every step (2 reads), while the original only loaded from the winning side (1 read). Double the memory reads = more time spent waiting for data from RAM.
Fix: use pointer arithmetic to select the source without an extra load.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88952"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4008"/>
            <a:ext cx="11795760" cy="749808"/>
          </a:xfrm>
          <a:prstGeom prst="rect">
            <a:avLst/>
          </a:prstGeom>
          <a:noFill/>
        </p:spPr>
        <p:txBody>
          <a:bodyPr wrap="square">
            <a:spAutoFit/>
          </a:bodyPr>
          <a:lstStyle/>
          <a:p>
            <a:pPr algn="l"/>
            <a:r>
              <a:rPr sz="2700" b="1" i="0">
                <a:solidFill>
                  <a:srgbClr val="FFFFFF"/>
                </a:solidFill>
              </a:rPr>
              <a:t>  07   LLM Usage Disclosure &amp; Reflection</a:t>
            </a:r>
          </a:p>
        </p:txBody>
      </p:sp>
      <p:sp>
        <p:nvSpPr>
          <p:cNvPr id="5" name="Rectangle 4"/>
          <p:cNvSpPr/>
          <p:nvPr/>
        </p:nvSpPr>
        <p:spPr>
          <a:xfrm>
            <a:off x="914400" y="1371600"/>
            <a:ext cx="10360152" cy="4114800"/>
          </a:xfrm>
          <a:prstGeom prst="rect">
            <a:avLst/>
          </a:prstGeom>
          <a:solidFill>
            <a:srgbClr val="1A10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0" y="2011680"/>
            <a:ext cx="5788152" cy="640080"/>
          </a:xfrm>
          <a:prstGeom prst="rect">
            <a:avLst/>
          </a:prstGeom>
          <a:solidFill>
            <a:srgbClr val="3A1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0" y="2011680"/>
            <a:ext cx="5788152" cy="640080"/>
          </a:xfrm>
          <a:prstGeom prst="rect">
            <a:avLst/>
          </a:prstGeom>
          <a:noFill/>
        </p:spPr>
        <p:txBody>
          <a:bodyPr wrap="square">
            <a:spAutoFit/>
          </a:bodyPr>
          <a:lstStyle/>
          <a:p>
            <a:pPr algn="ctr"/>
            <a:r>
              <a:rPr sz="2600" b="1" i="0">
                <a:solidFill>
                  <a:srgbClr val="FFD166"/>
                </a:solidFill>
              </a:rPr>
              <a:t>⚠   SECTION PENDING</a:t>
            </a:r>
          </a:p>
        </p:txBody>
      </p:sp>
      <p:sp>
        <p:nvSpPr>
          <p:cNvPr id="8" name="TextBox 7"/>
          <p:cNvSpPr txBox="1"/>
          <p:nvPr/>
        </p:nvSpPr>
        <p:spPr>
          <a:xfrm>
            <a:off x="1371600" y="2834640"/>
            <a:ext cx="9445752" cy="2286000"/>
          </a:xfrm>
          <a:prstGeom prst="rect">
            <a:avLst/>
          </a:prstGeom>
          <a:noFill/>
        </p:spPr>
        <p:txBody>
          <a:bodyPr wrap="square">
            <a:spAutoFit/>
          </a:bodyPr>
          <a:lstStyle/>
          <a:p>
            <a:pPr algn="l"/>
            <a:r>
              <a:rPr sz="1500" b="0" i="0">
                <a:solidFill>
                  <a:srgbClr val="B0C4D8"/>
                </a:solidFill>
              </a:rPr>
              <a:t>This section will cover:
•  Where LLMs were used during the project (code generation, debugging, report writing)
•  Example prompts and what we asked the LLM to do
•  What worked well and what had to be corrected or verified
•  Lessons learned about AI-assisted development</a:t>
            </a:r>
          </a:p>
        </p:txBody>
      </p:sp>
      <p:sp>
        <p:nvSpPr>
          <p:cNvPr id="9" name="TextBox 8"/>
          <p:cNvSpPr txBox="1"/>
          <p:nvPr/>
        </p:nvSpPr>
        <p:spPr>
          <a:xfrm>
            <a:off x="914400" y="5623560"/>
            <a:ext cx="10360152" cy="457200"/>
          </a:xfrm>
          <a:prstGeom prst="rect">
            <a:avLst/>
          </a:prstGeom>
          <a:noFill/>
        </p:spPr>
        <p:txBody>
          <a:bodyPr wrap="square">
            <a:spAutoFit/>
          </a:bodyPr>
          <a:lstStyle/>
          <a:p>
            <a:pPr algn="ctr"/>
            <a:r>
              <a:rPr sz="1400" b="0" i="1">
                <a:solidFill>
                  <a:srgbClr val="FF6B6B"/>
                </a:solidFill>
              </a:rPr>
              <a:t>To be completed before final submission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88952"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4008"/>
            <a:ext cx="11795760" cy="749808"/>
          </a:xfrm>
          <a:prstGeom prst="rect">
            <a:avLst/>
          </a:prstGeom>
          <a:noFill/>
        </p:spPr>
        <p:txBody>
          <a:bodyPr wrap="square">
            <a:spAutoFit/>
          </a:bodyPr>
          <a:lstStyle/>
          <a:p>
            <a:pPr algn="l"/>
            <a:r>
              <a:rPr sz="2700" b="1" i="0">
                <a:solidFill>
                  <a:srgbClr val="FFFFFF"/>
                </a:solidFill>
              </a:rPr>
              <a:t>  08   Correctness, Risks &amp; Academic Integrity</a:t>
            </a:r>
          </a:p>
        </p:txBody>
      </p:sp>
      <p:sp>
        <p:nvSpPr>
          <p:cNvPr id="5" name="Rectangle 4"/>
          <p:cNvSpPr/>
          <p:nvPr/>
        </p:nvSpPr>
        <p:spPr>
          <a:xfrm>
            <a:off x="274320" y="1051560"/>
            <a:ext cx="3822191" cy="54406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508760"/>
            <a:ext cx="3822191"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79" y="1097280"/>
            <a:ext cx="3520440" cy="384048"/>
          </a:xfrm>
          <a:prstGeom prst="rect">
            <a:avLst/>
          </a:prstGeom>
          <a:noFill/>
        </p:spPr>
        <p:txBody>
          <a:bodyPr wrap="square">
            <a:spAutoFit/>
          </a:bodyPr>
          <a:lstStyle/>
          <a:p>
            <a:pPr algn="l"/>
            <a:r>
              <a:rPr sz="1500" b="1" i="0">
                <a:solidFill>
                  <a:srgbClr val="00B4D8"/>
                </a:solidFill>
              </a:rPr>
              <a:t>How We Verified Correctness</a:t>
            </a:r>
          </a:p>
        </p:txBody>
      </p:sp>
      <p:sp>
        <p:nvSpPr>
          <p:cNvPr id="8" name="TextBox 7"/>
          <p:cNvSpPr txBox="1"/>
          <p:nvPr/>
        </p:nvSpPr>
        <p:spPr>
          <a:xfrm>
            <a:off x="411479" y="1600200"/>
            <a:ext cx="3520440" cy="640080"/>
          </a:xfrm>
          <a:prstGeom prst="rect">
            <a:avLst/>
          </a:prstGeom>
          <a:noFill/>
        </p:spPr>
        <p:txBody>
          <a:bodyPr wrap="square">
            <a:spAutoFit/>
          </a:bodyPr>
          <a:lstStyle/>
          <a:p>
            <a:pPr algn="l"/>
            <a:r>
              <a:rPr sz="1300" b="0" i="0">
                <a:solidFill>
                  <a:srgbClr val="FFFFFF"/>
                </a:solidFill>
              </a:rPr>
              <a:t>• Every variant was tested against Python's sorted() equivalent (std::sort)</a:t>
            </a:r>
          </a:p>
        </p:txBody>
      </p:sp>
      <p:sp>
        <p:nvSpPr>
          <p:cNvPr id="9" name="TextBox 8"/>
          <p:cNvSpPr txBox="1"/>
          <p:nvPr/>
        </p:nvSpPr>
        <p:spPr>
          <a:xfrm>
            <a:off x="411479" y="2286000"/>
            <a:ext cx="3520440" cy="640080"/>
          </a:xfrm>
          <a:prstGeom prst="rect">
            <a:avLst/>
          </a:prstGeom>
          <a:noFill/>
        </p:spPr>
        <p:txBody>
          <a:bodyPr wrap="square">
            <a:spAutoFit/>
          </a:bodyPr>
          <a:lstStyle/>
          <a:p>
            <a:pPr algn="l"/>
            <a:r>
              <a:rPr sz="1300" b="0" i="0">
                <a:solidFill>
                  <a:srgbClr val="FFFFFF"/>
                </a:solidFill>
              </a:rPr>
              <a:t>• 35 tests across 5 array sizes and 7 implementations — all passed</a:t>
            </a:r>
          </a:p>
        </p:txBody>
      </p:sp>
      <p:sp>
        <p:nvSpPr>
          <p:cNvPr id="10" name="TextBox 9"/>
          <p:cNvSpPr txBox="1"/>
          <p:nvPr/>
        </p:nvSpPr>
        <p:spPr>
          <a:xfrm>
            <a:off x="411479" y="2971800"/>
            <a:ext cx="3520440" cy="640080"/>
          </a:xfrm>
          <a:prstGeom prst="rect">
            <a:avLst/>
          </a:prstGeom>
          <a:noFill/>
        </p:spPr>
        <p:txBody>
          <a:bodyPr wrap="square">
            <a:spAutoFit/>
          </a:bodyPr>
          <a:lstStyle/>
          <a:p>
            <a:pPr algn="l"/>
            <a:r>
              <a:rPr sz="1300" b="0" i="0">
                <a:solidFill>
                  <a:srgbClr val="FFFFFF"/>
                </a:solidFill>
              </a:rPr>
              <a:t>• Same random seed used for every run — results are reproducible</a:t>
            </a:r>
          </a:p>
        </p:txBody>
      </p:sp>
      <p:sp>
        <p:nvSpPr>
          <p:cNvPr id="11" name="TextBox 10"/>
          <p:cNvSpPr txBox="1"/>
          <p:nvPr/>
        </p:nvSpPr>
        <p:spPr>
          <a:xfrm>
            <a:off x="411479" y="3657600"/>
            <a:ext cx="3520440" cy="640080"/>
          </a:xfrm>
          <a:prstGeom prst="rect">
            <a:avLst/>
          </a:prstGeom>
          <a:noFill/>
        </p:spPr>
        <p:txBody>
          <a:bodyPr wrap="square">
            <a:spAutoFit/>
          </a:bodyPr>
          <a:lstStyle/>
          <a:p>
            <a:pPr algn="l"/>
            <a:r>
              <a:rPr sz="1300" b="0" i="0">
                <a:solidFill>
                  <a:srgbClr val="FFFFFF"/>
                </a:solidFill>
              </a:rPr>
              <a:t>• Bugs were caught early: wrong results stopped us before we even looked at speed</a:t>
            </a:r>
          </a:p>
        </p:txBody>
      </p:sp>
      <p:sp>
        <p:nvSpPr>
          <p:cNvPr id="12" name="Rectangle 11"/>
          <p:cNvSpPr/>
          <p:nvPr/>
        </p:nvSpPr>
        <p:spPr>
          <a:xfrm>
            <a:off x="4279392" y="1051560"/>
            <a:ext cx="3822191" cy="54406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79392" y="1508760"/>
            <a:ext cx="3822191" cy="36576"/>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6552" y="1097280"/>
            <a:ext cx="3520440" cy="384048"/>
          </a:xfrm>
          <a:prstGeom prst="rect">
            <a:avLst/>
          </a:prstGeom>
          <a:noFill/>
        </p:spPr>
        <p:txBody>
          <a:bodyPr wrap="square">
            <a:spAutoFit/>
          </a:bodyPr>
          <a:lstStyle/>
          <a:p>
            <a:pPr algn="l"/>
            <a:r>
              <a:rPr sz="1500" b="1" i="0">
                <a:solidFill>
                  <a:srgbClr val="FFD166"/>
                </a:solidFill>
              </a:rPr>
              <a:t>Risks of Relying Too Much on AI Tools</a:t>
            </a:r>
          </a:p>
        </p:txBody>
      </p:sp>
      <p:sp>
        <p:nvSpPr>
          <p:cNvPr id="15" name="TextBox 14"/>
          <p:cNvSpPr txBox="1"/>
          <p:nvPr/>
        </p:nvSpPr>
        <p:spPr>
          <a:xfrm>
            <a:off x="4416552" y="1600200"/>
            <a:ext cx="3520440" cy="640080"/>
          </a:xfrm>
          <a:prstGeom prst="rect">
            <a:avLst/>
          </a:prstGeom>
          <a:noFill/>
        </p:spPr>
        <p:txBody>
          <a:bodyPr wrap="square">
            <a:spAutoFit/>
          </a:bodyPr>
          <a:lstStyle/>
          <a:p>
            <a:pPr algn="l"/>
            <a:r>
              <a:rPr sz="1300" b="0" i="0">
                <a:solidFill>
                  <a:srgbClr val="FFFFFF"/>
                </a:solidFill>
              </a:rPr>
              <a:t>• AI-generated code can look correct but contain subtle performance bugs</a:t>
            </a:r>
          </a:p>
        </p:txBody>
      </p:sp>
      <p:sp>
        <p:nvSpPr>
          <p:cNvPr id="16" name="TextBox 15"/>
          <p:cNvSpPr txBox="1"/>
          <p:nvPr/>
        </p:nvSpPr>
        <p:spPr>
          <a:xfrm>
            <a:off x="4416552" y="2286000"/>
            <a:ext cx="3520440" cy="640080"/>
          </a:xfrm>
          <a:prstGeom prst="rect">
            <a:avLst/>
          </a:prstGeom>
          <a:noFill/>
        </p:spPr>
        <p:txBody>
          <a:bodyPr wrap="square">
            <a:spAutoFit/>
          </a:bodyPr>
          <a:lstStyle/>
          <a:p>
            <a:pPr algn="l"/>
            <a:r>
              <a:rPr sz="1300" b="0" i="0">
                <a:solidFill>
                  <a:srgbClr val="FFFFFF"/>
                </a:solidFill>
              </a:rPr>
              <a:t>• We found and fixed 3 bugs introduced by AI-suggested implementations</a:t>
            </a:r>
          </a:p>
        </p:txBody>
      </p:sp>
      <p:sp>
        <p:nvSpPr>
          <p:cNvPr id="17" name="TextBox 16"/>
          <p:cNvSpPr txBox="1"/>
          <p:nvPr/>
        </p:nvSpPr>
        <p:spPr>
          <a:xfrm>
            <a:off x="4416552" y="2971800"/>
            <a:ext cx="3520440" cy="640080"/>
          </a:xfrm>
          <a:prstGeom prst="rect">
            <a:avLst/>
          </a:prstGeom>
          <a:noFill/>
        </p:spPr>
        <p:txBody>
          <a:bodyPr wrap="square">
            <a:spAutoFit/>
          </a:bodyPr>
          <a:lstStyle/>
          <a:p>
            <a:pPr algn="l"/>
            <a:r>
              <a:rPr sz="1300" b="0" i="0">
                <a:solidFill>
                  <a:srgbClr val="FFFFFF"/>
                </a:solidFill>
              </a:rPr>
              <a:t>• Every speedup claim was verified by actually running and timing the code</a:t>
            </a:r>
          </a:p>
        </p:txBody>
      </p:sp>
      <p:sp>
        <p:nvSpPr>
          <p:cNvPr id="18" name="TextBox 17"/>
          <p:cNvSpPr txBox="1"/>
          <p:nvPr/>
        </p:nvSpPr>
        <p:spPr>
          <a:xfrm>
            <a:off x="4416552" y="3657600"/>
            <a:ext cx="3520440" cy="640080"/>
          </a:xfrm>
          <a:prstGeom prst="rect">
            <a:avLst/>
          </a:prstGeom>
          <a:noFill/>
        </p:spPr>
        <p:txBody>
          <a:bodyPr wrap="square">
            <a:spAutoFit/>
          </a:bodyPr>
          <a:lstStyle/>
          <a:p>
            <a:pPr algn="l"/>
            <a:r>
              <a:rPr sz="1300" b="0" i="0">
                <a:solidFill>
                  <a:srgbClr val="FFFFFF"/>
                </a:solidFill>
              </a:rPr>
              <a:t>• AI explanations of hardware behaviour needed cross-checking with Intel docs</a:t>
            </a:r>
          </a:p>
        </p:txBody>
      </p:sp>
      <p:sp>
        <p:nvSpPr>
          <p:cNvPr id="19" name="Rectangle 18"/>
          <p:cNvSpPr/>
          <p:nvPr/>
        </p:nvSpPr>
        <p:spPr>
          <a:xfrm>
            <a:off x="8284463" y="1051560"/>
            <a:ext cx="3822191" cy="54406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84463" y="1508760"/>
            <a:ext cx="3822191" cy="36576"/>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21624" y="1097280"/>
            <a:ext cx="3520440" cy="384048"/>
          </a:xfrm>
          <a:prstGeom prst="rect">
            <a:avLst/>
          </a:prstGeom>
          <a:noFill/>
        </p:spPr>
        <p:txBody>
          <a:bodyPr wrap="square">
            <a:spAutoFit/>
          </a:bodyPr>
          <a:lstStyle/>
          <a:p>
            <a:pPr algn="l"/>
            <a:r>
              <a:rPr sz="1500" b="1" i="0">
                <a:solidFill>
                  <a:srgbClr val="06D6A0"/>
                </a:solidFill>
              </a:rPr>
              <a:t>Academic Integrity</a:t>
            </a:r>
          </a:p>
        </p:txBody>
      </p:sp>
      <p:sp>
        <p:nvSpPr>
          <p:cNvPr id="22" name="TextBox 21"/>
          <p:cNvSpPr txBox="1"/>
          <p:nvPr/>
        </p:nvSpPr>
        <p:spPr>
          <a:xfrm>
            <a:off x="8421624" y="1600200"/>
            <a:ext cx="3520440" cy="640080"/>
          </a:xfrm>
          <a:prstGeom prst="rect">
            <a:avLst/>
          </a:prstGeom>
          <a:noFill/>
        </p:spPr>
        <p:txBody>
          <a:bodyPr wrap="square">
            <a:spAutoFit/>
          </a:bodyPr>
          <a:lstStyle/>
          <a:p>
            <a:pPr algn="l"/>
            <a:r>
              <a:rPr sz="1300" b="0" i="0">
                <a:solidFill>
                  <a:srgbClr val="FFFFFF"/>
                </a:solidFill>
              </a:rPr>
              <a:t>• Base library (simd_bitonic) is open-source — its use is clearly cited</a:t>
            </a:r>
          </a:p>
        </p:txBody>
      </p:sp>
      <p:sp>
        <p:nvSpPr>
          <p:cNvPr id="23" name="TextBox 22"/>
          <p:cNvSpPr txBox="1"/>
          <p:nvPr/>
        </p:nvSpPr>
        <p:spPr>
          <a:xfrm>
            <a:off x="8421624" y="2286000"/>
            <a:ext cx="3520440" cy="640080"/>
          </a:xfrm>
          <a:prstGeom prst="rect">
            <a:avLst/>
          </a:prstGeom>
          <a:noFill/>
        </p:spPr>
        <p:txBody>
          <a:bodyPr wrap="square">
            <a:spAutoFit/>
          </a:bodyPr>
          <a:lstStyle/>
          <a:p>
            <a:pPr algn="l"/>
            <a:r>
              <a:rPr sz="1300" b="0" i="0">
                <a:solidFill>
                  <a:srgbClr val="FFFFFF"/>
                </a:solidFill>
              </a:rPr>
              <a:t>• All benchmark results come from real runs on real hardware — nothing fabricated</a:t>
            </a:r>
          </a:p>
        </p:txBody>
      </p:sp>
      <p:sp>
        <p:nvSpPr>
          <p:cNvPr id="24" name="TextBox 23"/>
          <p:cNvSpPr txBox="1"/>
          <p:nvPr/>
        </p:nvSpPr>
        <p:spPr>
          <a:xfrm>
            <a:off x="8421624" y="2971800"/>
            <a:ext cx="3520440" cy="640080"/>
          </a:xfrm>
          <a:prstGeom prst="rect">
            <a:avLst/>
          </a:prstGeom>
          <a:noFill/>
        </p:spPr>
        <p:txBody>
          <a:bodyPr wrap="square">
            <a:spAutoFit/>
          </a:bodyPr>
          <a:lstStyle/>
          <a:p>
            <a:pPr algn="l"/>
            <a:r>
              <a:rPr sz="1300" b="0" i="0">
                <a:solidFill>
                  <a:srgbClr val="FFFFFF"/>
                </a:solidFill>
              </a:rPr>
              <a:t>• All optimisation ideas were understood and explained, not blindly copied</a:t>
            </a:r>
          </a:p>
        </p:txBody>
      </p:sp>
      <p:sp>
        <p:nvSpPr>
          <p:cNvPr id="25" name="TextBox 24"/>
          <p:cNvSpPr txBox="1"/>
          <p:nvPr/>
        </p:nvSpPr>
        <p:spPr>
          <a:xfrm>
            <a:off x="8421624" y="3657600"/>
            <a:ext cx="3520440" cy="640080"/>
          </a:xfrm>
          <a:prstGeom prst="rect">
            <a:avLst/>
          </a:prstGeom>
          <a:noFill/>
        </p:spPr>
        <p:txBody>
          <a:bodyPr wrap="square">
            <a:spAutoFit/>
          </a:bodyPr>
          <a:lstStyle/>
          <a:p>
            <a:pPr algn="l"/>
            <a:r>
              <a:rPr sz="1300" b="0" i="0">
                <a:solidFill>
                  <a:srgbClr val="FFFFFF"/>
                </a:solidFill>
              </a:rPr>
              <a:t>• LLM assistance is fully disclosed in Section 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88952"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4008"/>
            <a:ext cx="11795760" cy="749808"/>
          </a:xfrm>
          <a:prstGeom prst="rect">
            <a:avLst/>
          </a:prstGeom>
          <a:noFill/>
        </p:spPr>
        <p:txBody>
          <a:bodyPr wrap="square">
            <a:spAutoFit/>
          </a:bodyPr>
          <a:lstStyle/>
          <a:p>
            <a:pPr algn="l"/>
            <a:r>
              <a:rPr sz="2700" b="1" i="0">
                <a:solidFill>
                  <a:srgbClr val="FFFFFF"/>
                </a:solidFill>
              </a:rPr>
              <a:t>  09   Conclusions — What We Learned</a:t>
            </a:r>
          </a:p>
        </p:txBody>
      </p:sp>
      <p:sp>
        <p:nvSpPr>
          <p:cNvPr id="5" name="Rectangle 4"/>
          <p:cNvSpPr/>
          <p:nvPr/>
        </p:nvSpPr>
        <p:spPr>
          <a:xfrm>
            <a:off x="1097280" y="1005840"/>
            <a:ext cx="2468880" cy="146304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051560"/>
            <a:ext cx="2468880" cy="804672"/>
          </a:xfrm>
          <a:prstGeom prst="rect">
            <a:avLst/>
          </a:prstGeom>
          <a:noFill/>
        </p:spPr>
        <p:txBody>
          <a:bodyPr wrap="square">
            <a:spAutoFit/>
          </a:bodyPr>
          <a:lstStyle/>
          <a:p>
            <a:pPr algn="ctr"/>
            <a:r>
              <a:rPr sz="3600" b="1" i="0">
                <a:solidFill>
                  <a:srgbClr val="06D6A0"/>
                </a:solidFill>
              </a:rPr>
              <a:t>3×</a:t>
            </a:r>
          </a:p>
        </p:txBody>
      </p:sp>
      <p:sp>
        <p:nvSpPr>
          <p:cNvPr id="7" name="TextBox 6"/>
          <p:cNvSpPr txBox="1"/>
          <p:nvPr/>
        </p:nvSpPr>
        <p:spPr>
          <a:xfrm>
            <a:off x="1097280" y="1810512"/>
            <a:ext cx="2468880" cy="658368"/>
          </a:xfrm>
          <a:prstGeom prst="rect">
            <a:avLst/>
          </a:prstGeom>
          <a:noFill/>
        </p:spPr>
        <p:txBody>
          <a:bodyPr wrap="square">
            <a:spAutoFit/>
          </a:bodyPr>
          <a:lstStyle/>
          <a:p>
            <a:pPr algn="ctr"/>
            <a:r>
              <a:rPr sz="1300" b="0" i="0">
                <a:solidFill>
                  <a:srgbClr val="B0C4D8"/>
                </a:solidFill>
              </a:rPr>
              <a:t>faster than
baseline</a:t>
            </a:r>
          </a:p>
        </p:txBody>
      </p:sp>
      <p:sp>
        <p:nvSpPr>
          <p:cNvPr id="8" name="Rectangle 7"/>
          <p:cNvSpPr/>
          <p:nvPr/>
        </p:nvSpPr>
        <p:spPr>
          <a:xfrm>
            <a:off x="3840480" y="1005840"/>
            <a:ext cx="2468880" cy="146304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0" y="1051560"/>
            <a:ext cx="2468880" cy="804672"/>
          </a:xfrm>
          <a:prstGeom prst="rect">
            <a:avLst/>
          </a:prstGeom>
          <a:noFill/>
        </p:spPr>
        <p:txBody>
          <a:bodyPr wrap="square">
            <a:spAutoFit/>
          </a:bodyPr>
          <a:lstStyle/>
          <a:p>
            <a:pPr algn="ctr"/>
            <a:r>
              <a:rPr sz="3600" b="1" i="0">
                <a:solidFill>
                  <a:srgbClr val="00B4D8"/>
                </a:solidFill>
              </a:rPr>
              <a:t>12</a:t>
            </a:r>
          </a:p>
        </p:txBody>
      </p:sp>
      <p:sp>
        <p:nvSpPr>
          <p:cNvPr id="10" name="TextBox 9"/>
          <p:cNvSpPr txBox="1"/>
          <p:nvPr/>
        </p:nvSpPr>
        <p:spPr>
          <a:xfrm>
            <a:off x="3840480" y="1810512"/>
            <a:ext cx="2468880" cy="658368"/>
          </a:xfrm>
          <a:prstGeom prst="rect">
            <a:avLst/>
          </a:prstGeom>
          <a:noFill/>
        </p:spPr>
        <p:txBody>
          <a:bodyPr wrap="square">
            <a:spAutoFit/>
          </a:bodyPr>
          <a:lstStyle/>
          <a:p>
            <a:pPr algn="ctr"/>
            <a:r>
              <a:rPr sz="1300" b="0" i="0">
                <a:solidFill>
                  <a:srgbClr val="B0C4D8"/>
                </a:solidFill>
              </a:rPr>
              <a:t>CPU cores
fully used</a:t>
            </a:r>
          </a:p>
        </p:txBody>
      </p:sp>
      <p:sp>
        <p:nvSpPr>
          <p:cNvPr id="11" name="Rectangle 10"/>
          <p:cNvSpPr/>
          <p:nvPr/>
        </p:nvSpPr>
        <p:spPr>
          <a:xfrm>
            <a:off x="6583680" y="1005840"/>
            <a:ext cx="2468880" cy="146304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051560"/>
            <a:ext cx="2468880" cy="804672"/>
          </a:xfrm>
          <a:prstGeom prst="rect">
            <a:avLst/>
          </a:prstGeom>
          <a:noFill/>
        </p:spPr>
        <p:txBody>
          <a:bodyPr wrap="square">
            <a:spAutoFit/>
          </a:bodyPr>
          <a:lstStyle/>
          <a:p>
            <a:pPr algn="ctr"/>
            <a:r>
              <a:rPr sz="3600" b="1" i="0">
                <a:solidFill>
                  <a:srgbClr val="FFD166"/>
                </a:solidFill>
              </a:rPr>
              <a:t>5</a:t>
            </a:r>
          </a:p>
        </p:txBody>
      </p:sp>
      <p:sp>
        <p:nvSpPr>
          <p:cNvPr id="13" name="TextBox 12"/>
          <p:cNvSpPr txBox="1"/>
          <p:nvPr/>
        </p:nvSpPr>
        <p:spPr>
          <a:xfrm>
            <a:off x="6583680" y="1810512"/>
            <a:ext cx="2468880" cy="658368"/>
          </a:xfrm>
          <a:prstGeom prst="rect">
            <a:avLst/>
          </a:prstGeom>
          <a:noFill/>
        </p:spPr>
        <p:txBody>
          <a:bodyPr wrap="square">
            <a:spAutoFit/>
          </a:bodyPr>
          <a:lstStyle/>
          <a:p>
            <a:pPr algn="ctr"/>
            <a:r>
              <a:rPr sz="1300" b="0" i="0">
                <a:solidFill>
                  <a:srgbClr val="B0C4D8"/>
                </a:solidFill>
              </a:rPr>
              <a:t>improvements
implemented</a:t>
            </a:r>
          </a:p>
        </p:txBody>
      </p:sp>
      <p:sp>
        <p:nvSpPr>
          <p:cNvPr id="14" name="Rectangle 13"/>
          <p:cNvSpPr/>
          <p:nvPr/>
        </p:nvSpPr>
        <p:spPr>
          <a:xfrm>
            <a:off x="9326880" y="1005840"/>
            <a:ext cx="2468880" cy="146304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0" y="1051560"/>
            <a:ext cx="2468880" cy="804672"/>
          </a:xfrm>
          <a:prstGeom prst="rect">
            <a:avLst/>
          </a:prstGeom>
          <a:noFill/>
        </p:spPr>
        <p:txBody>
          <a:bodyPr wrap="square">
            <a:spAutoFit/>
          </a:bodyPr>
          <a:lstStyle/>
          <a:p>
            <a:pPr algn="ctr"/>
            <a:r>
              <a:rPr sz="3600" b="1" i="0">
                <a:solidFill>
                  <a:srgbClr val="48CAE4"/>
                </a:solidFill>
              </a:rPr>
              <a:t>35/35</a:t>
            </a:r>
          </a:p>
        </p:txBody>
      </p:sp>
      <p:sp>
        <p:nvSpPr>
          <p:cNvPr id="16" name="TextBox 15"/>
          <p:cNvSpPr txBox="1"/>
          <p:nvPr/>
        </p:nvSpPr>
        <p:spPr>
          <a:xfrm>
            <a:off x="9326880" y="1810512"/>
            <a:ext cx="2468880" cy="658368"/>
          </a:xfrm>
          <a:prstGeom prst="rect">
            <a:avLst/>
          </a:prstGeom>
          <a:noFill/>
        </p:spPr>
        <p:txBody>
          <a:bodyPr wrap="square">
            <a:spAutoFit/>
          </a:bodyPr>
          <a:lstStyle/>
          <a:p>
            <a:pPr algn="ctr"/>
            <a:r>
              <a:rPr sz="1300" b="0" i="0">
                <a:solidFill>
                  <a:srgbClr val="B0C4D8"/>
                </a:solidFill>
              </a:rPr>
              <a:t>correctness
tests passed</a:t>
            </a:r>
          </a:p>
        </p:txBody>
      </p:sp>
      <p:sp>
        <p:nvSpPr>
          <p:cNvPr id="17" name="Rectangle 16"/>
          <p:cNvSpPr/>
          <p:nvPr/>
        </p:nvSpPr>
        <p:spPr>
          <a:xfrm>
            <a:off x="274320" y="2651760"/>
            <a:ext cx="11640312" cy="388620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2697480"/>
            <a:ext cx="11247120" cy="384048"/>
          </a:xfrm>
          <a:prstGeom prst="rect">
            <a:avLst/>
          </a:prstGeom>
          <a:noFill/>
        </p:spPr>
        <p:txBody>
          <a:bodyPr wrap="square">
            <a:spAutoFit/>
          </a:bodyPr>
          <a:lstStyle/>
          <a:p>
            <a:pPr algn="l"/>
            <a:r>
              <a:rPr sz="1700" b="1" i="0">
                <a:solidFill>
                  <a:srgbClr val="00B4D8"/>
                </a:solidFill>
              </a:rPr>
              <a:t>Key Takeaways</a:t>
            </a:r>
          </a:p>
        </p:txBody>
      </p:sp>
      <p:sp>
        <p:nvSpPr>
          <p:cNvPr id="19" name="Rectangle 18"/>
          <p:cNvSpPr/>
          <p:nvPr/>
        </p:nvSpPr>
        <p:spPr>
          <a:xfrm>
            <a:off x="457200" y="3127248"/>
            <a:ext cx="111556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200400"/>
            <a:ext cx="2560320" cy="384048"/>
          </a:xfrm>
          <a:prstGeom prst="rect">
            <a:avLst/>
          </a:prstGeom>
          <a:noFill/>
        </p:spPr>
        <p:txBody>
          <a:bodyPr wrap="square">
            <a:spAutoFit/>
          </a:bodyPr>
          <a:lstStyle/>
          <a:p>
            <a:pPr algn="l"/>
            <a:r>
              <a:rPr sz="1300" b="1" i="0">
                <a:solidFill>
                  <a:srgbClr val="FFD166"/>
                </a:solidFill>
              </a:rPr>
              <a:t>▸  Multi-threading is the biggest win</a:t>
            </a:r>
          </a:p>
        </p:txBody>
      </p:sp>
      <p:sp>
        <p:nvSpPr>
          <p:cNvPr id="21" name="TextBox 20"/>
          <p:cNvSpPr txBox="1"/>
          <p:nvPr/>
        </p:nvSpPr>
        <p:spPr>
          <a:xfrm>
            <a:off x="3017520" y="3200400"/>
            <a:ext cx="8686800" cy="384048"/>
          </a:xfrm>
          <a:prstGeom prst="rect">
            <a:avLst/>
          </a:prstGeom>
          <a:noFill/>
        </p:spPr>
        <p:txBody>
          <a:bodyPr wrap="square">
            <a:spAutoFit/>
          </a:bodyPr>
          <a:lstStyle/>
          <a:p>
            <a:pPr algn="l"/>
            <a:r>
              <a:rPr sz="1300" b="0" i="0">
                <a:solidFill>
                  <a:srgbClr val="FFFFFF"/>
                </a:solidFill>
              </a:rPr>
              <a:t>Using all 12 cores with OpenMP gave a 3× speedup — far more than any single-core improvement.</a:t>
            </a:r>
          </a:p>
        </p:txBody>
      </p:sp>
      <p:sp>
        <p:nvSpPr>
          <p:cNvPr id="22" name="TextBox 21"/>
          <p:cNvSpPr txBox="1"/>
          <p:nvPr/>
        </p:nvSpPr>
        <p:spPr>
          <a:xfrm>
            <a:off x="457200" y="3675887"/>
            <a:ext cx="2560320" cy="384048"/>
          </a:xfrm>
          <a:prstGeom prst="rect">
            <a:avLst/>
          </a:prstGeom>
          <a:noFill/>
        </p:spPr>
        <p:txBody>
          <a:bodyPr wrap="square">
            <a:spAutoFit/>
          </a:bodyPr>
          <a:lstStyle/>
          <a:p>
            <a:pPr algn="l"/>
            <a:r>
              <a:rPr sz="1300" b="1" i="0">
                <a:solidFill>
                  <a:srgbClr val="FFD166"/>
                </a:solidFill>
              </a:rPr>
              <a:t>▸  Hardware limits set a ceiling</a:t>
            </a:r>
          </a:p>
        </p:txBody>
      </p:sp>
      <p:sp>
        <p:nvSpPr>
          <p:cNvPr id="23" name="TextBox 22"/>
          <p:cNvSpPr txBox="1"/>
          <p:nvPr/>
        </p:nvSpPr>
        <p:spPr>
          <a:xfrm>
            <a:off x="3017520" y="3675887"/>
            <a:ext cx="8686800" cy="384048"/>
          </a:xfrm>
          <a:prstGeom prst="rect">
            <a:avLst/>
          </a:prstGeom>
          <a:noFill/>
        </p:spPr>
        <p:txBody>
          <a:bodyPr wrap="square">
            <a:spAutoFit/>
          </a:bodyPr>
          <a:lstStyle/>
          <a:p>
            <a:pPr algn="l"/>
            <a:r>
              <a:rPr sz="1300" b="0" i="0">
                <a:solidFill>
                  <a:srgbClr val="FFFFFF"/>
                </a:solidFill>
              </a:rPr>
              <a:t>The serial merge step means we can never exceed ~1.43× from parallelism alone. We achieved 3× by parallelising other parts too.</a:t>
            </a:r>
          </a:p>
        </p:txBody>
      </p:sp>
      <p:sp>
        <p:nvSpPr>
          <p:cNvPr id="24" name="TextBox 23"/>
          <p:cNvSpPr txBox="1"/>
          <p:nvPr/>
        </p:nvSpPr>
        <p:spPr>
          <a:xfrm>
            <a:off x="457200" y="4151375"/>
            <a:ext cx="2560320" cy="384048"/>
          </a:xfrm>
          <a:prstGeom prst="rect">
            <a:avLst/>
          </a:prstGeom>
          <a:noFill/>
        </p:spPr>
        <p:txBody>
          <a:bodyPr wrap="square">
            <a:spAutoFit/>
          </a:bodyPr>
          <a:lstStyle/>
          <a:p>
            <a:pPr algn="l"/>
            <a:r>
              <a:rPr sz="1300" b="1" i="0">
                <a:solidFill>
                  <a:srgbClr val="FFD166"/>
                </a:solidFill>
              </a:rPr>
              <a:t>▸  Eliminating overhead matters</a:t>
            </a:r>
          </a:p>
        </p:txBody>
      </p:sp>
      <p:sp>
        <p:nvSpPr>
          <p:cNvPr id="25" name="TextBox 24"/>
          <p:cNvSpPr txBox="1"/>
          <p:nvPr/>
        </p:nvSpPr>
        <p:spPr>
          <a:xfrm>
            <a:off x="3017520" y="4151375"/>
            <a:ext cx="8686800" cy="384048"/>
          </a:xfrm>
          <a:prstGeom prst="rect">
            <a:avLst/>
          </a:prstGeom>
          <a:noFill/>
        </p:spPr>
        <p:txBody>
          <a:bodyPr wrap="square">
            <a:spAutoFit/>
          </a:bodyPr>
          <a:lstStyle/>
          <a:p>
            <a:pPr algn="l"/>
            <a:r>
              <a:rPr sz="1300" b="0" i="0">
                <a:solidFill>
                  <a:srgbClr val="FFFFFF"/>
                </a:solidFill>
              </a:rPr>
              <a:t>Removing repeated memory allocation (malloc/free) gave 7–19% gains with almost no code change.</a:t>
            </a:r>
          </a:p>
        </p:txBody>
      </p:sp>
      <p:sp>
        <p:nvSpPr>
          <p:cNvPr id="26" name="TextBox 25"/>
          <p:cNvSpPr txBox="1"/>
          <p:nvPr/>
        </p:nvSpPr>
        <p:spPr>
          <a:xfrm>
            <a:off x="457200" y="4626863"/>
            <a:ext cx="2560320" cy="384048"/>
          </a:xfrm>
          <a:prstGeom prst="rect">
            <a:avLst/>
          </a:prstGeom>
          <a:noFill/>
        </p:spPr>
        <p:txBody>
          <a:bodyPr wrap="square">
            <a:spAutoFit/>
          </a:bodyPr>
          <a:lstStyle/>
          <a:p>
            <a:pPr algn="l"/>
            <a:r>
              <a:rPr sz="1300" b="1" i="0">
                <a:solidFill>
                  <a:srgbClr val="FFD166"/>
                </a:solidFill>
              </a:rPr>
              <a:t>▸  Bigger is not always better</a:t>
            </a:r>
          </a:p>
        </p:txBody>
      </p:sp>
      <p:sp>
        <p:nvSpPr>
          <p:cNvPr id="27" name="TextBox 26"/>
          <p:cNvSpPr txBox="1"/>
          <p:nvPr/>
        </p:nvSpPr>
        <p:spPr>
          <a:xfrm>
            <a:off x="3017520" y="4626863"/>
            <a:ext cx="8686800" cy="384048"/>
          </a:xfrm>
          <a:prstGeom prst="rect">
            <a:avLst/>
          </a:prstGeom>
          <a:noFill/>
        </p:spPr>
        <p:txBody>
          <a:bodyPr wrap="square">
            <a:spAutoFit/>
          </a:bodyPr>
          <a:lstStyle/>
          <a:p>
            <a:pPr algn="l"/>
            <a:r>
              <a:rPr sz="1300" b="0" i="0">
                <a:solidFill>
                  <a:srgbClr val="FFFFFF"/>
                </a:solidFill>
              </a:rPr>
              <a:t>Our first branchless attempt was slower — two memory reads per step costs more than one misprediction.</a:t>
            </a:r>
          </a:p>
        </p:txBody>
      </p:sp>
      <p:sp>
        <p:nvSpPr>
          <p:cNvPr id="28" name="TextBox 27"/>
          <p:cNvSpPr txBox="1"/>
          <p:nvPr/>
        </p:nvSpPr>
        <p:spPr>
          <a:xfrm>
            <a:off x="457200" y="5102351"/>
            <a:ext cx="2560320" cy="384048"/>
          </a:xfrm>
          <a:prstGeom prst="rect">
            <a:avLst/>
          </a:prstGeom>
          <a:noFill/>
        </p:spPr>
        <p:txBody>
          <a:bodyPr wrap="square">
            <a:spAutoFit/>
          </a:bodyPr>
          <a:lstStyle/>
          <a:p>
            <a:pPr algn="l"/>
            <a:r>
              <a:rPr sz="1300" b="1" i="0">
                <a:solidFill>
                  <a:srgbClr val="FFD166"/>
                </a:solidFill>
              </a:rPr>
              <a:t>▸  Measure everything</a:t>
            </a:r>
          </a:p>
        </p:txBody>
      </p:sp>
      <p:sp>
        <p:nvSpPr>
          <p:cNvPr id="29" name="TextBox 28"/>
          <p:cNvSpPr txBox="1"/>
          <p:nvPr/>
        </p:nvSpPr>
        <p:spPr>
          <a:xfrm>
            <a:off x="3017520" y="5102351"/>
            <a:ext cx="8686800" cy="384048"/>
          </a:xfrm>
          <a:prstGeom prst="rect">
            <a:avLst/>
          </a:prstGeom>
          <a:noFill/>
        </p:spPr>
        <p:txBody>
          <a:bodyPr wrap="square">
            <a:spAutoFit/>
          </a:bodyPr>
          <a:lstStyle/>
          <a:p>
            <a:pPr algn="l"/>
            <a:r>
              <a:rPr sz="1300" b="0" i="0">
                <a:solidFill>
                  <a:srgbClr val="FFFFFF"/>
                </a:solidFill>
              </a:rPr>
              <a:t>Theoretical improvements don't always show up in practice. Every change was verified with 100-run timed benchmarks.</a:t>
            </a:r>
          </a:p>
        </p:txBody>
      </p:sp>
      <p:sp>
        <p:nvSpPr>
          <p:cNvPr id="30" name="TextBox 29"/>
          <p:cNvSpPr txBox="1"/>
          <p:nvPr/>
        </p:nvSpPr>
        <p:spPr>
          <a:xfrm>
            <a:off x="274320" y="6492240"/>
            <a:ext cx="11640312" cy="274320"/>
          </a:xfrm>
          <a:prstGeom prst="rect">
            <a:avLst/>
          </a:prstGeom>
          <a:noFill/>
        </p:spPr>
        <p:txBody>
          <a:bodyPr wrap="square">
            <a:spAutoFit/>
          </a:bodyPr>
          <a:lstStyle/>
          <a:p>
            <a:pPr algn="ctr"/>
            <a:r>
              <a:rPr sz="1200" b="0" i="1">
                <a:solidFill>
                  <a:srgbClr val="B0C4D8"/>
                </a:solidFill>
              </a:rPr>
              <a:t>Further speedup would require parallelising the merge step itself — a well-known open research problem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8686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88952"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4008"/>
            <a:ext cx="11795760" cy="749808"/>
          </a:xfrm>
          <a:prstGeom prst="rect">
            <a:avLst/>
          </a:prstGeom>
          <a:noFill/>
        </p:spPr>
        <p:txBody>
          <a:bodyPr wrap="square">
            <a:spAutoFit/>
          </a:bodyPr>
          <a:lstStyle/>
          <a:p>
            <a:pPr algn="l"/>
            <a:r>
              <a:rPr sz="2700" b="1" i="0">
                <a:solidFill>
                  <a:srgbClr val="FFFFFF"/>
                </a:solidFill>
              </a:rPr>
              <a:t>  10   References</a:t>
            </a:r>
          </a:p>
        </p:txBody>
      </p:sp>
      <p:sp>
        <p:nvSpPr>
          <p:cNvPr id="5" name="Rectangle 4"/>
          <p:cNvSpPr/>
          <p:nvPr/>
        </p:nvSpPr>
        <p:spPr>
          <a:xfrm>
            <a:off x="274320" y="1051560"/>
            <a:ext cx="11640312" cy="5440680"/>
          </a:xfrm>
          <a:prstGeom prst="rect">
            <a:avLst/>
          </a:prstGeom>
          <a:solidFill>
            <a:srgbClr val="023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88720"/>
            <a:ext cx="11247120" cy="548640"/>
          </a:xfrm>
          <a:prstGeom prst="rect">
            <a:avLst/>
          </a:prstGeom>
          <a:noFill/>
        </p:spPr>
        <p:txBody>
          <a:bodyPr wrap="square">
            <a:spAutoFit/>
          </a:bodyPr>
          <a:lstStyle/>
          <a:p>
            <a:pPr algn="l"/>
            <a:r>
              <a:rPr sz="1400" b="0" i="0">
                <a:solidFill>
                  <a:srgbClr val="B0C4D8"/>
                </a:solidFill>
              </a:rPr>
              <a:t>[1]  simd_bitonic — Base open-source SIMD sort library. github.com/nlguillemot/simd_bitonic</a:t>
            </a:r>
          </a:p>
        </p:txBody>
      </p:sp>
      <p:sp>
        <p:nvSpPr>
          <p:cNvPr id="7" name="TextBox 6"/>
          <p:cNvSpPr txBox="1"/>
          <p:nvPr/>
        </p:nvSpPr>
        <p:spPr>
          <a:xfrm>
            <a:off x="457200" y="1847088"/>
            <a:ext cx="11247120" cy="548640"/>
          </a:xfrm>
          <a:prstGeom prst="rect">
            <a:avLst/>
          </a:prstGeom>
          <a:noFill/>
        </p:spPr>
        <p:txBody>
          <a:bodyPr wrap="square">
            <a:spAutoFit/>
          </a:bodyPr>
          <a:lstStyle/>
          <a:p>
            <a:pPr algn="l"/>
            <a:r>
              <a:rPr sz="1400" b="0" i="0">
                <a:solidFill>
                  <a:srgbClr val="B0C4D8"/>
                </a:solidFill>
              </a:rPr>
              <a:t>[2]  Batcher, K. E. (1968). Sorting networks and their applications. AFIPS Spring Joint Computer Conference.</a:t>
            </a:r>
          </a:p>
        </p:txBody>
      </p:sp>
      <p:sp>
        <p:nvSpPr>
          <p:cNvPr id="8" name="TextBox 7"/>
          <p:cNvSpPr txBox="1"/>
          <p:nvPr/>
        </p:nvSpPr>
        <p:spPr>
          <a:xfrm>
            <a:off x="457200" y="2505456"/>
            <a:ext cx="11247120" cy="548640"/>
          </a:xfrm>
          <a:prstGeom prst="rect">
            <a:avLst/>
          </a:prstGeom>
          <a:noFill/>
        </p:spPr>
        <p:txBody>
          <a:bodyPr wrap="square">
            <a:spAutoFit/>
          </a:bodyPr>
          <a:lstStyle/>
          <a:p>
            <a:pPr algn="l"/>
            <a:r>
              <a:rPr sz="1400" b="0" i="0">
                <a:solidFill>
                  <a:srgbClr val="B0C4D8"/>
                </a:solidFill>
              </a:rPr>
              <a:t>[3]  Intel® 64 and IA-32 Architectures Software Developer's Manual — AVX2 intrinsics reference.</a:t>
            </a:r>
          </a:p>
        </p:txBody>
      </p:sp>
      <p:sp>
        <p:nvSpPr>
          <p:cNvPr id="9" name="TextBox 8"/>
          <p:cNvSpPr txBox="1"/>
          <p:nvPr/>
        </p:nvSpPr>
        <p:spPr>
          <a:xfrm>
            <a:off x="457200" y="3163824"/>
            <a:ext cx="11247120" cy="548640"/>
          </a:xfrm>
          <a:prstGeom prst="rect">
            <a:avLst/>
          </a:prstGeom>
          <a:noFill/>
        </p:spPr>
        <p:txBody>
          <a:bodyPr wrap="square">
            <a:spAutoFit/>
          </a:bodyPr>
          <a:lstStyle/>
          <a:p>
            <a:pPr algn="l"/>
            <a:r>
              <a:rPr sz="1400" b="0" i="0">
                <a:solidFill>
                  <a:srgbClr val="B0C4D8"/>
                </a:solidFill>
              </a:rPr>
              <a:t>[4]  OpenMP Architecture Review Board. OpenMP Application Programming Interface, Version 4.5.</a:t>
            </a:r>
          </a:p>
        </p:txBody>
      </p:sp>
      <p:sp>
        <p:nvSpPr>
          <p:cNvPr id="10" name="TextBox 9"/>
          <p:cNvSpPr txBox="1"/>
          <p:nvPr/>
        </p:nvSpPr>
        <p:spPr>
          <a:xfrm>
            <a:off x="457200" y="3822191"/>
            <a:ext cx="11247120" cy="548640"/>
          </a:xfrm>
          <a:prstGeom prst="rect">
            <a:avLst/>
          </a:prstGeom>
          <a:noFill/>
        </p:spPr>
        <p:txBody>
          <a:bodyPr wrap="square">
            <a:spAutoFit/>
          </a:bodyPr>
          <a:lstStyle/>
          <a:p>
            <a:pPr algn="l"/>
            <a:r>
              <a:rPr sz="1400" b="0" i="0">
                <a:solidFill>
                  <a:srgbClr val="B0C4D8"/>
                </a:solidFill>
              </a:rPr>
              <a:t>[5]  Amdahl, G. M. (1967). Validity of the single-processor approach. AFIPS Spring Joint Computer Conference.</a:t>
            </a:r>
          </a:p>
        </p:txBody>
      </p:sp>
      <p:sp>
        <p:nvSpPr>
          <p:cNvPr id="11" name="TextBox 10"/>
          <p:cNvSpPr txBox="1"/>
          <p:nvPr/>
        </p:nvSpPr>
        <p:spPr>
          <a:xfrm>
            <a:off x="457200" y="4480559"/>
            <a:ext cx="11247120" cy="548640"/>
          </a:xfrm>
          <a:prstGeom prst="rect">
            <a:avLst/>
          </a:prstGeom>
          <a:noFill/>
        </p:spPr>
        <p:txBody>
          <a:bodyPr wrap="square">
            <a:spAutoFit/>
          </a:bodyPr>
          <a:lstStyle/>
          <a:p>
            <a:pPr algn="l"/>
            <a:r>
              <a:rPr sz="1400" b="0" i="0">
                <a:solidFill>
                  <a:srgbClr val="B0C4D8"/>
                </a:solidFill>
              </a:rPr>
              <a:t>[6]  Fog, A. (2023). Optimizing Software in C++ — Branch prediction, prefetch, cache hierarchy.</a:t>
            </a:r>
          </a:p>
        </p:txBody>
      </p:sp>
      <p:sp>
        <p:nvSpPr>
          <p:cNvPr id="12" name="TextBox 11"/>
          <p:cNvSpPr txBox="1"/>
          <p:nvPr/>
        </p:nvSpPr>
        <p:spPr>
          <a:xfrm>
            <a:off x="457200" y="5138927"/>
            <a:ext cx="11247120" cy="548640"/>
          </a:xfrm>
          <a:prstGeom prst="rect">
            <a:avLst/>
          </a:prstGeom>
          <a:noFill/>
        </p:spPr>
        <p:txBody>
          <a:bodyPr wrap="square">
            <a:spAutoFit/>
          </a:bodyPr>
          <a:lstStyle/>
          <a:p>
            <a:pPr algn="l"/>
            <a:r>
              <a:rPr sz="1400" b="0" i="0">
                <a:solidFill>
                  <a:srgbClr val="B0C4D8"/>
                </a:solidFill>
              </a:rPr>
              <a:t>[7]  sokol_time.h — Cross-platform high-resolution timer. André Weissflog. MIT License.</a:t>
            </a:r>
          </a:p>
        </p:txBody>
      </p:sp>
      <p:sp>
        <p:nvSpPr>
          <p:cNvPr id="13" name="TextBox 12"/>
          <p:cNvSpPr txBox="1"/>
          <p:nvPr/>
        </p:nvSpPr>
        <p:spPr>
          <a:xfrm>
            <a:off x="457200" y="6035040"/>
            <a:ext cx="11247120" cy="384048"/>
          </a:xfrm>
          <a:prstGeom prst="rect">
            <a:avLst/>
          </a:prstGeom>
          <a:noFill/>
        </p:spPr>
        <p:txBody>
          <a:bodyPr wrap="square">
            <a:spAutoFit/>
          </a:bodyPr>
          <a:lstStyle/>
          <a:p>
            <a:pPr algn="ctr"/>
            <a:r>
              <a:rPr sz="1300" b="0" i="1">
                <a:solidFill>
                  <a:srgbClr val="48CAE4"/>
                </a:solidFill>
              </a:rPr>
              <a:t>All results reproducible: fixed random seed · 100 timing runs per measurement · tested on Intel Core i7-12th Gen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