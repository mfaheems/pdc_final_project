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8CAE4"/>
                </a:solidFill>
              </a:rPr>
              <a:t>Parallel &amp; Distributed Computing —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SIMD Bitonic Sort
AVX2 + OpenMP Acceleration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383280"/>
            <a:ext cx="85313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8CAE4"/>
                </a:solidFill>
              </a:rPr>
              <a:t>Branchless Merge · Prefetch · Dynamic Tile · AVX-512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Hardware: Intel Core i7-12th Gen · 6 cores / 12 threads · AVX2 · 48 KB L1 · 1.25 MB 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Tool-chain: GCC 15 · -O3 -mavx2 -fopenmp · C++11 · Windows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Brief Recap of the Base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9496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Base Library: simd_bitonic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•  Open-source SIMD bitonic sort targeting AVX2 (x86) and ARM NEON</a:t>
            </a:r>
          </a:p>
          <a:p>
            <a:r>
              <a:rPr sz="1500">
                <a:solidFill>
                  <a:srgbClr val="FFFFFF"/>
                </a:solidFill>
              </a:rPr>
              <a:t>•  simd_small_sort: branchless sorting network for ≤ 192 floats using 24 × __m256 registers (8 floats each)</a:t>
            </a:r>
          </a:p>
          <a:p>
            <a:r>
              <a:rPr sz="1500">
                <a:solidFill>
                  <a:srgbClr val="FFFFFF"/>
                </a:solidFill>
              </a:rPr>
              <a:t>•  simd_merge_sort: recursive tile merge sort — tiles sorted by network, then merged upward</a:t>
            </a:r>
          </a:p>
          <a:p>
            <a:r>
              <a:rPr sz="1500">
                <a:solidFill>
                  <a:srgbClr val="FFFFFF"/>
                </a:solidFill>
              </a:rPr>
              <a:t>•  Comparison kernel uses _mm256_min_ps / _mm256_max_ps — no data-dependent branches</a:t>
            </a:r>
          </a:p>
          <a:p>
            <a:r>
              <a:rPr sz="1500">
                <a:solidFill>
                  <a:srgbClr val="FFFFFF"/>
                </a:solidFill>
              </a:rPr>
              <a:t>•  Baseline peak speedup vs std::sort: 9× at n=81 (fits in L1), ~3–4× at n=500K+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097280"/>
            <a:ext cx="580644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430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Performance Gaps Identified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1005840" cy="384048"/>
          </a:xfrm>
          <a:prstGeom prst="rect">
            <a:avLst/>
          </a:prstGeom>
          <a:solidFill>
            <a:srgbClr val="02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459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Gap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multi-threading — single-threaded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148840"/>
            <a:ext cx="1005840" cy="384048"/>
          </a:xfrm>
          <a:prstGeom prst="rect">
            <a:avLst/>
          </a:prstGeom>
          <a:solidFill>
            <a:srgbClr val="02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1488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Gap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1488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Branch misprediction in merge hot-loop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651760"/>
            <a:ext cx="1005840" cy="384048"/>
          </a:xfrm>
          <a:prstGeom prst="rect">
            <a:avLst/>
          </a:prstGeom>
          <a:solidFill>
            <a:srgbClr val="02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6517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Gap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6517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 prefetch hints for large merges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154680"/>
            <a:ext cx="1005840" cy="384048"/>
          </a:xfrm>
          <a:prstGeom prst="rect">
            <a:avLst/>
          </a:prstGeom>
          <a:solidFill>
            <a:srgbClr val="02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1546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Gap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1546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AVX-512 unused (hardware-dependent)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657600"/>
            <a:ext cx="1005840" cy="384048"/>
          </a:xfrm>
          <a:prstGeom prst="rect">
            <a:avLst/>
          </a:prstGeom>
          <a:solidFill>
            <a:srgbClr val="02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6576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Gap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65760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Hardcoded tile ignores actual L1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29768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Central question: How much faster can we sort 2 M floats
by fully exploiting a 6-core AVX2 processor?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Project Scope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9476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794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 Gap 1: OpenMP task-based parallelism</a:t>
            </a:r>
          </a:p>
          <a:p>
            <a:r>
              <a:rPr sz="1300">
                <a:solidFill>
                  <a:srgbClr val="FFFFFF"/>
                </a:solidFill>
              </a:rPr>
              <a:t>•  Gap 2: Branchless merge (cmov pointer select)</a:t>
            </a:r>
          </a:p>
          <a:p>
            <a:r>
              <a:rPr sz="1300">
                <a:solidFill>
                  <a:srgbClr val="FFFFFF"/>
                </a:solidFill>
              </a:rPr>
              <a:t>•  Gap 3: Software prefetch hints</a:t>
            </a:r>
          </a:p>
          <a:p>
            <a:r>
              <a:rPr sz="1300">
                <a:solidFill>
                  <a:srgbClr val="FFFFFF"/>
                </a:solidFill>
              </a:rPr>
              <a:t>•  Gap 5: L1-aware dynamic tile sizing + pooled merge</a:t>
            </a:r>
          </a:p>
          <a:p>
            <a:r>
              <a:rPr sz="1300">
                <a:solidFill>
                  <a:srgbClr val="FFFFFF"/>
                </a:solidFill>
              </a:rPr>
              <a:t>•  Gap 4: AVX-512 simulated via tile-doubling</a:t>
            </a:r>
          </a:p>
          <a:p>
            <a:r>
              <a:rPr sz="1300">
                <a:solidFill>
                  <a:srgbClr val="FFFFFF"/>
                </a:solidFill>
              </a:rPr>
              <a:t>•  Per-variant correctness check vs std::sort</a:t>
            </a:r>
          </a:p>
          <a:p>
            <a:r>
              <a:rPr sz="1300">
                <a:solidFill>
                  <a:srgbClr val="FFFFFF"/>
                </a:solidFill>
              </a:rPr>
              <a:t>•  Strong &amp; weak scaling measurement (Option 8)</a:t>
            </a:r>
          </a:p>
          <a:p>
            <a:r>
              <a:rPr sz="1300">
                <a:solidFill>
                  <a:srgbClr val="FFFFFF"/>
                </a:solidFill>
              </a:rPr>
              <a:t>•  Sizes from 10 K to 2 M floats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097280"/>
            <a:ext cx="379476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508760"/>
            <a:ext cx="37947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 Real AVX-512 (hardware unavailable)</a:t>
            </a:r>
          </a:p>
          <a:p>
            <a:r>
              <a:rPr sz="1300">
                <a:solidFill>
                  <a:srgbClr val="FFFFFF"/>
                </a:solidFill>
              </a:rPr>
              <a:t>•  Distributed memory / MPI</a:t>
            </a:r>
          </a:p>
          <a:p>
            <a:r>
              <a:rPr sz="1300">
                <a:solidFill>
                  <a:srgbClr val="FFFFFF"/>
                </a:solidFill>
              </a:rPr>
              <a:t>•  Integer or double-precision arrays</a:t>
            </a:r>
          </a:p>
          <a:p>
            <a:r>
              <a:rPr sz="1300">
                <a:solidFill>
                  <a:srgbClr val="FFFFFF"/>
                </a:solidFill>
              </a:rPr>
              <a:t>•  GPU acceleration</a:t>
            </a:r>
          </a:p>
          <a:p>
            <a:r>
              <a:rPr sz="1300">
                <a:solidFill>
                  <a:srgbClr val="FFFFFF"/>
                </a:solidFill>
              </a:rPr>
              <a:t>•  Non-x86 platforms (ARM NEON path unchanged)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79476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79476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 Measurable speedup at all sizes ≥ 100 K</a:t>
            </a:r>
          </a:p>
          <a:p>
            <a:r>
              <a:rPr sz="1300">
                <a:solidFill>
                  <a:srgbClr val="FFFFFF"/>
                </a:solidFill>
              </a:rPr>
              <a:t>•  Quantify each gap individually</a:t>
            </a:r>
          </a:p>
          <a:p>
            <a:r>
              <a:rPr sz="1300">
                <a:solidFill>
                  <a:srgbClr val="FFFFFF"/>
                </a:solidFill>
              </a:rPr>
              <a:t>•  Explain results via hardware architecture</a:t>
            </a:r>
          </a:p>
          <a:p>
            <a:r>
              <a:rPr sz="1300">
                <a:solidFill>
                  <a:srgbClr val="FFFFFF"/>
                </a:solidFill>
              </a:rPr>
              <a:t>•  Reproducible methodology (fixed RNG seed)</a:t>
            </a:r>
          </a:p>
          <a:p>
            <a:r>
              <a:rPr sz="1300">
                <a:solidFill>
                  <a:srgbClr val="FFFFFF"/>
                </a:solidFill>
              </a:rPr>
              <a:t>•  Academic-quality report and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Implementation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C++11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79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GCC 15
-O3 -mavx2 -fopenmp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SIMD 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AVX2
(256-bit, 8 floats/reg)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Threading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OpenMP 4.5
Task-based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sokol_time.h
(high-res platform timer)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143000"/>
            <a:ext cx="1874519" cy="10058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1188720"/>
            <a:ext cx="169163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RNG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1595628"/>
            <a:ext cx="1691639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custom iq_random
(seed 0xABCDEF01)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31720"/>
            <a:ext cx="11640312" cy="4251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Sort Function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7889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Input array  (n floats)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0358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28269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</a:rPr>
              <a:t>  ┌── Phase 1: Tile Sort ──────────────────────────────┐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52958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│  simd_small_sort(tile, 192 elems)                 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7764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  │  24 × __m256 regs · Batcher odd-even network       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233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</a:rPr>
              <a:t>  └─────────────────────────────────────────────────── 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2702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5171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</a:rPr>
              <a:t>  ┌── Phase 2: Bottom-up Merge ────────────────────────┐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6402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│  merge_arrays(arr, L, M, R)    ← hot-loop target   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010911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  │  Variants: baseline · branchless · prefetch · pool 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257799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8CAE4"/>
                </a:solidFill>
              </a:rPr>
              <a:t>  └─────────────────────────────────────────────────── 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504687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751575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  ┌── OpenMP Wrapper ──────────────────────────────────┐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99846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│  omp_sort_tasks(depth=4) → 16 concurrent tasks    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245351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166"/>
                </a:solidFill>
              </a:rPr>
              <a:t>  └─────────────────────────────────────────────────── 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080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Options 0–9 selectable at runtime: each variant isolated for individual measurement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Baseline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simd_small_sort  (tile ≤ 192)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•  Batcher odd-even merge sorting network</a:t>
            </a:r>
          </a:p>
          <a:p>
            <a:r>
              <a:rPr sz="1300">
                <a:solidFill>
                  <a:srgbClr val="FFFFFF"/>
                </a:solidFill>
              </a:rPr>
              <a:t>•  24 × __m256 registers = 192 floats in-register</a:t>
            </a:r>
          </a:p>
          <a:p>
            <a:r>
              <a:rPr sz="1300">
                <a:solidFill>
                  <a:srgbClr val="FFFFFF"/>
                </a:solidFill>
              </a:rPr>
              <a:t>•  Operations: _mm256_min_ps / _mm256_max_ps / _mm256_shuffle_ps</a:t>
            </a:r>
          </a:p>
          <a:p>
            <a:r>
              <a:rPr sz="1300">
                <a:solidFill>
                  <a:srgbClr val="FFFFFF"/>
                </a:solidFill>
              </a:rPr>
              <a:t>•  Zero data-dependent branches — full vector throughput</a:t>
            </a:r>
          </a:p>
          <a:p>
            <a:r>
              <a:rPr sz="1300">
                <a:solidFill>
                  <a:srgbClr val="FFFFFF"/>
                </a:solidFill>
              </a:rPr>
              <a:t>•  O((n/8)·log²(n/8)) effective comparisons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simd_merge_sort  (recursive tile merge)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703320"/>
            <a:ext cx="5349240" cy="1828800"/>
          </a:xfrm>
          <a:prstGeom prst="rect">
            <a:avLst/>
          </a:prstGeom>
          <a:solidFill>
            <a:srgbClr val="05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516635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8CAE4"/>
                </a:solidFill>
              </a:rPr>
              <a:t>simd_merge_sort(arr, n):</a:t>
            </a:r>
          </a:p>
          <a:p>
            <a:r>
              <a:rPr sz="1100">
                <a:solidFill>
                  <a:srgbClr val="48CAE4"/>
                </a:solidFill>
              </a:rPr>
              <a:t>  if n ≤ 192:</a:t>
            </a:r>
          </a:p>
          <a:p>
            <a:r>
              <a:rPr sz="1100">
                <a:solidFill>
                  <a:srgbClr val="48CAE4"/>
                </a:solidFill>
              </a:rPr>
              <a:t>    simd_small_sort(arr, n); return</a:t>
            </a:r>
          </a:p>
          <a:p>
            <a:r>
              <a:rPr sz="1100">
                <a:solidFill>
                  <a:srgbClr val="48CAE4"/>
                </a:solidFill>
              </a:rPr>
              <a:t>  mid = n / 2</a:t>
            </a:r>
          </a:p>
          <a:p>
            <a:r>
              <a:rPr sz="1100">
                <a:solidFill>
                  <a:srgbClr val="48CAE4"/>
                </a:solidFill>
              </a:rPr>
              <a:t>  simd_merge_sort(arr, mid)          // left half</a:t>
            </a:r>
          </a:p>
          <a:p>
            <a:r>
              <a:rPr sz="1100">
                <a:solidFill>
                  <a:srgbClr val="48CAE4"/>
                </a:solidFill>
              </a:rPr>
              <a:t>  simd_merge_sort(arr+mid, n-mid)    // right half</a:t>
            </a:r>
          </a:p>
          <a:p>
            <a:r>
              <a:rPr sz="1100">
                <a:solidFill>
                  <a:srgbClr val="48CAE4"/>
                </a:solidFill>
              </a:rPr>
              <a:t>  merge_arrays(arr, 0, mid-1, n-1)   // merge ← hot-loop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566928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Baseline vs std::sort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727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Array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5727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std::sort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15727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SIMD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15727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Speedup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83664"/>
            <a:ext cx="5394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9385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9385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0.005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938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0.007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1938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B6B"/>
                </a:solidFill>
              </a:rPr>
              <a:t>0.71× 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2257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22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0.192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322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0.021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322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</a:rPr>
              <a:t>9.02×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7066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2 187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066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7.44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7066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1.72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27066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</a:rPr>
              <a:t>4.34×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906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19 683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09067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85.9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22.3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30906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6D6A0"/>
                </a:solidFill>
              </a:rPr>
              <a:t>3.85×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4747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531 441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474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3 303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1 161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3474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2.84×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11480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• n=3 slowdown: 8-float SIMD loads 3 floats → overhead
• n=81 peak: fits entirely in L1, network runs at full vector throughput
• Large n: merge phase dominates (65–75% of total time)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3492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Hot-loop branch:  if (la[li] &lt; ra[ri])  ← mispredicts ~50% on random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Optimization &amp; Parallelization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566160" cy="26060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Gap 1
OpenMP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Recursive task spawning — depth = ⌈log₂(12)⌉ = 4 → 16 tasks
Parallelises both sub-sorts AND top-level merge passes
Amdahl ceiling: merge ≈ 70% serial → max 1.43× at ∞ threads
Achieved: ~2.7–3× at n≥500 K (12 threads)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097280"/>
            <a:ext cx="3566160" cy="26060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554480"/>
            <a:ext cx="3566160" cy="3657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79" y="1143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8CAE4"/>
                </a:solidFill>
              </a:rPr>
              <a:t>Gap 2
Branchless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79" y="16002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Replaces if (la[li] &lt; ra[ri]) with forced-branchless pointer arithmetic:
src = (ra+ri) + take_left × ((la+li) − (ra+ri))   ← compiles to LEA+IMUL
1 load/iteration (same as baseline) — no speculative double-read
Gain: 1–10% at medium sizes where misprediction rate is 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19" y="1097280"/>
            <a:ext cx="3566160" cy="26060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19" y="1554480"/>
            <a:ext cx="356616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59" y="11430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Gap 3
Prefetch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16002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Software prefetch PREFETCH_DIST=20 vectors (640 bytes) ahead
Covers DRAM latency ≈ 80 ns / 4 ns per vector = 20 vectors needed
No bounds-check guards — _mm_prefetch is advisory, never faults
Gain: 1–5% at large arrays where hardware prefetcher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3566160" cy="26060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389120"/>
            <a:ext cx="3566160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77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Gap 5
DynTile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348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CPUID leaf 4 detects L1 = 48 KB → tile = min(L1/4/4, 192) = 192
Tile itself unchanged; key change: pooled merge (no malloc per call)
Thread-local growing buffer — allocated once, reused every merge
Gain: 7–19% from eliminating thousands of malloc/free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39" y="3931920"/>
            <a:ext cx="3566160" cy="260604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4389120"/>
            <a:ext cx="35661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79" y="3977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Gap 4
AVX-512 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443484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Tile=384 (2×192): sort 192-tile pairs then merge → 384-elem runs
Bottom-up merge starts from 384 → saves 1 of 14 passes at n=2M
Full-sort sim uses pooled merge throughout all phases
Gain: 9–19% across all sizes; ~7% merge-phase saving (Option 9)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931920"/>
            <a:ext cx="4251960" cy="260604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97763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✔ Correctness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3891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 All variants verified against std::sort</a:t>
            </a:r>
          </a:p>
          <a:p>
            <a:r>
              <a:rPr sz="1200">
                <a:solidFill>
                  <a:srgbClr val="FFFFFF"/>
                </a:solidFill>
              </a:rPr>
              <a:t>•  35 / 35 tests passed (5 sizes × 7 variants)</a:t>
            </a:r>
          </a:p>
          <a:p>
            <a:r>
              <a:rPr sz="1200">
                <a:solidFill>
                  <a:srgbClr val="FFFFFF"/>
                </a:solidFill>
              </a:rPr>
              <a:t>•  Sizes: 10K, 100K, 500K, 1M, 2M</a:t>
            </a:r>
          </a:p>
          <a:p>
            <a:r>
              <a:rPr sz="1200">
                <a:solidFill>
                  <a:srgbClr val="FFFFFF"/>
                </a:solidFill>
              </a:rPr>
              <a:t>•  Identical deterministic RNG seed ensures</a:t>
            </a:r>
          </a:p>
          <a:p>
            <a:r>
              <a:rPr sz="1200">
                <a:solidFill>
                  <a:srgbClr val="FFFFFF"/>
                </a:solidFill>
              </a:rPr>
              <a:t>•  each variant sorts the same arrays</a:t>
            </a:r>
          </a:p>
          <a:p>
            <a:r>
              <a:rPr sz="1200">
                <a:solidFill>
                  <a:srgbClr val="FFFFFF"/>
                </a:solidFill>
              </a:rPr>
              <a:t>•  100 × timing runs per size for stability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Results — Speedup over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100 runs each · fixed seed 0xABCDEF01 · Intel Core i7-12th Gen · 12 threads (OMP_NUM_THREADS=12)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389888"/>
            <a:ext cx="11475720" cy="347472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OpenMP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Branchless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Prefetch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19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DynTile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40817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AVX512Sim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1737360"/>
            <a:ext cx="114757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1783080"/>
            <a:ext cx="11475720" cy="384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−2.26×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−1.04×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−1.03×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−2.24×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18013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1.06×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2176272"/>
            <a:ext cx="11475720" cy="384048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50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2.08×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−1.05×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1.12×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2.08×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19456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1.11×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569464"/>
            <a:ext cx="11475720" cy="384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100 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203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2.51×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947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−1.09×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1.08×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2.64×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25877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1.11×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2962656"/>
            <a:ext cx="11475720" cy="384048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250 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2.47×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075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1.01×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947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1.05×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−1.02×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9691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2.36×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2980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1.05×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" y="3355848"/>
            <a:ext cx="11475720" cy="384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500 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5331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203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2.66×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3075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1.10×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1947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1.16×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0819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1.28×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9691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3.04×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337413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1.24×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3749040"/>
            <a:ext cx="11475720" cy="384048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603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750 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5331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2.53×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3075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−1.03×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947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6B"/>
                </a:solidFill>
              </a:rPr>
              <a:t>−1.06×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1.14×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2.71×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5632" y="376732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1.14×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" y="4142232"/>
            <a:ext cx="11475720" cy="384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 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5331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4203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2.79×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3075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1.03×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1947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1.04×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0819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1.20×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9691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2.83×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85632" y="41605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1.17×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4535424"/>
            <a:ext cx="11475720" cy="384048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603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1.5 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5331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4203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2.69×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3075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1947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1.01×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0819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1.17×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9691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2.75×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85632" y="455371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1.13×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032" y="4928616"/>
            <a:ext cx="11475720" cy="384048"/>
          </a:xfrm>
          <a:prstGeom prst="rect">
            <a:avLst/>
          </a:prstGeom>
          <a:solidFill>
            <a:srgbClr val="0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 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5331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4203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2.91×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3075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1.03×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1947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1.04×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0819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1.17×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9691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2.91×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85632" y="494690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CAE4"/>
                </a:solidFill>
              </a:rPr>
              <a:t>1.19×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6032" y="6236208"/>
            <a:ext cx="11475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0"/>
                </a:solidFill>
              </a:rPr>
              <a:t>− prefix = slower than baseline (within noise for values &lt; 1.10×)   |   All = OpenMP + Branchless + Prefetch + DynTile combined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Results — Analysis, Bottlenecks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577840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Critical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OpenMP 2.7–3×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Dominates at n≥50K. Parallelises both tile-sort and merge tree. Below 50K: task-spawn overhead exceeds sorting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DynTile 1.07–1.28×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Pooled merge eliminates malloc/free per call. Largest gain at 10–500K where allocation overhead is proportionally large.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821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8CAE4"/>
                </a:solidFill>
              </a:rPr>
              <a:t>AVX-512 Sim 1.05–1.24×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One fewer merge pass (13 vs 14 at n=2M) + pooled merge. Best single-threaded alternative to DynTile.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Branchless 1.00–1.10×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6110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Forced-branchless pointer (LEA+IMUL) replaces unpredictable branch. Gain modest: modern branch predictor &gt;95% accurate on merge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914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Prefetch 1.00–1.16×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6577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</a:rPr>
              <a:t>PREFETCH_DIST=20 vectors (640 B) hides DRAM latency. Hardware prefetcher handles sequential reads well — limited extra gain.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5669280" cy="256032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Strong Scaling  (n = 2 000 000)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Speedup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8CAE4"/>
                </a:solidFill>
              </a:rPr>
              <a:t>Efficiency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74519"/>
            <a:ext cx="5394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1.00×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920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1.68×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84.0%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468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468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2.14×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4688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53.5%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7431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7431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2.58×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7431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32.3%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017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017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2.91×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017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24.3%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794760"/>
            <a:ext cx="5669280" cy="141732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840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Bottlenecks &amp; Limitations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2245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CCD6E0"/>
                </a:solidFill>
              </a:rPr>
              <a:t>•  Merge phase is serial → Amdahl ceiling ≈ 1.43× at ∞ threads</a:t>
            </a:r>
          </a:p>
          <a:p>
            <a:r>
              <a:rPr sz="1200">
                <a:solidFill>
                  <a:srgbClr val="CCD6E0"/>
                </a:solidFill>
              </a:rPr>
              <a:t>•  Memory bandwidth (2M×4×14 passes = 448 MB) limits large-n speedup</a:t>
            </a:r>
          </a:p>
          <a:p>
            <a:r>
              <a:rPr sz="1200">
                <a:solidFill>
                  <a:srgbClr val="CCD6E0"/>
                </a:solidFill>
              </a:rPr>
              <a:t>•  Prefetch/branchless gains &lt; 5% at small sizes (timing noise dominates)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5349240"/>
            <a:ext cx="566928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394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</a:rPr>
              <a:t>Deviations from Expected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7607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CCD6E0"/>
                </a:solidFill>
              </a:rPr>
              <a:t>•  Branchless initially SLOWER (2 loads/iter vs 1) — fixed with cmov arithmetic</a:t>
            </a:r>
          </a:p>
          <a:p>
            <a:r>
              <a:rPr sz="1150">
                <a:solidFill>
                  <a:srgbClr val="CCD6E0"/>
                </a:solidFill>
              </a:rPr>
              <a:t>•  Prefetch bounds-checks added overhead — removed (prefetch never faults on x86)</a:t>
            </a:r>
          </a:p>
          <a:p>
            <a:r>
              <a:rPr sz="1150">
                <a:solidFill>
                  <a:srgbClr val="CCD6E0"/>
                </a:solidFill>
              </a:rPr>
              <a:t>•  'All' was slower than plain OpenMP — fixed by switching to merge_prefetch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LLM Usage Disclosure &amp;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solidFill>
            <a:srgbClr val="2A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286000"/>
            <a:ext cx="5788152" cy="1828800"/>
          </a:xfrm>
          <a:prstGeom prst="rect">
            <a:avLst/>
          </a:prstGeom>
          <a:solidFill>
            <a:srgbClr val="3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5788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</a:rPr>
              <a:t>⚠  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5788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This section will document:
• Where and how LLMs were used during development
• Representative prompts and responses
• Benefits observed and limitations encountered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1663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6B6B"/>
                </a:solidFill>
              </a:rPr>
              <a:t>To be completed before final submission — see academic integrity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Correctness, Over-Reliance Risks &amp; Academic Integrity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749039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Correctness Issues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 merge_branchless initially did 2 loads/iter → slower than baseline at large n</a:t>
            </a:r>
          </a:p>
          <a:p>
            <a:r>
              <a:rPr sz="1200">
                <a:solidFill>
                  <a:srgbClr val="FFFFFF"/>
                </a:solidFill>
              </a:rPr>
              <a:t>•  AVX-512 composite tile added exactly the work it claimed to save (work cancellation)</a:t>
            </a:r>
          </a:p>
          <a:p>
            <a:r>
              <a:rPr sz="1200">
                <a:solidFill>
                  <a:srgbClr val="FFFFFF"/>
                </a:solidFill>
              </a:rPr>
              <a:t>•  merge_all_gaps (All) was slower than plain OpenMP — root cause: double bandwidth</a:t>
            </a:r>
          </a:p>
          <a:p>
            <a:r>
              <a:rPr sz="1200">
                <a:solidFill>
                  <a:srgbClr val="FFFFFF"/>
                </a:solidFill>
              </a:rPr>
              <a:t>•  sort_avx512sim with tile=384 passed sub-arrays &gt;192 to simd_small_sort → wrong results</a:t>
            </a:r>
          </a:p>
          <a:p>
            <a:r>
              <a:rPr sz="1200">
                <a:solidFill>
                  <a:srgbClr val="FFFFFF"/>
                </a:solidFill>
              </a:rPr>
              <a:t>•  Prefetch bounds-check (if pl &lt; ln) added branch overhead every iteration</a:t>
            </a:r>
          </a:p>
          <a:p>
            <a:r>
              <a:rPr sz="1200">
                <a:solidFill>
                  <a:srgbClr val="FFFFFF"/>
                </a:solidFill>
              </a:rPr>
              <a:t>•  All issues detected by correctness check (35/35 pass) and timing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749039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508760"/>
            <a:ext cx="3749039" cy="3657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Risks of Over-Reliance on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 Generated code may look correct but have subtle performance anti-patterns</a:t>
            </a:r>
          </a:p>
          <a:p>
            <a:r>
              <a:rPr sz="1200">
                <a:solidFill>
                  <a:srgbClr val="FFFFFF"/>
                </a:solidFill>
              </a:rPr>
              <a:t>•  LLM explanations of hardware behaviour may not match actual CPU microarchitecture</a:t>
            </a:r>
          </a:p>
          <a:p>
            <a:r>
              <a:rPr sz="1200">
                <a:solidFill>
                  <a:srgbClr val="FFFFFF"/>
                </a:solidFill>
              </a:rPr>
              <a:t>•  Benchmark numbers must be verified independently — not just accepted from suggestions</a:t>
            </a:r>
          </a:p>
          <a:p>
            <a:r>
              <a:rPr sz="1200">
                <a:solidFill>
                  <a:srgbClr val="FFFFFF"/>
                </a:solidFill>
              </a:rPr>
              <a:t>•  Critical analysis and architectural reasoning must come from the student</a:t>
            </a:r>
          </a:p>
          <a:p>
            <a:r>
              <a:rPr sz="1200">
                <a:solidFill>
                  <a:srgbClr val="FFFFFF"/>
                </a:solidFill>
              </a:rPr>
              <a:t>•  All generated code reviewed, compiled, tested, and measured before acceptance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097280"/>
            <a:ext cx="3749039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508760"/>
            <a:ext cx="3749039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11556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Academic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155448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•  Base library (simd_bitonic) is open-source — usage is documented and cited</a:t>
            </a:r>
          </a:p>
          <a:p>
            <a:r>
              <a:rPr sz="1200">
                <a:solidFill>
                  <a:srgbClr val="FFFFFF"/>
                </a:solidFill>
              </a:rPr>
              <a:t>•  All optimisation ideas are independently reasoned and verified</a:t>
            </a:r>
          </a:p>
          <a:p>
            <a:r>
              <a:rPr sz="1200">
                <a:solidFill>
                  <a:srgbClr val="FFFFFF"/>
                </a:solidFill>
              </a:rPr>
              <a:t>•  Benchmark methodology uses fixed seeds → results are reproducible</a:t>
            </a:r>
          </a:p>
          <a:p>
            <a:r>
              <a:rPr sz="1200">
                <a:solidFill>
                  <a:srgbClr val="FFFFFF"/>
                </a:solidFill>
              </a:rPr>
              <a:t>•  No copied results — all figures from actual runs on test hardware</a:t>
            </a:r>
          </a:p>
          <a:p>
            <a:r>
              <a:rPr sz="1200">
                <a:solidFill>
                  <a:srgbClr val="FFFFFF"/>
                </a:solidFill>
              </a:rPr>
              <a:t>•  LLM assistance disclosed fully in Section 7 (pending slide)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9456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2.91×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7190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Peak speedup
(All at n=2M)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097280"/>
            <a:ext cx="219456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1155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7190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CPU threads
fully utilised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2896" y="1097280"/>
            <a:ext cx="219456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11155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35/35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7190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Correctness
tests 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7183" y="1097280"/>
            <a:ext cx="219456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3" y="11155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5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3" y="17190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Identified
&amp; addressed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1097280"/>
            <a:ext cx="2194560" cy="11430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11556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</a:rPr>
              <a:t>1.43×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7190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Amdahl
serial ceiling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77440"/>
            <a:ext cx="11640312" cy="41148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Key Takeaways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OpenMP task parallelism is the single most impactful improvement — 2.7–3× at large n — because it exploits all 12 threads across both the tile-sort and merge tree phases.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3552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Pooled merge (DynTile) delivers consistent 7–19% single-threaded gains by eliminating thousands of malloc/free calls per sort — architectural insight beats algorithmic cleverness here.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12464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AVX-512 simulation (tile=384) saves one of 14 merge passes and uses pooled merge throughout, achieving 5–24% improvement — the strongest single-threaded variant at large sizes.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51376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Branchless and prefetch show limited gains (~1–10%) because the merge access pattern is sequential (hardware prefetcher handles it) and the branch predictor is &gt;95% accurate on sorted-run boundaries.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90288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The Amdahl ceiling (≈1.43× from the serial merge fraction) explains why 12 threads yield only 3×, not 12× — further speedup requires parallelising the merge phase itself (e.g., parallel merge or sample sort).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All claimed speedups are backed by reproducible benchmarks with fixed RNG seed, 100-run averaging, and correctness verification at every size.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640312" cy="5394960"/>
          </a:xfrm>
          <a:prstGeom prst="rect">
            <a:avLst/>
          </a:prstGeom>
          <a:solidFill>
            <a:srgbClr val="02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[1]  simd_bitonic open-source library — base implementation. Available: https://github.com/nlguillemot/simd_bitonic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[2]  Batcher, K. E. (1968). Sorting networks and their applications. AFIPS Spring Joint Computer Conference.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[3]  Intel® 64 and IA-32 Architectures Software Developer's Manual, Vol. 2 — AVX2 intrinsics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[4]  OpenMP Architecture Review Board. OpenMP Application Programming Interface, Version 4.5.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[5]  Amdahl, G. M. (1967). Validity of the single-processor approach to achieving large-scale computing capabilities. AFIPS.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[6]  Fog, A. (2023). Optimizing software in C++ — CPU cache, prefetch, branch prediction. Copenhagen University.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51959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[7]  Intel® Vtune Profiler documentation — memory bandwidth and cache hierarchy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[8]  GCC documentation — __builtin_ia32_* intrinsics and -mavx2 code generation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57799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0"/>
                </a:solidFill>
              </a:rPr>
              <a:t>[9]  sokol_time.h — high-resolution cross-platform timer. André Weissflog. MIT License.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8CAE4"/>
                </a:solidFill>
              </a:rPr>
              <a:t>All benchmark results are reproducible: compile with g++ -O3 -mavx2 -fopenmp -std=c++11 main.cpp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